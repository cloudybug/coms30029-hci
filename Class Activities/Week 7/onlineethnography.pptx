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6" r:id="rId5"/>
    <p:sldId id="1232" r:id="rId6"/>
    <p:sldId id="276" r:id="rId7"/>
    <p:sldId id="259" r:id="rId8"/>
    <p:sldId id="257" r:id="rId9"/>
    <p:sldId id="1224" r:id="rId10"/>
    <p:sldId id="1225" r:id="rId11"/>
    <p:sldId id="1226" r:id="rId12"/>
    <p:sldId id="1227" r:id="rId13"/>
    <p:sldId id="1228" r:id="rId14"/>
    <p:sldId id="261" r:id="rId15"/>
    <p:sldId id="262" r:id="rId16"/>
    <p:sldId id="1229" r:id="rId17"/>
    <p:sldId id="264" r:id="rId18"/>
    <p:sldId id="265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1DED8A-D3CA-4F6E-99B5-E501F25A9871}" v="11" dt="2025-11-06T14:45:05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CC910-3802-4591-8690-E371DDF81354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A6BCF-C993-4EB7-813C-2EDA51623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318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sz="12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-It’s an approach to carrying out field work</a:t>
            </a:r>
          </a:p>
          <a:p>
            <a:pPr marL="0" indent="0">
              <a:buFontTx/>
              <a:buNone/>
            </a:pPr>
            <a:r>
              <a:rPr lang="en-US" sz="12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Malinowski and others began to carry out expeditions to study cultures in far-away lands</a:t>
            </a:r>
          </a:p>
          <a:p>
            <a:r>
              <a:rPr lang="en-US" sz="12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Went to Australia and Pacific Islands</a:t>
            </a:r>
          </a:p>
          <a:p>
            <a:r>
              <a:rPr lang="en-US" sz="12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Stranded for 4 years by outbreak of WW1</a:t>
            </a:r>
          </a:p>
          <a:p>
            <a:r>
              <a:rPr lang="en-US" sz="12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collected 3 kinds of data: charts of relationships between institutions, customs and activities, detailed descriptions of day-to-day life; stories, narratives, myths, magic through which the society represents itself and the outside world</a:t>
            </a:r>
          </a:p>
          <a:p>
            <a:r>
              <a:rPr lang="en-US" sz="12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-Argonauts of the Western Pacific: functional analysis of the Kula ring, system of ceremonial gift exchange. -Explained in terms of social cohesion: central problem of all societies. 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90B70-BEB8-DB43-A30A-2AB3F65AA6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161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78917-BC61-53EF-279B-A492B4C41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81C85-30C2-6545-A75C-FF4EEBC95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EAE8B-15AD-D9D8-30FA-C5F65BAAB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EB9AF-9053-4F8A-A4A7-7361C605536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331F3-CD05-1267-85C2-2AC96630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9BEC7-FC19-7264-FDF6-E78B9479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CCA-348E-4E38-9FC1-B7B3CCCFED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470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F079F-4C71-8634-257D-193D3041A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53973-31A2-2649-1619-4C37D7C59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5731E-1C3B-D454-2C11-85473027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EB9AF-9053-4F8A-A4A7-7361C605536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FBEAD-2833-E142-F4B9-64F190D6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4EA02-2C91-0151-9448-E9A36935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CCA-348E-4E38-9FC1-B7B3CCCFED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553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B6883-377B-BC3A-5A8A-5EDC80715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6DC8E-9484-1DE2-DFA8-662351549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D38AD-85FF-E602-F61B-4C61A006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EB9AF-9053-4F8A-A4A7-7361C605536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3C520-47F1-BB94-B4F5-8E39A139C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9CBEE-6894-F70E-541F-0C799031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CCA-348E-4E38-9FC1-B7B3CCCFED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903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05D82-9914-972F-5789-E4D604E53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06635-5386-2AD6-2BF9-05ACCA741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D7085-EB35-8C46-BDF7-151B92140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9A438-F255-73A3-E1DA-ED9CDF2CF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EB9AF-9053-4F8A-A4A7-7361C605536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2DA93-CE01-7AF5-35D0-B5B925F1B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4A9DF-7DCB-E00D-08EF-18B4CDE3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CCA-348E-4E38-9FC1-B7B3CCCFED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467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8729B-03FA-3A4F-DDBB-4EA0E3B37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4D20F-06AA-7D42-9D78-D6F930060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95CA6-B502-4446-3935-E9CF0A5AF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562625-5CE9-3F81-CA3A-22AED54BF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3204AB-04A6-55A3-9F00-00D856CB6E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C7ADC0-5CBA-8081-8D66-5B9C3785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EB9AF-9053-4F8A-A4A7-7361C605536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2031B4-8CD1-1DD8-8D3A-16C713D7A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7E2805-2A0D-E227-A02E-9F66FDD30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CCA-348E-4E38-9FC1-B7B3CCCFED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65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34108-57C9-E8DA-2362-2A25E451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A2049-5FAE-09B1-1F6D-9005072A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EB9AF-9053-4F8A-A4A7-7361C605536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56FBDE-383F-AD4F-0053-394D2FA5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6040A7-E353-F7A7-E7BE-012E7CC6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CCA-348E-4E38-9FC1-B7B3CCCFED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759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C84506-92F0-8C97-A9D1-EFFF3F7E2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EB9AF-9053-4F8A-A4A7-7361C605536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4BCF3-6799-D4F6-5F2C-FB9631641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7C629-78C5-C1DC-DF66-91F9DBEC1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CCA-348E-4E38-9FC1-B7B3CCCFED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842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EE84C-A46E-530D-510C-90693E266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8B2A3-2006-E98F-5F9F-B06150A42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7367B-CAA1-4FB7-A587-680314573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5F489-F6FA-7D05-EF34-7892147A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EB9AF-9053-4F8A-A4A7-7361C605536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1B927-D5FA-F7E2-E0F3-A3E635EE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B1601-7588-BD05-86D0-ABA0DDF1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CCA-348E-4E38-9FC1-B7B3CCCFED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118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CDE6B-A05F-772C-F29C-C1F5C9E3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C2EB33-DEA2-CC49-0DB3-5314362DB2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B1623-4A0F-3EE9-6A55-249755DCD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769FF-B035-5CDE-FBE1-59B79266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EB9AF-9053-4F8A-A4A7-7361C605536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FE3EA-D275-EB5A-D5E4-73F5FAF6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0C65A-2980-3AFE-17DB-AFC8B172C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CCA-348E-4E38-9FC1-B7B3CCCFED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09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F4D7B-521A-ED6B-7142-268D7F2A2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C8DD1-DDFA-9A03-B88A-CF4DE479C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A9D8A-5216-5FB1-E9B7-AED795858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EB9AF-9053-4F8A-A4A7-7361C605536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0083B-CD6B-34D3-01C1-67743E291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644AD-D846-2E1F-DEAE-03FDF15B7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CCA-348E-4E38-9FC1-B7B3CCCFED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648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1CD69D-33D6-0DBC-B114-9ECE927F19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6E989-CC98-6FAC-C5A1-7CD225642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BA5F0-BE2F-D6AD-70C2-6B31CCF6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EB9AF-9053-4F8A-A4A7-7361C605536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AC80A-8774-BE74-E975-431F3F42F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21212-5124-E11B-1563-8C3DC59FB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7CCA-348E-4E38-9FC1-B7B3CCCFED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85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D7E42-5414-35DE-DE72-9CA4EEF4A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BE976-C129-592E-1C23-B4FEBC25D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513B4-C5A6-57A9-053A-A5782DA2E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EB9AF-9053-4F8A-A4A7-7361C605536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76EA1-19C2-B468-9540-7BB1DC822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72CEF-5331-BFBA-75C7-D75ACA488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A7CCA-348E-4E38-9FC1-B7B3CCCFED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415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googlehome/" TargetMode="External"/><Relationship Id="rId2" Type="http://schemas.openxmlformats.org/officeDocument/2006/relationships/hyperlink" Target="https://www.reddit.com/r/alexa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eddit.com/r/homeautomation/" TargetMode="External"/><Relationship Id="rId4" Type="http://schemas.openxmlformats.org/officeDocument/2006/relationships/hyperlink" Target="https://www.reddit.com/r/smarthome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A65C8-075F-6FFD-513A-8C137240BA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HCI Theory – Applying Situated Action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29840-C464-5D6F-4CCD-6A1C1E85B2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Online Ethnography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8581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62760" y="791405"/>
            <a:ext cx="2495816" cy="16632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8713" y="279715"/>
            <a:ext cx="6376669" cy="687218"/>
          </a:xfrm>
          <a:prstGeom prst="rect">
            <a:avLst/>
          </a:prstGeom>
        </p:spPr>
        <p:txBody>
          <a:bodyPr vert="horz" wrap="square" lIns="0" tIns="10012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79"/>
              </a:spcBef>
            </a:pPr>
            <a:r>
              <a:t>What</a:t>
            </a:r>
            <a:r>
              <a:rPr spc="-21"/>
              <a:t> </a:t>
            </a:r>
            <a:r>
              <a:t>is</a:t>
            </a:r>
            <a:r>
              <a:rPr spc="-18"/>
              <a:t> </a:t>
            </a:r>
            <a:r>
              <a:t>Situated</a:t>
            </a:r>
            <a:r>
              <a:rPr spc="-21"/>
              <a:t> </a:t>
            </a:r>
            <a:r>
              <a:rPr spc="-6"/>
              <a:t>Action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4214" y="1663222"/>
            <a:ext cx="6028186" cy="390706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486">
                <a:latin typeface="Arial"/>
                <a:cs typeface="Arial"/>
              </a:rPr>
              <a:t>An</a:t>
            </a:r>
            <a:r>
              <a:rPr sz="2486" spc="73">
                <a:latin typeface="Arial"/>
                <a:cs typeface="Arial"/>
              </a:rPr>
              <a:t> </a:t>
            </a:r>
            <a:r>
              <a:rPr sz="2486">
                <a:latin typeface="Arial"/>
                <a:cs typeface="Arial"/>
              </a:rPr>
              <a:t>approach</a:t>
            </a:r>
            <a:r>
              <a:rPr sz="2486" spc="76">
                <a:latin typeface="Arial"/>
                <a:cs typeface="Arial"/>
              </a:rPr>
              <a:t> </a:t>
            </a:r>
            <a:r>
              <a:rPr sz="2486">
                <a:latin typeface="Arial"/>
                <a:cs typeface="Arial"/>
              </a:rPr>
              <a:t>developed</a:t>
            </a:r>
            <a:r>
              <a:rPr sz="2486" spc="76">
                <a:latin typeface="Arial"/>
                <a:cs typeface="Arial"/>
              </a:rPr>
              <a:t> </a:t>
            </a:r>
            <a:r>
              <a:rPr sz="2486" spc="36">
                <a:latin typeface="Arial"/>
                <a:cs typeface="Arial"/>
              </a:rPr>
              <a:t>by</a:t>
            </a:r>
            <a:r>
              <a:rPr sz="2486" spc="76">
                <a:latin typeface="Arial"/>
                <a:cs typeface="Arial"/>
              </a:rPr>
              <a:t> </a:t>
            </a:r>
            <a:r>
              <a:rPr sz="2486">
                <a:latin typeface="Arial"/>
                <a:cs typeface="Arial"/>
              </a:rPr>
              <a:t>Lucy</a:t>
            </a:r>
            <a:r>
              <a:rPr sz="2486" spc="73">
                <a:latin typeface="Arial"/>
                <a:cs typeface="Arial"/>
              </a:rPr>
              <a:t> </a:t>
            </a:r>
            <a:r>
              <a:rPr sz="2486" spc="-6">
                <a:latin typeface="Arial"/>
                <a:cs typeface="Arial"/>
              </a:rPr>
              <a:t>Suchman</a:t>
            </a:r>
            <a:endParaRPr sz="2486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4214" y="2423584"/>
            <a:ext cx="6688572" cy="390706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486" i="1">
                <a:latin typeface="Arial"/>
                <a:cs typeface="Arial"/>
              </a:rPr>
              <a:t>Situated</a:t>
            </a:r>
            <a:r>
              <a:rPr sz="2486" i="1" spc="30">
                <a:latin typeface="Arial"/>
                <a:cs typeface="Arial"/>
              </a:rPr>
              <a:t> </a:t>
            </a:r>
            <a:r>
              <a:rPr sz="2486" i="1">
                <a:latin typeface="Arial"/>
                <a:cs typeface="Arial"/>
              </a:rPr>
              <a:t>Action</a:t>
            </a:r>
            <a:r>
              <a:rPr sz="2486" i="1" spc="33">
                <a:latin typeface="Arial"/>
                <a:cs typeface="Arial"/>
              </a:rPr>
              <a:t> </a:t>
            </a:r>
            <a:r>
              <a:rPr sz="2486">
                <a:latin typeface="Arial"/>
                <a:cs typeface="Arial"/>
              </a:rPr>
              <a:t>is</a:t>
            </a:r>
            <a:r>
              <a:rPr sz="2486" spc="30">
                <a:latin typeface="Arial"/>
                <a:cs typeface="Arial"/>
              </a:rPr>
              <a:t> </a:t>
            </a:r>
            <a:r>
              <a:rPr sz="2486" b="1">
                <a:latin typeface="Arial"/>
                <a:cs typeface="Arial"/>
              </a:rPr>
              <a:t>not</a:t>
            </a:r>
            <a:r>
              <a:rPr sz="2486" b="1" spc="33">
                <a:latin typeface="Arial"/>
                <a:cs typeface="Arial"/>
              </a:rPr>
              <a:t> </a:t>
            </a:r>
            <a:r>
              <a:rPr sz="2486">
                <a:latin typeface="Arial"/>
                <a:cs typeface="Arial"/>
              </a:rPr>
              <a:t>a</a:t>
            </a:r>
            <a:r>
              <a:rPr sz="2486" spc="30">
                <a:latin typeface="Arial"/>
                <a:cs typeface="Arial"/>
              </a:rPr>
              <a:t> </a:t>
            </a:r>
            <a:r>
              <a:rPr sz="2486">
                <a:latin typeface="Arial"/>
                <a:cs typeface="Arial"/>
              </a:rPr>
              <a:t>theory</a:t>
            </a:r>
            <a:r>
              <a:rPr sz="2486" spc="33">
                <a:latin typeface="Arial"/>
                <a:cs typeface="Arial"/>
              </a:rPr>
              <a:t> </a:t>
            </a:r>
            <a:r>
              <a:rPr sz="2486">
                <a:latin typeface="Arial"/>
                <a:cs typeface="Arial"/>
              </a:rPr>
              <a:t>or</a:t>
            </a:r>
            <a:r>
              <a:rPr sz="2486" spc="33">
                <a:latin typeface="Arial"/>
                <a:cs typeface="Arial"/>
              </a:rPr>
              <a:t> </a:t>
            </a:r>
            <a:r>
              <a:rPr sz="2486">
                <a:latin typeface="Arial"/>
                <a:cs typeface="Arial"/>
              </a:rPr>
              <a:t>a</a:t>
            </a:r>
            <a:r>
              <a:rPr sz="2486" spc="30">
                <a:latin typeface="Arial"/>
                <a:cs typeface="Arial"/>
              </a:rPr>
              <a:t> </a:t>
            </a:r>
            <a:r>
              <a:rPr sz="2486" spc="-6">
                <a:latin typeface="Arial"/>
                <a:cs typeface="Arial"/>
              </a:rPr>
              <a:t>framework</a:t>
            </a:r>
            <a:endParaRPr sz="248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4214" y="2768820"/>
            <a:ext cx="132847" cy="675014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lnSpc>
                <a:spcPts val="2568"/>
              </a:lnSpc>
              <a:spcBef>
                <a:spcPts val="64"/>
              </a:spcBef>
            </a:pPr>
            <a:r>
              <a:rPr sz="2365" spc="94">
                <a:latin typeface="Arial"/>
                <a:cs typeface="Arial"/>
              </a:rPr>
              <a:t>-</a:t>
            </a:r>
            <a:endParaRPr sz="2365">
              <a:latin typeface="Arial"/>
              <a:cs typeface="Arial"/>
            </a:endParaRPr>
          </a:p>
          <a:p>
            <a:pPr marL="7701">
              <a:lnSpc>
                <a:spcPts val="2568"/>
              </a:lnSpc>
            </a:pPr>
            <a:r>
              <a:rPr sz="2365" spc="94">
                <a:latin typeface="Arial"/>
                <a:cs typeface="Arial"/>
              </a:rPr>
              <a:t>-</a:t>
            </a:r>
            <a:endParaRPr sz="2365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0549" y="2806132"/>
            <a:ext cx="6370123" cy="890722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 marR="3081">
              <a:lnSpc>
                <a:spcPct val="100299"/>
              </a:lnSpc>
              <a:spcBef>
                <a:spcPts val="69"/>
              </a:spcBef>
            </a:pPr>
            <a:r>
              <a:rPr sz="1910">
                <a:latin typeface="Arial"/>
                <a:cs typeface="Arial"/>
              </a:rPr>
              <a:t>though</a:t>
            </a:r>
            <a:r>
              <a:rPr sz="1910" spc="121">
                <a:latin typeface="Arial"/>
                <a:cs typeface="Arial"/>
              </a:rPr>
              <a:t> </a:t>
            </a:r>
            <a:r>
              <a:rPr sz="1910">
                <a:latin typeface="Arial"/>
                <a:cs typeface="Arial"/>
              </a:rPr>
              <a:t>sits</a:t>
            </a:r>
            <a:r>
              <a:rPr sz="1910" spc="127">
                <a:latin typeface="Arial"/>
                <a:cs typeface="Arial"/>
              </a:rPr>
              <a:t> </a:t>
            </a:r>
            <a:r>
              <a:rPr sz="1910">
                <a:latin typeface="Arial"/>
                <a:cs typeface="Arial"/>
              </a:rPr>
              <a:t>within</a:t>
            </a:r>
            <a:r>
              <a:rPr sz="1910" spc="127">
                <a:latin typeface="Arial"/>
                <a:cs typeface="Arial"/>
              </a:rPr>
              <a:t> </a:t>
            </a:r>
            <a:r>
              <a:rPr sz="1910">
                <a:latin typeface="Arial"/>
                <a:cs typeface="Arial"/>
              </a:rPr>
              <a:t>the</a:t>
            </a:r>
            <a:r>
              <a:rPr sz="1910" spc="130">
                <a:latin typeface="Arial"/>
                <a:cs typeface="Arial"/>
              </a:rPr>
              <a:t> </a:t>
            </a:r>
            <a:r>
              <a:rPr sz="1910">
                <a:latin typeface="Arial"/>
                <a:cs typeface="Arial"/>
              </a:rPr>
              <a:t>tradition</a:t>
            </a:r>
            <a:r>
              <a:rPr sz="1910" spc="127">
                <a:latin typeface="Arial"/>
                <a:cs typeface="Arial"/>
              </a:rPr>
              <a:t> </a:t>
            </a:r>
            <a:r>
              <a:rPr sz="1910" spc="39">
                <a:latin typeface="Arial"/>
                <a:cs typeface="Arial"/>
              </a:rPr>
              <a:t>of</a:t>
            </a:r>
            <a:r>
              <a:rPr sz="1910" spc="127">
                <a:latin typeface="Arial"/>
                <a:cs typeface="Arial"/>
              </a:rPr>
              <a:t> </a:t>
            </a:r>
            <a:r>
              <a:rPr sz="1910">
                <a:latin typeface="Arial"/>
                <a:cs typeface="Arial"/>
              </a:rPr>
              <a:t>Situated</a:t>
            </a:r>
            <a:r>
              <a:rPr sz="1910" spc="127">
                <a:latin typeface="Arial"/>
                <a:cs typeface="Arial"/>
              </a:rPr>
              <a:t> </a:t>
            </a:r>
            <a:r>
              <a:rPr sz="1910" spc="-6">
                <a:latin typeface="Arial"/>
                <a:cs typeface="Arial"/>
              </a:rPr>
              <a:t>Cognition </a:t>
            </a:r>
            <a:r>
              <a:rPr sz="1910">
                <a:latin typeface="Arial"/>
                <a:cs typeface="Arial"/>
              </a:rPr>
              <a:t>Seminal</a:t>
            </a:r>
            <a:r>
              <a:rPr sz="1910" spc="15">
                <a:latin typeface="Arial"/>
                <a:cs typeface="Arial"/>
              </a:rPr>
              <a:t> </a:t>
            </a:r>
            <a:r>
              <a:rPr sz="1910">
                <a:latin typeface="Arial"/>
                <a:cs typeface="Arial"/>
              </a:rPr>
              <a:t>work:</a:t>
            </a:r>
            <a:r>
              <a:rPr sz="1910" spc="15">
                <a:latin typeface="Arial"/>
                <a:cs typeface="Arial"/>
              </a:rPr>
              <a:t> </a:t>
            </a:r>
            <a:r>
              <a:rPr sz="1910" i="1" spc="-6">
                <a:latin typeface="Arial"/>
                <a:cs typeface="Arial"/>
              </a:rPr>
              <a:t>Plans</a:t>
            </a:r>
            <a:r>
              <a:rPr sz="1910" i="1" spc="12">
                <a:latin typeface="Arial"/>
                <a:cs typeface="Arial"/>
              </a:rPr>
              <a:t> </a:t>
            </a:r>
            <a:r>
              <a:rPr sz="1910" i="1">
                <a:latin typeface="Arial"/>
                <a:cs typeface="Arial"/>
              </a:rPr>
              <a:t>and</a:t>
            </a:r>
            <a:r>
              <a:rPr sz="1910" i="1" spc="15">
                <a:latin typeface="Arial"/>
                <a:cs typeface="Arial"/>
              </a:rPr>
              <a:t> </a:t>
            </a:r>
            <a:r>
              <a:rPr sz="1910" i="1">
                <a:latin typeface="Arial"/>
                <a:cs typeface="Arial"/>
              </a:rPr>
              <a:t>Situated</a:t>
            </a:r>
            <a:r>
              <a:rPr sz="1910" i="1" spc="15">
                <a:latin typeface="Arial"/>
                <a:cs typeface="Arial"/>
              </a:rPr>
              <a:t> </a:t>
            </a:r>
            <a:r>
              <a:rPr sz="1910" i="1">
                <a:latin typeface="Arial"/>
                <a:cs typeface="Arial"/>
              </a:rPr>
              <a:t>Actions:</a:t>
            </a:r>
            <a:r>
              <a:rPr sz="1910" i="1" spc="15">
                <a:latin typeface="Arial"/>
                <a:cs typeface="Arial"/>
              </a:rPr>
              <a:t> </a:t>
            </a:r>
            <a:r>
              <a:rPr sz="1910" i="1">
                <a:latin typeface="Arial"/>
                <a:cs typeface="Arial"/>
              </a:rPr>
              <a:t>The</a:t>
            </a:r>
            <a:r>
              <a:rPr sz="1910" i="1" spc="12">
                <a:latin typeface="Arial"/>
                <a:cs typeface="Arial"/>
              </a:rPr>
              <a:t> </a:t>
            </a:r>
            <a:r>
              <a:rPr sz="1910" i="1">
                <a:latin typeface="Arial"/>
                <a:cs typeface="Arial"/>
              </a:rPr>
              <a:t>Problem</a:t>
            </a:r>
            <a:r>
              <a:rPr sz="1910" i="1" spc="15">
                <a:latin typeface="Arial"/>
                <a:cs typeface="Arial"/>
              </a:rPr>
              <a:t> </a:t>
            </a:r>
            <a:r>
              <a:rPr sz="1910" i="1" spc="24">
                <a:latin typeface="Arial"/>
                <a:cs typeface="Arial"/>
              </a:rPr>
              <a:t>of </a:t>
            </a:r>
            <a:r>
              <a:rPr sz="1910" i="1">
                <a:latin typeface="Arial"/>
                <a:cs typeface="Arial"/>
              </a:rPr>
              <a:t>Human-machine</a:t>
            </a:r>
            <a:r>
              <a:rPr sz="1910" i="1" spc="200">
                <a:latin typeface="Arial"/>
                <a:cs typeface="Arial"/>
              </a:rPr>
              <a:t> </a:t>
            </a:r>
            <a:r>
              <a:rPr sz="1910" i="1">
                <a:latin typeface="Arial"/>
                <a:cs typeface="Arial"/>
              </a:rPr>
              <a:t>Communication</a:t>
            </a:r>
            <a:r>
              <a:rPr sz="1910" i="1" spc="206">
                <a:latin typeface="Arial"/>
                <a:cs typeface="Arial"/>
              </a:rPr>
              <a:t> </a:t>
            </a:r>
            <a:r>
              <a:rPr sz="1910" spc="-6">
                <a:latin typeface="Arial"/>
                <a:cs typeface="Arial"/>
              </a:rPr>
              <a:t>(1987)</a:t>
            </a:r>
            <a:endParaRPr sz="191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4214" y="4050654"/>
            <a:ext cx="6689727" cy="2279733"/>
          </a:xfrm>
          <a:prstGeom prst="rect">
            <a:avLst/>
          </a:prstGeom>
        </p:spPr>
        <p:txBody>
          <a:bodyPr vert="horz" wrap="square" lIns="0" tIns="24644" rIns="0" bIns="0" rtlCol="0">
            <a:spAutoFit/>
          </a:bodyPr>
          <a:lstStyle/>
          <a:p>
            <a:pPr marL="7701" marR="805554">
              <a:lnSpc>
                <a:spcPts val="2947"/>
              </a:lnSpc>
              <a:spcBef>
                <a:spcPts val="194"/>
              </a:spcBef>
            </a:pPr>
            <a:r>
              <a:rPr sz="2486" dirty="0">
                <a:latin typeface="Arial"/>
                <a:cs typeface="Arial"/>
              </a:rPr>
              <a:t>A</a:t>
            </a:r>
            <a:r>
              <a:rPr sz="2486" spc="88" dirty="0">
                <a:latin typeface="Arial"/>
                <a:cs typeface="Arial"/>
              </a:rPr>
              <a:t> </a:t>
            </a:r>
            <a:r>
              <a:rPr sz="2486" dirty="0">
                <a:latin typeface="Arial"/>
                <a:cs typeface="Arial"/>
              </a:rPr>
              <a:t>broad</a:t>
            </a:r>
            <a:r>
              <a:rPr sz="2486" spc="88" dirty="0">
                <a:latin typeface="Arial"/>
                <a:cs typeface="Arial"/>
              </a:rPr>
              <a:t> </a:t>
            </a:r>
            <a:r>
              <a:rPr sz="2486" dirty="0">
                <a:latin typeface="Arial"/>
                <a:cs typeface="Arial"/>
              </a:rPr>
              <a:t>insight</a:t>
            </a:r>
            <a:r>
              <a:rPr sz="2486" spc="91" dirty="0">
                <a:latin typeface="Arial"/>
                <a:cs typeface="Arial"/>
              </a:rPr>
              <a:t> </a:t>
            </a:r>
            <a:r>
              <a:rPr sz="2486" dirty="0">
                <a:latin typeface="Arial"/>
                <a:cs typeface="Arial"/>
              </a:rPr>
              <a:t>into</a:t>
            </a:r>
            <a:r>
              <a:rPr sz="2486" spc="88" dirty="0">
                <a:latin typeface="Arial"/>
                <a:cs typeface="Arial"/>
              </a:rPr>
              <a:t> </a:t>
            </a:r>
            <a:r>
              <a:rPr sz="2486" dirty="0">
                <a:latin typeface="Arial"/>
                <a:cs typeface="Arial"/>
              </a:rPr>
              <a:t>the</a:t>
            </a:r>
            <a:r>
              <a:rPr sz="2486" spc="88" dirty="0">
                <a:latin typeface="Arial"/>
                <a:cs typeface="Arial"/>
              </a:rPr>
              <a:t> </a:t>
            </a:r>
            <a:r>
              <a:rPr sz="2486" dirty="0">
                <a:latin typeface="Arial"/>
                <a:cs typeface="Arial"/>
              </a:rPr>
              <a:t>importance</a:t>
            </a:r>
            <a:r>
              <a:rPr sz="2486" spc="91" dirty="0">
                <a:latin typeface="Arial"/>
                <a:cs typeface="Arial"/>
              </a:rPr>
              <a:t> </a:t>
            </a:r>
            <a:r>
              <a:rPr sz="2486" spc="39" dirty="0">
                <a:latin typeface="Arial"/>
                <a:cs typeface="Arial"/>
              </a:rPr>
              <a:t>of</a:t>
            </a:r>
            <a:r>
              <a:rPr sz="2486" spc="88" dirty="0">
                <a:latin typeface="Arial"/>
                <a:cs typeface="Arial"/>
              </a:rPr>
              <a:t> </a:t>
            </a:r>
            <a:r>
              <a:rPr sz="2486" spc="-15" dirty="0">
                <a:latin typeface="Arial"/>
                <a:cs typeface="Arial"/>
              </a:rPr>
              <a:t>the </a:t>
            </a:r>
            <a:r>
              <a:rPr sz="2486" spc="30" dirty="0">
                <a:latin typeface="Arial"/>
                <a:cs typeface="Arial"/>
              </a:rPr>
              <a:t>specifics</a:t>
            </a:r>
            <a:r>
              <a:rPr sz="2486" spc="3" dirty="0">
                <a:latin typeface="Arial"/>
                <a:cs typeface="Arial"/>
              </a:rPr>
              <a:t> </a:t>
            </a:r>
            <a:r>
              <a:rPr sz="2486" spc="39" dirty="0">
                <a:latin typeface="Arial"/>
                <a:cs typeface="Arial"/>
              </a:rPr>
              <a:t>of</a:t>
            </a:r>
            <a:r>
              <a:rPr sz="2486" spc="6" dirty="0">
                <a:latin typeface="Arial"/>
                <a:cs typeface="Arial"/>
              </a:rPr>
              <a:t> </a:t>
            </a:r>
            <a:r>
              <a:rPr sz="2486" b="1" spc="45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context</a:t>
            </a:r>
            <a:r>
              <a:rPr sz="2486" b="1" spc="6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sz="2486" b="1" spc="69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to</a:t>
            </a:r>
            <a:r>
              <a:rPr sz="2486" b="1" spc="6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sz="2486" b="1" spc="-6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interaction</a:t>
            </a:r>
            <a:endParaRPr sz="2486" b="1" dirty="0">
              <a:solidFill>
                <a:schemeClr val="tx2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  <a:p>
            <a:pPr>
              <a:spcBef>
                <a:spcPts val="69"/>
              </a:spcBef>
            </a:pPr>
            <a:endParaRPr sz="2486" dirty="0">
              <a:latin typeface="Arial"/>
              <a:cs typeface="Arial"/>
            </a:endParaRPr>
          </a:p>
          <a:p>
            <a:pPr marL="7701" marR="3081" algn="just">
              <a:lnSpc>
                <a:spcPts val="2947"/>
              </a:lnSpc>
            </a:pPr>
            <a:r>
              <a:rPr sz="2486" dirty="0">
                <a:latin typeface="Arial"/>
                <a:cs typeface="Arial"/>
              </a:rPr>
              <a:t>Actions</a:t>
            </a:r>
            <a:r>
              <a:rPr sz="2486" spc="27" dirty="0">
                <a:latin typeface="Arial"/>
                <a:cs typeface="Arial"/>
              </a:rPr>
              <a:t> </a:t>
            </a:r>
            <a:r>
              <a:rPr sz="2486" dirty="0">
                <a:latin typeface="Arial"/>
                <a:cs typeface="Arial"/>
              </a:rPr>
              <a:t>are</a:t>
            </a:r>
            <a:r>
              <a:rPr sz="2486" spc="30" dirty="0">
                <a:latin typeface="Arial"/>
                <a:cs typeface="Arial"/>
              </a:rPr>
              <a:t> </a:t>
            </a:r>
            <a:r>
              <a:rPr sz="2486" spc="61" dirty="0">
                <a:latin typeface="Arial"/>
                <a:cs typeface="Arial"/>
              </a:rPr>
              <a:t>“situated”</a:t>
            </a:r>
            <a:r>
              <a:rPr sz="2486" spc="30" dirty="0">
                <a:latin typeface="Arial"/>
                <a:cs typeface="Arial"/>
              </a:rPr>
              <a:t> </a:t>
            </a:r>
            <a:r>
              <a:rPr sz="2486" spc="45" dirty="0">
                <a:latin typeface="Arial"/>
                <a:cs typeface="Arial"/>
              </a:rPr>
              <a:t>not</a:t>
            </a:r>
            <a:r>
              <a:rPr sz="2486" spc="27" dirty="0">
                <a:latin typeface="Arial"/>
                <a:cs typeface="Arial"/>
              </a:rPr>
              <a:t> </a:t>
            </a:r>
            <a:r>
              <a:rPr sz="2486" dirty="0">
                <a:latin typeface="Arial"/>
                <a:cs typeface="Arial"/>
              </a:rPr>
              <a:t>planned…</a:t>
            </a:r>
            <a:r>
              <a:rPr sz="2486" spc="30" dirty="0">
                <a:latin typeface="Arial"/>
                <a:cs typeface="Arial"/>
              </a:rPr>
              <a:t> </a:t>
            </a:r>
            <a:r>
              <a:rPr sz="2486" spc="-6" dirty="0">
                <a:latin typeface="Arial"/>
                <a:cs typeface="Arial"/>
              </a:rPr>
              <a:t>Meanings </a:t>
            </a:r>
            <a:r>
              <a:rPr sz="2486" spc="39" dirty="0">
                <a:latin typeface="Arial"/>
                <a:cs typeface="Arial"/>
              </a:rPr>
              <a:t>of</a:t>
            </a:r>
            <a:r>
              <a:rPr sz="2486" spc="73" dirty="0">
                <a:latin typeface="Arial"/>
                <a:cs typeface="Arial"/>
              </a:rPr>
              <a:t> </a:t>
            </a:r>
            <a:r>
              <a:rPr sz="2486" dirty="0">
                <a:latin typeface="Arial"/>
                <a:cs typeface="Arial"/>
              </a:rPr>
              <a:t>actions</a:t>
            </a:r>
            <a:r>
              <a:rPr sz="2486" spc="76" dirty="0">
                <a:latin typeface="Arial"/>
                <a:cs typeface="Arial"/>
              </a:rPr>
              <a:t> </a:t>
            </a:r>
            <a:r>
              <a:rPr sz="2486" dirty="0">
                <a:latin typeface="Arial"/>
                <a:cs typeface="Arial"/>
              </a:rPr>
              <a:t>stem</a:t>
            </a:r>
            <a:r>
              <a:rPr sz="2486" spc="76" dirty="0">
                <a:latin typeface="Arial"/>
                <a:cs typeface="Arial"/>
              </a:rPr>
              <a:t> </a:t>
            </a:r>
            <a:r>
              <a:rPr sz="2486" dirty="0">
                <a:latin typeface="Arial"/>
                <a:cs typeface="Arial"/>
              </a:rPr>
              <a:t>from</a:t>
            </a:r>
            <a:r>
              <a:rPr sz="2486" spc="76" dirty="0">
                <a:latin typeface="Arial"/>
                <a:cs typeface="Arial"/>
              </a:rPr>
              <a:t> </a:t>
            </a:r>
            <a:r>
              <a:rPr sz="2486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the</a:t>
            </a:r>
            <a:r>
              <a:rPr sz="2486" b="1" spc="73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sz="2486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situation</a:t>
            </a:r>
            <a:r>
              <a:rPr sz="2486" b="1" spc="76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sz="2486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in</a:t>
            </a:r>
            <a:r>
              <a:rPr sz="2486" b="1" spc="76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sz="2486" b="1" spc="36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which</a:t>
            </a:r>
            <a:r>
              <a:rPr sz="2486" b="1" spc="76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sz="2486" b="1" spc="-12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they </a:t>
            </a:r>
            <a:r>
              <a:rPr sz="2486" b="1" spc="42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occur</a:t>
            </a:r>
            <a:endParaRPr sz="2486" b="1" dirty="0">
              <a:solidFill>
                <a:schemeClr val="tx2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97215" y="2235508"/>
            <a:ext cx="1088192" cy="191630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182" b="1">
                <a:solidFill>
                  <a:srgbClr val="FFFFFF"/>
                </a:solidFill>
                <a:latin typeface="Arial"/>
                <a:cs typeface="Arial"/>
              </a:rPr>
              <a:t>Lucy</a:t>
            </a:r>
            <a:r>
              <a:rPr sz="1182" b="1" spc="-27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2" b="1" spc="-6">
                <a:solidFill>
                  <a:srgbClr val="FFFFFF"/>
                </a:solidFill>
                <a:latin typeface="Arial"/>
                <a:cs typeface="Arial"/>
              </a:rPr>
              <a:t>Suchman</a:t>
            </a:r>
            <a:endParaRPr sz="1182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62760" y="2545095"/>
            <a:ext cx="2495816" cy="37528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713" y="279715"/>
            <a:ext cx="6376669" cy="687218"/>
          </a:xfrm>
          <a:prstGeom prst="rect">
            <a:avLst/>
          </a:prstGeom>
        </p:spPr>
        <p:txBody>
          <a:bodyPr vert="horz" wrap="square" lIns="0" tIns="10012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79"/>
              </a:spcBef>
            </a:pPr>
            <a:r>
              <a:rPr spc="45"/>
              <a:t>Methods</a:t>
            </a:r>
            <a:r>
              <a:rPr spc="-27"/>
              <a:t> </a:t>
            </a:r>
            <a:r>
              <a:t>for</a:t>
            </a:r>
            <a:r>
              <a:rPr spc="-27"/>
              <a:t> </a:t>
            </a:r>
            <a:r>
              <a:t>Situated</a:t>
            </a:r>
            <a:r>
              <a:rPr spc="-27"/>
              <a:t> </a:t>
            </a:r>
            <a:r>
              <a:t>Action</a:t>
            </a:r>
            <a:endParaRPr spc="-6"/>
          </a:p>
        </p:txBody>
      </p:sp>
      <p:sp>
        <p:nvSpPr>
          <p:cNvPr id="3" name="object 3"/>
          <p:cNvSpPr txBox="1"/>
          <p:nvPr/>
        </p:nvSpPr>
        <p:spPr>
          <a:xfrm>
            <a:off x="684214" y="1657213"/>
            <a:ext cx="8679355" cy="415277"/>
          </a:xfrm>
          <a:prstGeom prst="rect">
            <a:avLst/>
          </a:prstGeom>
        </p:spPr>
        <p:txBody>
          <a:bodyPr vert="horz" wrap="square" lIns="0" tIns="9242" rIns="0" bIns="0" rtlCol="0">
            <a:spAutoFit/>
          </a:bodyPr>
          <a:lstStyle/>
          <a:p>
            <a:pPr marL="7701">
              <a:spcBef>
                <a:spcPts val="73"/>
              </a:spcBef>
            </a:pPr>
            <a:r>
              <a:rPr sz="2638" spc="-270">
                <a:latin typeface="Arial"/>
                <a:cs typeface="Arial"/>
              </a:rPr>
              <a:t>Y</a:t>
            </a:r>
            <a:r>
              <a:rPr sz="2638" spc="33">
                <a:latin typeface="Arial"/>
                <a:cs typeface="Arial"/>
              </a:rPr>
              <a:t>ou</a:t>
            </a:r>
            <a:r>
              <a:rPr sz="2638" spc="6">
                <a:latin typeface="Arial"/>
                <a:cs typeface="Arial"/>
              </a:rPr>
              <a:t> </a:t>
            </a:r>
            <a:r>
              <a:rPr sz="2638">
                <a:latin typeface="Arial"/>
                <a:cs typeface="Arial"/>
              </a:rPr>
              <a:t>can</a:t>
            </a:r>
            <a:r>
              <a:rPr sz="2638" spc="3">
                <a:latin typeface="Arial"/>
                <a:cs typeface="Arial"/>
              </a:rPr>
              <a:t> </a:t>
            </a:r>
            <a:r>
              <a:rPr sz="2638">
                <a:latin typeface="Arial"/>
                <a:cs typeface="Arial"/>
              </a:rPr>
              <a:t>only</a:t>
            </a:r>
            <a:r>
              <a:rPr sz="2638" spc="3">
                <a:latin typeface="Arial"/>
                <a:cs typeface="Arial"/>
              </a:rPr>
              <a:t> </a:t>
            </a:r>
            <a:r>
              <a:rPr sz="2638" spc="36">
                <a:latin typeface="Arial"/>
                <a:cs typeface="Arial"/>
              </a:rPr>
              <a:t>study</a:t>
            </a:r>
            <a:r>
              <a:rPr sz="2638" spc="6">
                <a:latin typeface="Arial"/>
                <a:cs typeface="Arial"/>
              </a:rPr>
              <a:t> </a:t>
            </a:r>
            <a:r>
              <a:rPr sz="2638" spc="33">
                <a:latin typeface="Arial"/>
                <a:cs typeface="Arial"/>
              </a:rPr>
              <a:t>action</a:t>
            </a:r>
            <a:r>
              <a:rPr sz="2638" spc="6">
                <a:latin typeface="Arial"/>
                <a:cs typeface="Arial"/>
              </a:rPr>
              <a:t> </a:t>
            </a:r>
            <a:r>
              <a:rPr sz="2638" spc="39">
                <a:latin typeface="Arial"/>
                <a:cs typeface="Arial"/>
              </a:rPr>
              <a:t>by</a:t>
            </a:r>
            <a:r>
              <a:rPr sz="2638" spc="3">
                <a:latin typeface="Arial"/>
                <a:cs typeface="Arial"/>
              </a:rPr>
              <a:t> </a:t>
            </a:r>
            <a:r>
              <a:rPr sz="2638">
                <a:latin typeface="Arial"/>
                <a:cs typeface="Arial"/>
              </a:rPr>
              <a:t>observation</a:t>
            </a:r>
            <a:r>
              <a:rPr sz="2638" spc="9">
                <a:latin typeface="Arial"/>
                <a:cs typeface="Arial"/>
              </a:rPr>
              <a:t> </a:t>
            </a:r>
            <a:r>
              <a:rPr sz="2638">
                <a:latin typeface="Arial"/>
                <a:cs typeface="Arial"/>
              </a:rPr>
              <a:t>in</a:t>
            </a:r>
            <a:r>
              <a:rPr sz="2638" spc="3">
                <a:latin typeface="Arial"/>
                <a:cs typeface="Arial"/>
              </a:rPr>
              <a:t> </a:t>
            </a:r>
            <a:r>
              <a:rPr sz="2638">
                <a:latin typeface="Arial"/>
                <a:cs typeface="Arial"/>
              </a:rPr>
              <a:t>the</a:t>
            </a:r>
            <a:r>
              <a:rPr sz="2638" spc="6">
                <a:latin typeface="Arial"/>
                <a:cs typeface="Arial"/>
              </a:rPr>
              <a:t> </a:t>
            </a:r>
            <a:r>
              <a:rPr sz="2638">
                <a:latin typeface="Arial"/>
                <a:cs typeface="Arial"/>
              </a:rPr>
              <a:t>real</a:t>
            </a:r>
            <a:r>
              <a:rPr sz="2638" spc="3">
                <a:latin typeface="Arial"/>
                <a:cs typeface="Arial"/>
              </a:rPr>
              <a:t> </a:t>
            </a:r>
            <a:r>
              <a:rPr sz="2638" spc="42">
                <a:latin typeface="Arial"/>
                <a:cs typeface="Arial"/>
              </a:rPr>
              <a:t>world</a:t>
            </a:r>
            <a:endParaRPr sz="263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4214" y="2006710"/>
            <a:ext cx="176745" cy="907403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lnSpc>
                <a:spcPts val="3496"/>
              </a:lnSpc>
              <a:spcBef>
                <a:spcPts val="76"/>
              </a:spcBef>
            </a:pPr>
            <a:r>
              <a:rPr sz="3244" spc="143">
                <a:latin typeface="Arial"/>
                <a:cs typeface="Arial"/>
              </a:rPr>
              <a:t>-</a:t>
            </a:r>
            <a:endParaRPr sz="3244">
              <a:latin typeface="Arial"/>
              <a:cs typeface="Arial"/>
            </a:endParaRPr>
          </a:p>
          <a:p>
            <a:pPr marL="7701">
              <a:lnSpc>
                <a:spcPts val="3496"/>
              </a:lnSpc>
            </a:pPr>
            <a:r>
              <a:rPr sz="3244" spc="143">
                <a:latin typeface="Arial"/>
                <a:cs typeface="Arial"/>
              </a:rPr>
              <a:t>-</a:t>
            </a:r>
            <a:endParaRPr sz="3244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9236" y="2050885"/>
            <a:ext cx="9551331" cy="1218685"/>
          </a:xfrm>
          <a:prstGeom prst="rect">
            <a:avLst/>
          </a:prstGeom>
        </p:spPr>
        <p:txBody>
          <a:bodyPr vert="horz" wrap="square" lIns="0" tIns="25799" rIns="0" bIns="0" rtlCol="0">
            <a:spAutoFit/>
          </a:bodyPr>
          <a:lstStyle/>
          <a:p>
            <a:pPr marL="7701" marR="3081">
              <a:lnSpc>
                <a:spcPts val="3099"/>
              </a:lnSpc>
              <a:spcBef>
                <a:spcPts val="203"/>
              </a:spcBef>
            </a:pPr>
            <a:r>
              <a:rPr sz="2638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Rich</a:t>
            </a:r>
            <a:r>
              <a:rPr sz="2638" b="1" spc="-52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sz="2638" b="1" spc="33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descriptions</a:t>
            </a:r>
            <a:r>
              <a:rPr sz="2638" b="1" spc="-49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sz="2638" dirty="0">
                <a:latin typeface="Arial"/>
                <a:cs typeface="Arial"/>
              </a:rPr>
              <a:t>are</a:t>
            </a:r>
            <a:r>
              <a:rPr sz="2638" spc="-52" dirty="0">
                <a:latin typeface="Arial"/>
                <a:cs typeface="Arial"/>
              </a:rPr>
              <a:t> </a:t>
            </a:r>
            <a:r>
              <a:rPr sz="2638" dirty="0">
                <a:latin typeface="Arial"/>
                <a:cs typeface="Arial"/>
              </a:rPr>
              <a:t>preferred</a:t>
            </a:r>
            <a:r>
              <a:rPr sz="2638" spc="-49" dirty="0">
                <a:latin typeface="Arial"/>
                <a:cs typeface="Arial"/>
              </a:rPr>
              <a:t> </a:t>
            </a:r>
            <a:r>
              <a:rPr sz="2638" dirty="0">
                <a:latin typeface="Arial"/>
                <a:cs typeface="Arial"/>
              </a:rPr>
              <a:t>over</a:t>
            </a:r>
            <a:r>
              <a:rPr sz="2638" spc="-52" dirty="0">
                <a:latin typeface="Arial"/>
                <a:cs typeface="Arial"/>
              </a:rPr>
              <a:t> </a:t>
            </a:r>
            <a:r>
              <a:rPr sz="2638" dirty="0" err="1">
                <a:latin typeface="Arial"/>
                <a:cs typeface="Arial"/>
              </a:rPr>
              <a:t>generalisable</a:t>
            </a:r>
            <a:r>
              <a:rPr sz="2638" spc="-49" dirty="0">
                <a:latin typeface="Arial"/>
                <a:cs typeface="Arial"/>
              </a:rPr>
              <a:t> </a:t>
            </a:r>
            <a:r>
              <a:rPr sz="2638" spc="-6" dirty="0">
                <a:latin typeface="Arial"/>
                <a:cs typeface="Arial"/>
              </a:rPr>
              <a:t>theories </a:t>
            </a:r>
            <a:r>
              <a:rPr sz="2638" dirty="0">
                <a:latin typeface="Arial"/>
                <a:cs typeface="Arial"/>
              </a:rPr>
              <a:t>Lab</a:t>
            </a:r>
            <a:r>
              <a:rPr sz="2638" spc="69" dirty="0">
                <a:latin typeface="Arial"/>
                <a:cs typeface="Arial"/>
              </a:rPr>
              <a:t> </a:t>
            </a:r>
            <a:r>
              <a:rPr sz="2638" dirty="0">
                <a:latin typeface="Arial"/>
                <a:cs typeface="Arial"/>
              </a:rPr>
              <a:t>studies</a:t>
            </a:r>
            <a:r>
              <a:rPr sz="2638" spc="69" dirty="0">
                <a:latin typeface="Arial"/>
                <a:cs typeface="Arial"/>
              </a:rPr>
              <a:t> </a:t>
            </a:r>
            <a:r>
              <a:rPr lang="en-GB" sz="2638" spc="69" dirty="0">
                <a:latin typeface="Arial"/>
                <a:cs typeface="Arial"/>
              </a:rPr>
              <a:t>are seen as </a:t>
            </a:r>
            <a:r>
              <a:rPr sz="2638" spc="-6" dirty="0">
                <a:latin typeface="Arial"/>
                <a:cs typeface="Arial"/>
              </a:rPr>
              <a:t>abstract</a:t>
            </a:r>
            <a:r>
              <a:rPr lang="en-GB" sz="2638" spc="-6" dirty="0">
                <a:latin typeface="Arial"/>
                <a:cs typeface="Arial"/>
              </a:rPr>
              <a:t>ed </a:t>
            </a:r>
            <a:r>
              <a:rPr lang="en-GB" sz="2638" b="1" spc="-6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non-ecological</a:t>
            </a:r>
            <a:r>
              <a:rPr lang="en-GB" sz="2638" b="1" spc="-6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lang="en-GB" sz="2638" spc="-6" dirty="0">
                <a:latin typeface="Arial"/>
                <a:cs typeface="Arial"/>
              </a:rPr>
              <a:t>(removed from the ecology which gives rise to actions)</a:t>
            </a:r>
            <a:endParaRPr sz="2638" dirty="0">
              <a:latin typeface="Arial"/>
              <a:cs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7ED7F6-A0FB-82B3-0E35-0203F549224C}"/>
              </a:ext>
            </a:extLst>
          </p:cNvPr>
          <p:cNvGrpSpPr/>
          <p:nvPr/>
        </p:nvGrpSpPr>
        <p:grpSpPr>
          <a:xfrm>
            <a:off x="684214" y="3620359"/>
            <a:ext cx="6766639" cy="2449535"/>
            <a:chOff x="1127614" y="5630372"/>
            <a:chExt cx="11158689" cy="4039465"/>
          </a:xfrm>
        </p:grpSpPr>
        <p:sp>
          <p:nvSpPr>
            <p:cNvPr id="6" name="object 6"/>
            <p:cNvSpPr txBox="1"/>
            <p:nvPr/>
          </p:nvSpPr>
          <p:spPr>
            <a:xfrm>
              <a:off x="1127614" y="5630372"/>
              <a:ext cx="7476636" cy="684823"/>
            </a:xfrm>
            <a:prstGeom prst="rect">
              <a:avLst/>
            </a:prstGeom>
          </p:spPr>
          <p:txBody>
            <a:bodyPr vert="horz" wrap="square" lIns="0" tIns="9242" rIns="0" bIns="0" rtlCol="0">
              <a:spAutoFit/>
            </a:bodyPr>
            <a:lstStyle/>
            <a:p>
              <a:pPr marL="7701">
                <a:spcBef>
                  <a:spcPts val="73"/>
                </a:spcBef>
              </a:pPr>
              <a:r>
                <a:rPr sz="2638" dirty="0" err="1">
                  <a:latin typeface="Arial"/>
                  <a:cs typeface="Arial"/>
                </a:rPr>
                <a:t>Behavioural</a:t>
              </a:r>
              <a:r>
                <a:rPr sz="2638" spc="-136" dirty="0">
                  <a:latin typeface="Arial"/>
                  <a:cs typeface="Arial"/>
                </a:rPr>
                <a:t> </a:t>
              </a:r>
              <a:r>
                <a:rPr lang="en-GB" sz="2638" b="1" spc="-6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Arial"/>
                  <a:cs typeface="Arial"/>
                </a:rPr>
                <a:t>Observation</a:t>
              </a:r>
              <a:r>
                <a:rPr sz="2638" spc="-6" dirty="0">
                  <a:latin typeface="Arial"/>
                  <a:cs typeface="Arial"/>
                </a:rPr>
                <a:t>:</a:t>
              </a:r>
              <a:endParaRPr sz="2638" dirty="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1127614" y="6206720"/>
              <a:ext cx="291466" cy="3463117"/>
            </a:xfrm>
            <a:prstGeom prst="rect">
              <a:avLst/>
            </a:prstGeom>
          </p:spPr>
          <p:txBody>
            <a:bodyPr vert="horz" wrap="square" lIns="0" tIns="9627" rIns="0" bIns="0" rtlCol="0">
              <a:spAutoFit/>
            </a:bodyPr>
            <a:lstStyle/>
            <a:p>
              <a:pPr marL="7701">
                <a:lnSpc>
                  <a:spcPts val="3496"/>
                </a:lnSpc>
                <a:spcBef>
                  <a:spcPts val="76"/>
                </a:spcBef>
              </a:pPr>
              <a:r>
                <a:rPr sz="3244" spc="143">
                  <a:latin typeface="Arial"/>
                  <a:cs typeface="Arial"/>
                </a:rPr>
                <a:t>-</a:t>
              </a:r>
              <a:endParaRPr sz="3244">
                <a:latin typeface="Arial"/>
                <a:cs typeface="Arial"/>
              </a:endParaRPr>
            </a:p>
            <a:p>
              <a:pPr marL="7701">
                <a:lnSpc>
                  <a:spcPts val="3099"/>
                </a:lnSpc>
              </a:pPr>
              <a:r>
                <a:rPr sz="3244" spc="143">
                  <a:latin typeface="Arial"/>
                  <a:cs typeface="Arial"/>
                </a:rPr>
                <a:t>-</a:t>
              </a:r>
              <a:endParaRPr sz="3244">
                <a:latin typeface="Arial"/>
                <a:cs typeface="Arial"/>
              </a:endParaRPr>
            </a:p>
            <a:p>
              <a:pPr marL="7701">
                <a:lnSpc>
                  <a:spcPts val="3099"/>
                </a:lnSpc>
              </a:pPr>
              <a:r>
                <a:rPr sz="3244" spc="143">
                  <a:latin typeface="Arial"/>
                  <a:cs typeface="Arial"/>
                </a:rPr>
                <a:t>-</a:t>
              </a:r>
              <a:endParaRPr sz="3244">
                <a:latin typeface="Arial"/>
                <a:cs typeface="Arial"/>
              </a:endParaRPr>
            </a:p>
            <a:p>
              <a:pPr marL="7701">
                <a:lnSpc>
                  <a:spcPts val="3099"/>
                </a:lnSpc>
              </a:pPr>
              <a:r>
                <a:rPr sz="3244" spc="143">
                  <a:latin typeface="Arial"/>
                  <a:cs typeface="Arial"/>
                </a:rPr>
                <a:t>-</a:t>
              </a:r>
              <a:endParaRPr sz="3244">
                <a:latin typeface="Arial"/>
                <a:cs typeface="Arial"/>
              </a:endParaRPr>
            </a:p>
            <a:p>
              <a:pPr marL="7701">
                <a:lnSpc>
                  <a:spcPts val="3496"/>
                </a:lnSpc>
              </a:pPr>
              <a:r>
                <a:rPr sz="3244" spc="143">
                  <a:latin typeface="Arial"/>
                  <a:cs typeface="Arial"/>
                </a:rPr>
                <a:t>-</a:t>
              </a:r>
              <a:endParaRPr sz="3244">
                <a:latin typeface="Arial"/>
                <a:cs typeface="Arial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1844998" y="6279566"/>
              <a:ext cx="10441305" cy="3305487"/>
            </a:xfrm>
            <a:prstGeom prst="rect">
              <a:avLst/>
            </a:prstGeom>
          </p:spPr>
          <p:txBody>
            <a:bodyPr vert="horz" wrap="square" lIns="0" tIns="29265" rIns="0" bIns="0" rtlCol="0">
              <a:spAutoFit/>
            </a:bodyPr>
            <a:lstStyle/>
            <a:p>
              <a:pPr marL="7701" marR="628039">
                <a:lnSpc>
                  <a:spcPts val="3099"/>
                </a:lnSpc>
                <a:spcBef>
                  <a:spcPts val="230"/>
                </a:spcBef>
              </a:pPr>
              <a:r>
                <a:rPr sz="2638" dirty="0">
                  <a:latin typeface="Arial"/>
                  <a:cs typeface="Arial"/>
                </a:rPr>
                <a:t>Record</a:t>
              </a:r>
              <a:r>
                <a:rPr sz="2638" spc="24" dirty="0">
                  <a:latin typeface="Arial"/>
                  <a:cs typeface="Arial"/>
                </a:rPr>
                <a:t> </a:t>
              </a:r>
              <a:r>
                <a:rPr sz="2638" dirty="0" err="1">
                  <a:latin typeface="Arial"/>
                  <a:cs typeface="Arial"/>
                </a:rPr>
                <a:t>behaviours</a:t>
              </a:r>
              <a:r>
                <a:rPr sz="2638" spc="30" dirty="0">
                  <a:latin typeface="Arial"/>
                  <a:cs typeface="Arial"/>
                </a:rPr>
                <a:t> </a:t>
              </a:r>
              <a:r>
                <a:rPr sz="2638" dirty="0">
                  <a:latin typeface="Arial"/>
                  <a:cs typeface="Arial"/>
                </a:rPr>
                <a:t>and</a:t>
              </a:r>
              <a:r>
                <a:rPr sz="2638" spc="33" dirty="0">
                  <a:latin typeface="Arial"/>
                  <a:cs typeface="Arial"/>
                </a:rPr>
                <a:t> </a:t>
              </a:r>
              <a:r>
                <a:rPr sz="2638" spc="-6" dirty="0">
                  <a:latin typeface="Arial"/>
                  <a:cs typeface="Arial"/>
                </a:rPr>
                <a:t>conversations </a:t>
              </a:r>
              <a:r>
                <a:rPr sz="2638" dirty="0">
                  <a:latin typeface="Arial"/>
                  <a:cs typeface="Arial"/>
                </a:rPr>
                <a:t>Follow</a:t>
              </a:r>
              <a:r>
                <a:rPr sz="2638" spc="21" dirty="0">
                  <a:latin typeface="Arial"/>
                  <a:cs typeface="Arial"/>
                </a:rPr>
                <a:t> </a:t>
              </a:r>
              <a:r>
                <a:rPr sz="2638" dirty="0">
                  <a:latin typeface="Arial"/>
                  <a:cs typeface="Arial"/>
                </a:rPr>
                <a:t>user</a:t>
              </a:r>
              <a:r>
                <a:rPr sz="2638" spc="18" dirty="0">
                  <a:latin typeface="Arial"/>
                  <a:cs typeface="Arial"/>
                </a:rPr>
                <a:t> </a:t>
              </a:r>
              <a:r>
                <a:rPr sz="2638" spc="64" dirty="0">
                  <a:latin typeface="Arial"/>
                  <a:cs typeface="Arial"/>
                </a:rPr>
                <a:t>to</a:t>
              </a:r>
              <a:r>
                <a:rPr sz="2638" spc="21" dirty="0">
                  <a:latin typeface="Arial"/>
                  <a:cs typeface="Arial"/>
                </a:rPr>
                <a:t> </a:t>
              </a:r>
              <a:r>
                <a:rPr sz="2638" spc="36" dirty="0">
                  <a:latin typeface="Arial"/>
                  <a:cs typeface="Arial"/>
                </a:rPr>
                <a:t>study</a:t>
              </a:r>
              <a:r>
                <a:rPr sz="2638" spc="21" dirty="0">
                  <a:latin typeface="Arial"/>
                  <a:cs typeface="Arial"/>
                </a:rPr>
                <a:t> </a:t>
              </a:r>
              <a:r>
                <a:rPr sz="2638" dirty="0">
                  <a:latin typeface="Arial"/>
                  <a:cs typeface="Arial"/>
                </a:rPr>
                <a:t>their</a:t>
              </a:r>
              <a:r>
                <a:rPr sz="2638" spc="21" dirty="0">
                  <a:latin typeface="Arial"/>
                  <a:cs typeface="Arial"/>
                </a:rPr>
                <a:t> </a:t>
              </a:r>
              <a:r>
                <a:rPr sz="2638" spc="-6" dirty="0">
                  <a:latin typeface="Arial"/>
                  <a:cs typeface="Arial"/>
                </a:rPr>
                <a:t>actions </a:t>
              </a:r>
              <a:r>
                <a:rPr sz="2638" spc="-42" dirty="0">
                  <a:latin typeface="Arial"/>
                  <a:cs typeface="Arial"/>
                </a:rPr>
                <a:t>Trace</a:t>
              </a:r>
              <a:r>
                <a:rPr sz="2638" spc="-127" dirty="0">
                  <a:latin typeface="Arial"/>
                  <a:cs typeface="Arial"/>
                </a:rPr>
                <a:t> </a:t>
              </a:r>
              <a:r>
                <a:rPr sz="2638" spc="-6" dirty="0">
                  <a:latin typeface="Arial"/>
                  <a:cs typeface="Arial"/>
                </a:rPr>
                <a:t>artefacts</a:t>
              </a:r>
              <a:endParaRPr sz="2638" dirty="0">
                <a:latin typeface="Arial"/>
                <a:cs typeface="Arial"/>
              </a:endParaRPr>
            </a:p>
            <a:p>
              <a:pPr marL="7701">
                <a:lnSpc>
                  <a:spcPts val="2977"/>
                </a:lnSpc>
              </a:pPr>
              <a:r>
                <a:rPr sz="2638" dirty="0">
                  <a:latin typeface="Arial"/>
                  <a:cs typeface="Arial"/>
                </a:rPr>
                <a:t>Capture</a:t>
              </a:r>
              <a:r>
                <a:rPr sz="2638" spc="49" dirty="0">
                  <a:latin typeface="Arial"/>
                  <a:cs typeface="Arial"/>
                </a:rPr>
                <a:t> </a:t>
              </a:r>
              <a:r>
                <a:rPr sz="2638" spc="-6" dirty="0">
                  <a:latin typeface="Arial"/>
                  <a:cs typeface="Arial"/>
                </a:rPr>
                <a:t>interactions</a:t>
              </a:r>
              <a:endParaRPr sz="2638" dirty="0">
                <a:latin typeface="Arial"/>
                <a:cs typeface="Arial"/>
              </a:endParaRPr>
            </a:p>
            <a:p>
              <a:pPr marL="7701">
                <a:lnSpc>
                  <a:spcPts val="3132"/>
                </a:lnSpc>
              </a:pPr>
              <a:r>
                <a:rPr sz="2638" dirty="0">
                  <a:latin typeface="Arial"/>
                  <a:cs typeface="Arial"/>
                </a:rPr>
                <a:t>Study</a:t>
              </a:r>
              <a:r>
                <a:rPr sz="2638" spc="58" dirty="0">
                  <a:latin typeface="Arial"/>
                  <a:cs typeface="Arial"/>
                </a:rPr>
                <a:t> </a:t>
              </a:r>
              <a:r>
                <a:rPr sz="2638" dirty="0">
                  <a:latin typeface="Arial"/>
                  <a:cs typeface="Arial"/>
                </a:rPr>
                <a:t>the</a:t>
              </a:r>
              <a:r>
                <a:rPr sz="2638" spc="58" dirty="0">
                  <a:latin typeface="Arial"/>
                  <a:cs typeface="Arial"/>
                </a:rPr>
                <a:t> </a:t>
              </a:r>
              <a:r>
                <a:rPr sz="2638" dirty="0">
                  <a:latin typeface="Arial"/>
                  <a:cs typeface="Arial"/>
                </a:rPr>
                <a:t>same</a:t>
              </a:r>
              <a:r>
                <a:rPr sz="2638" spc="58" dirty="0">
                  <a:latin typeface="Arial"/>
                  <a:cs typeface="Arial"/>
                </a:rPr>
                <a:t> </a:t>
              </a:r>
              <a:r>
                <a:rPr sz="2638" dirty="0">
                  <a:latin typeface="Arial"/>
                  <a:cs typeface="Arial"/>
                </a:rPr>
                <a:t>tasks</a:t>
              </a:r>
              <a:r>
                <a:rPr sz="2638" spc="58" dirty="0">
                  <a:latin typeface="Arial"/>
                  <a:cs typeface="Arial"/>
                </a:rPr>
                <a:t> </a:t>
              </a:r>
              <a:r>
                <a:rPr sz="2638" dirty="0">
                  <a:latin typeface="Arial"/>
                  <a:cs typeface="Arial"/>
                </a:rPr>
                <a:t>in</a:t>
              </a:r>
              <a:r>
                <a:rPr sz="2638" spc="58" dirty="0">
                  <a:latin typeface="Arial"/>
                  <a:cs typeface="Arial"/>
                </a:rPr>
                <a:t> </a:t>
              </a:r>
              <a:r>
                <a:rPr sz="2638" dirty="0">
                  <a:latin typeface="Arial"/>
                  <a:cs typeface="Arial"/>
                </a:rPr>
                <a:t>diﬀerent</a:t>
              </a:r>
              <a:r>
                <a:rPr sz="2638" spc="55" dirty="0">
                  <a:latin typeface="Arial"/>
                  <a:cs typeface="Arial"/>
                </a:rPr>
                <a:t> </a:t>
              </a:r>
              <a:r>
                <a:rPr sz="2638" spc="30" dirty="0">
                  <a:latin typeface="Arial"/>
                  <a:cs typeface="Arial"/>
                </a:rPr>
                <a:t>contexts</a:t>
              </a:r>
              <a:endParaRPr sz="2638" dirty="0"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B5FF9-3B1F-42C9-A1D5-1EF771936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5529884"/>
            <a:ext cx="5806440" cy="1096331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303030"/>
                </a:solidFill>
              </a:rPr>
              <a:t>Ethnography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4B3122-6317-4484-9529-7718C5C35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7" y="1199168"/>
            <a:ext cx="6049942" cy="352113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76534-4F44-48F9-9950-56984FAF5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965199"/>
            <a:ext cx="4008101" cy="40204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Roots in anthropology</a:t>
            </a:r>
          </a:p>
          <a:p>
            <a:r>
              <a:rPr lang="en-US" sz="2400" dirty="0"/>
              <a:t>Original aim to document “primitive cultures”</a:t>
            </a:r>
          </a:p>
          <a:p>
            <a:r>
              <a:rPr lang="en-US" sz="2400" dirty="0"/>
              <a:t>E.g., </a:t>
            </a: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Bronisław Malinowski </a:t>
            </a:r>
            <a:r>
              <a:rPr lang="en-US" sz="2400" dirty="0"/>
              <a:t>and the Trobriand Islanders</a:t>
            </a:r>
          </a:p>
          <a:p>
            <a:r>
              <a:rPr lang="en-US" sz="2400" dirty="0"/>
              <a:t>Ethnography as a “way of seeing”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298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A56C-F205-D6E0-5E89-CC6A39D7A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Digital/Online Ethnography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2B568-486C-66A4-DED4-B4C798E0E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“Digital </a:t>
            </a:r>
            <a:r>
              <a:rPr lang="en-US" dirty="0" err="1"/>
              <a:t>Ethno</a:t>
            </a:r>
            <a:r>
              <a:rPr lang="en-US" dirty="0"/>
              <a:t> is the modern,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digital equivalent of traditional, </a:t>
            </a:r>
            <a:r>
              <a:rPr lang="en-US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Malinowskian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ethnographic forms</a:t>
            </a:r>
            <a:r>
              <a:rPr lang="en-US" dirty="0"/>
              <a:t>. The critical distinction is that while traditional ethnographers physically immerse themselves in distinct places and their cultures, digital ethnographers capitalize on wired and wireless technologies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to extend classic ethnographic methods, like participant observation, beyond geographic, as well as temporal, boundaries</a:t>
            </a:r>
            <a:r>
              <a:rPr lang="en-US" dirty="0"/>
              <a:t>.”</a:t>
            </a:r>
          </a:p>
          <a:p>
            <a:endParaRPr lang="en-US" dirty="0"/>
          </a:p>
          <a:p>
            <a:r>
              <a:rPr lang="en-US" dirty="0"/>
              <a:t>Masten, D. L., &amp; Plowman, T. M. (2003). Digital ethnography: The next wave in understanding the consumer experience. </a:t>
            </a:r>
            <a:r>
              <a:rPr lang="en-US" i="1" dirty="0"/>
              <a:t>Design Management Journal (Former Series)</a:t>
            </a:r>
            <a:r>
              <a:rPr lang="en-US" dirty="0"/>
              <a:t>, </a:t>
            </a:r>
            <a:r>
              <a:rPr lang="en-US" i="1" dirty="0"/>
              <a:t>14</a:t>
            </a:r>
            <a:r>
              <a:rPr lang="en-US" dirty="0"/>
              <a:t>(2), 75-81.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2674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3811-2DF6-4669-B49B-763BB3A3B6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Group Work – Online Ethnography (Light)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25FB2-FA4B-40C3-B506-A72BA4AE1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321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CC9AD-4EA1-41F2-A31A-665256C2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E9C9-ECFD-4BA6-A881-C5212B012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Amazon Alexa</a:t>
            </a:r>
          </a:p>
          <a:p>
            <a:pPr lvl="1"/>
            <a:r>
              <a:rPr lang="en-GB" b="0" i="0" u="none" strike="noStrike" dirty="0">
                <a:solidFill>
                  <a:srgbClr val="5B5FC7"/>
                </a:solidFill>
                <a:effectLst/>
                <a:latin typeface="Segoe UI" panose="020B0502040204020203" pitchFamily="34" charset="0"/>
                <a:hlinkClick r:id="rId2" tooltip="https://www.reddit.com/r/alexa/"/>
              </a:rPr>
              <a:t>https://www.reddit.com/r/alexa/</a:t>
            </a:r>
            <a:endParaRPr lang="en-US" dirty="0"/>
          </a:p>
          <a:p>
            <a:r>
              <a:rPr lang="en-US" dirty="0"/>
              <a:t>Google Home</a:t>
            </a:r>
          </a:p>
          <a:p>
            <a:pPr lvl="1"/>
            <a:r>
              <a:rPr lang="en-GB" b="0" i="0" u="none" strike="noStrike" dirty="0">
                <a:solidFill>
                  <a:srgbClr val="5B5FC7"/>
                </a:solidFill>
                <a:effectLst/>
                <a:latin typeface="Segoe UI" panose="020B0502040204020203" pitchFamily="34" charset="0"/>
                <a:hlinkClick r:id="rId3" tooltip="https://www.reddit.com/r/googlehome/"/>
              </a:rPr>
              <a:t>https://www.reddit.com/r/googlehome/</a:t>
            </a:r>
            <a:endParaRPr lang="en-US" dirty="0"/>
          </a:p>
          <a:p>
            <a:r>
              <a:rPr lang="en-US" dirty="0"/>
              <a:t>Smart Home</a:t>
            </a:r>
          </a:p>
          <a:p>
            <a:pPr lvl="1"/>
            <a:r>
              <a:rPr lang="en-GB" b="0" i="0" u="none" strike="noStrike" dirty="0">
                <a:solidFill>
                  <a:srgbClr val="5B5FC7"/>
                </a:solidFill>
                <a:effectLst/>
                <a:latin typeface="Segoe UI" panose="020B0502040204020203" pitchFamily="34" charset="0"/>
                <a:hlinkClick r:id="rId4" tooltip="https://www.reddit.com/r/smarthome/"/>
              </a:rPr>
              <a:t>https://www.reddit.com/r/smarthome/</a:t>
            </a:r>
            <a:endParaRPr lang="en-US" dirty="0"/>
          </a:p>
          <a:p>
            <a:r>
              <a:rPr lang="en-US" dirty="0"/>
              <a:t>Home Automation</a:t>
            </a:r>
          </a:p>
          <a:p>
            <a:pPr lvl="1"/>
            <a:r>
              <a:rPr lang="en-GB" b="0" i="0" u="sng" dirty="0">
                <a:solidFill>
                  <a:srgbClr val="5B5FC7"/>
                </a:solidFill>
                <a:effectLst/>
                <a:latin typeface="Segoe UI" panose="020B0502040204020203" pitchFamily="34" charset="0"/>
                <a:hlinkClick r:id="rId5" tooltip="https://www.reddit.com/r/homeautomation/"/>
              </a:rPr>
              <a:t>https://www.reddit.com/r/homeautomation/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9127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2AAD9-6CAB-4140-B93B-77698A9D9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Alexa</a:t>
            </a: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59E84D-1788-4A5F-9BBF-EAE190FA0D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928" y="1690688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5C8E5DA-0C70-4117-988E-797E7BBD2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226" y="1690688"/>
            <a:ext cx="442184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508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C345-0D3C-4F98-811C-8C8BEA1DA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r/</a:t>
            </a:r>
            <a:r>
              <a:rPr lang="en-US" dirty="0" err="1"/>
              <a:t>alexa</a:t>
            </a:r>
            <a:r>
              <a:rPr lang="en-US" dirty="0"/>
              <a:t> – “frustrating experience”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DDBF0-C2C0-4AD8-A8A0-5D8BBDB71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53856C-5C7C-4655-B1DE-7FEC6621B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43436"/>
            <a:ext cx="10515600" cy="521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06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F6A0-3F69-4E3C-B9C5-CF15F1D9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Home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9AC8B-F27F-4B5B-AE89-E2FA7F1F9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E1A704-36BA-4B27-B56C-BDA8C5E71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320" y="1690688"/>
            <a:ext cx="10363200" cy="51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48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98E83-B548-4B25-920A-8E1003A2B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r/</a:t>
            </a:r>
            <a:r>
              <a:rPr lang="en-US" dirty="0" err="1"/>
              <a:t>googlehome</a:t>
            </a:r>
            <a:r>
              <a:rPr lang="en-US" dirty="0"/>
              <a:t> – “she”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F1635-24CF-47C3-A5CA-B06785612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BF3AA9-FCB3-4737-9C15-901365FFE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78" y="1558040"/>
            <a:ext cx="10515600" cy="505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097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03168-D1BC-4A5E-A38D-0B5245D2E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SmartHome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D4244-19FB-4206-AEE3-786532898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AE1422-3898-49FB-9F05-DCAAB2006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88" y="1690688"/>
            <a:ext cx="12192000" cy="498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43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D89BD-B80E-49E8-AB87-3F96B8F42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r/</a:t>
            </a:r>
            <a:r>
              <a:rPr lang="en-US" dirty="0" err="1"/>
              <a:t>smarthome</a:t>
            </a:r>
            <a:r>
              <a:rPr lang="en-US" dirty="0"/>
              <a:t> –”dummies” &amp; “65+” devices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99268-A38C-4356-883C-64361AB6B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F83FDB-9642-4BFF-AB9C-C95FEAB6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628775"/>
            <a:ext cx="8382000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142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399BE-0879-4A10-AC11-E87BAA8E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Automation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EA79A-244B-4B42-8908-0224B7218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975EBF-0F2B-4924-A866-6B36D336C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44" y="1316478"/>
            <a:ext cx="10856112" cy="554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97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CBE06-BA77-4FA1-8476-04886284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42753" cy="2883913"/>
          </a:xfrm>
        </p:spPr>
        <p:txBody>
          <a:bodyPr>
            <a:normAutofit fontScale="90000"/>
          </a:bodyPr>
          <a:lstStyle/>
          <a:p>
            <a:r>
              <a:rPr lang="en-US" dirty="0"/>
              <a:t>r/</a:t>
            </a:r>
            <a:r>
              <a:rPr lang="en-US" dirty="0" err="1"/>
              <a:t>homeautomation</a:t>
            </a:r>
            <a:br>
              <a:rPr lang="en-US" dirty="0"/>
            </a:br>
            <a:r>
              <a:rPr lang="en-US" dirty="0"/>
              <a:t>--not a new machine but a hacked mechanical machine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F5D2C1-3DE4-42C4-9BC7-0436C9C6C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9020"/>
            <a:ext cx="5730099" cy="664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052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4D4C7-123F-4923-A24E-0C3645867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Work Activity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E75F2-3545-4B89-9288-DDCB2FAAF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AutoNum type="arabicParenR"/>
            </a:pPr>
            <a:r>
              <a:rPr lang="en-US" dirty="0"/>
              <a:t>Learn more about a domestic technology or a domestic technology community by conducting a focused online ethnography on Reddit 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Choose either r/</a:t>
            </a:r>
            <a:r>
              <a:rPr lang="en-US" dirty="0" err="1"/>
              <a:t>alexa</a:t>
            </a:r>
            <a:r>
              <a:rPr lang="en-US" dirty="0"/>
              <a:t>, r/</a:t>
            </a:r>
            <a:r>
              <a:rPr lang="en-US" dirty="0" err="1"/>
              <a:t>googlehome</a:t>
            </a:r>
            <a:r>
              <a:rPr lang="en-US" dirty="0"/>
              <a:t>, r/</a:t>
            </a:r>
            <a:r>
              <a:rPr lang="en-US" dirty="0" err="1"/>
              <a:t>smarthome</a:t>
            </a:r>
            <a:r>
              <a:rPr lang="en-US" dirty="0"/>
              <a:t>, r/</a:t>
            </a:r>
            <a:r>
              <a:rPr lang="en-US" dirty="0" err="1"/>
              <a:t>homeautomation</a:t>
            </a:r>
            <a:r>
              <a:rPr lang="en-US" dirty="0"/>
              <a:t> to </a:t>
            </a:r>
            <a:r>
              <a:rPr lang="en-US" dirty="0" err="1"/>
              <a:t>analyse</a:t>
            </a:r>
            <a:endParaRPr lang="en-US" dirty="0"/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Use three slides (e.g. pptx) to document interesting findings 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Nominate a group member to report (&lt; 3 mins) 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Upload your </a:t>
            </a:r>
            <a:r>
              <a:rPr lang="en-US" dirty="0" err="1"/>
              <a:t>slidedeck</a:t>
            </a:r>
            <a:r>
              <a:rPr lang="en-US" dirty="0"/>
              <a:t> to Teams&gt;General&gt;Files&gt;Class Activities&gt;Week 7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r>
              <a:rPr lang="en-GB" dirty="0"/>
              <a:t>Get ready to present!</a:t>
            </a:r>
          </a:p>
        </p:txBody>
      </p:sp>
    </p:spTree>
    <p:extLst>
      <p:ext uri="{BB962C8B-B14F-4D97-AF65-F5344CB8AC3E}">
        <p14:creationId xmlns:p14="http://schemas.microsoft.com/office/powerpoint/2010/main" val="1750829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87003BE9ECEA4F94D7C6688CFB6DB4" ma:contentTypeVersion="11" ma:contentTypeDescription="Create a new document." ma:contentTypeScope="" ma:versionID="3eda861764469e8966f2f363d7abf364">
  <xsd:schema xmlns:xsd="http://www.w3.org/2001/XMLSchema" xmlns:xs="http://www.w3.org/2001/XMLSchema" xmlns:p="http://schemas.microsoft.com/office/2006/metadata/properties" xmlns:ns2="a795dd7b-fd44-42a5-a049-a0c17ac41070" xmlns:ns3="fcf2330e-d694-46a5-9daf-2b725ce5ebb5" targetNamespace="http://schemas.microsoft.com/office/2006/metadata/properties" ma:root="true" ma:fieldsID="be0ae789d4d494b91de53ae9e6c4605f" ns2:_="" ns3:_="">
    <xsd:import namespace="a795dd7b-fd44-42a5-a049-a0c17ac41070"/>
    <xsd:import namespace="fcf2330e-d694-46a5-9daf-2b725ce5eb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95dd7b-fd44-42a5-a049-a0c17ac410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f2330e-d694-46a5-9daf-2b725ce5ebb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3f1e03c-9421-4877-b6e7-3e04a6047738}" ma:internalName="TaxCatchAll" ma:showField="CatchAllData" ma:web="fcf2330e-d694-46a5-9daf-2b725ce5eb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cf2330e-d694-46a5-9daf-2b725ce5ebb5" xsi:nil="true"/>
    <lcf76f155ced4ddcb4097134ff3c332f xmlns="a795dd7b-fd44-42a5-a049-a0c17ac4107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54362EB-80D7-48A9-9AFF-20B6495A24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95dd7b-fd44-42a5-a049-a0c17ac41070"/>
    <ds:schemaRef ds:uri="fcf2330e-d694-46a5-9daf-2b725ce5eb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0CFF13-D072-44ED-8AB7-148BC95F2B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8A616-06F5-4E93-B741-8D1665A1E924}">
  <ds:schemaRefs>
    <ds:schemaRef ds:uri="a795dd7b-fd44-42a5-a049-a0c17ac41070"/>
    <ds:schemaRef ds:uri="http://purl.org/dc/terms/"/>
    <ds:schemaRef ds:uri="http://www.w3.org/XML/1998/namespace"/>
    <ds:schemaRef ds:uri="fcf2330e-d694-46a5-9daf-2b725ce5ebb5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</Words>
  <Application>Microsoft Office PowerPoint</Application>
  <PresentationFormat>Widescreen</PresentationFormat>
  <Paragraphs>72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Segoe UI</vt:lpstr>
      <vt:lpstr>Office Theme</vt:lpstr>
      <vt:lpstr>HCI Theory – Applying Situated Action</vt:lpstr>
      <vt:lpstr>What is Situated Action</vt:lpstr>
      <vt:lpstr>Methods for Situated Action</vt:lpstr>
      <vt:lpstr>Ethnography</vt:lpstr>
      <vt:lpstr>Digital/Online Ethnography</vt:lpstr>
      <vt:lpstr>Group Work – Online Ethnography (Light)</vt:lpstr>
      <vt:lpstr>Case Studies</vt:lpstr>
      <vt:lpstr>Amazon Alexa</vt:lpstr>
      <vt:lpstr>r/alexa – “frustrating experience”</vt:lpstr>
      <vt:lpstr>Google Home</vt:lpstr>
      <vt:lpstr>r/googlehome – “she”</vt:lpstr>
      <vt:lpstr>SmartHome</vt:lpstr>
      <vt:lpstr>r/smarthome –”dummies” &amp; “65+” devices</vt:lpstr>
      <vt:lpstr>Home Automation</vt:lpstr>
      <vt:lpstr>r/homeautomation --not a new machine but a hacked mechanical machine</vt:lpstr>
      <vt:lpstr>Group Work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Aisling O'Kane</dc:creator>
  <cp:lastModifiedBy>Aisling O'Kane</cp:lastModifiedBy>
  <cp:revision>2</cp:revision>
  <dcterms:created xsi:type="dcterms:W3CDTF">2025-11-02T21:08:22Z</dcterms:created>
  <dcterms:modified xsi:type="dcterms:W3CDTF">2025-11-06T14:45:05Z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0x0101005287003BE9ECEA4F94D7C6688CFB6DB4</vt:lpwstr>
  </property>
  <property fmtid="{D5CDD505-2E9C-101B-9397-08002B2CF9AE}" pid="3" name="MediaServiceImageTags">
    <vt:lpwstr/>
  </property>
</Properties>
</file>