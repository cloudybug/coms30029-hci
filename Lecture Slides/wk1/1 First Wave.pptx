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304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65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3" r:id="rId50"/>
    <p:sldId id="305" r:id="rId51"/>
    <p:sldId id="302" r:id="rId5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78FD4E-9B35-50EC-5E63-FD38F68A2BE1}" v="2" dt="2025-12-08T21:21:36.4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78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a Prajapat" userId="S::wj23237@bristol.ac.uk::ff3d8a95-dcb7-461c-83e5-9bebe1eae0d1" providerId="AD" clId="Web-{C5F2CD3B-9125-7981-08E4-5D06656B1776}"/>
    <pc:docChg chg="addSld delSld">
      <pc:chgData name="Arshia Prajapat" userId="S::wj23237@bristol.ac.uk::ff3d8a95-dcb7-461c-83e5-9bebe1eae0d1" providerId="AD" clId="Web-{C5F2CD3B-9125-7981-08E4-5D06656B1776}" dt="2025-12-08T09:51:51.763" v="3"/>
      <pc:docMkLst>
        <pc:docMk/>
      </pc:docMkLst>
    </pc:docChg>
  </pc:docChgLst>
  <pc:docChgLst>
    <pc:chgData name="Chaitanya Khajuria" userId="S::ey23268@bristol.ac.uk::1ec079bb-94a5-4d07-b346-398c2a43ecdb" providerId="AD" clId="Web-{D578FD4E-9B35-50EC-5E63-FD38F68A2BE1}"/>
    <pc:docChg chg="modSld">
      <pc:chgData name="Chaitanya Khajuria" userId="S::ey23268@bristol.ac.uk::1ec079bb-94a5-4d07-b346-398c2a43ecdb" providerId="AD" clId="Web-{D578FD4E-9B35-50EC-5E63-FD38F68A2BE1}" dt="2025-12-08T21:21:36.467" v="1" actId="1076"/>
      <pc:docMkLst>
        <pc:docMk/>
      </pc:docMkLst>
      <pc:sldChg chg="modSp">
        <pc:chgData name="Chaitanya Khajuria" userId="S::ey23268@bristol.ac.uk::1ec079bb-94a5-4d07-b346-398c2a43ecdb" providerId="AD" clId="Web-{D578FD4E-9B35-50EC-5E63-FD38F68A2BE1}" dt="2025-12-08T21:21:36.467" v="1" actId="1076"/>
        <pc:sldMkLst>
          <pc:docMk/>
          <pc:sldMk cId="0" sldId="291"/>
        </pc:sldMkLst>
        <pc:picChg chg="mod">
          <ac:chgData name="Chaitanya Khajuria" userId="S::ey23268@bristol.ac.uk::1ec079bb-94a5-4d07-b346-398c2a43ecdb" providerId="AD" clId="Web-{D578FD4E-9B35-50EC-5E63-FD38F68A2BE1}" dt="2025-12-08T21:21:36.467" v="1" actId="1076"/>
          <ac:picMkLst>
            <pc:docMk/>
            <pc:sldMk cId="0" sldId="291"/>
            <ac:picMk id="8" creationId="{455694E5-C853-CA3B-9A81-1C1B8DD7E30F}"/>
          </ac:picMkLst>
        </pc:picChg>
      </pc:sldChg>
    </pc:docChg>
  </pc:docChgLst>
  <pc:docChgLst>
    <pc:chgData name="Milan Gorasia" userId="S::cu23816@bristol.ac.uk::5b177d83-a2a8-41e8-883f-224ad0d1e781" providerId="AD" clId="Web-{56046704-997F-4962-E60E-2E9B3A85B501}"/>
    <pc:docChg chg="modSld">
      <pc:chgData name="Milan Gorasia" userId="S::cu23816@bristol.ac.uk::5b177d83-a2a8-41e8-883f-224ad0d1e781" providerId="AD" clId="Web-{56046704-997F-4962-E60E-2E9B3A85B501}" dt="2025-12-06T12:18:23.593" v="5" actId="1076"/>
      <pc:docMkLst>
        <pc:docMk/>
      </pc:docMkLst>
      <pc:sldChg chg="modSp">
        <pc:chgData name="Milan Gorasia" userId="S::cu23816@bristol.ac.uk::5b177d83-a2a8-41e8-883f-224ad0d1e781" providerId="AD" clId="Web-{56046704-997F-4962-E60E-2E9B3A85B501}" dt="2025-12-06T12:18:23.593" v="5" actId="1076"/>
        <pc:sldMkLst>
          <pc:docMk/>
          <pc:sldMk cId="0" sldId="297"/>
        </pc:sldMkLst>
        <pc:spChg chg="mod">
          <ac:chgData name="Milan Gorasia" userId="S::cu23816@bristol.ac.uk::5b177d83-a2a8-41e8-883f-224ad0d1e781" providerId="AD" clId="Web-{56046704-997F-4962-E60E-2E9B3A85B501}" dt="2025-12-06T12:18:23.593" v="5" actId="1076"/>
          <ac:spMkLst>
            <pc:docMk/>
            <pc:sldMk cId="0" sldId="29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8550" y="554466"/>
            <a:ext cx="19066998" cy="1477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05677" y="2871714"/>
            <a:ext cx="16200119" cy="6811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immarco.com/fitt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timmarco.com/fitt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8389" y="8070614"/>
            <a:ext cx="591312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dirty="0">
                <a:latin typeface="Arial"/>
                <a:cs typeface="Arial"/>
              </a:rPr>
              <a:t>Oussama</a:t>
            </a:r>
            <a:r>
              <a:rPr sz="2950" spc="-2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Metatla</a:t>
            </a:r>
            <a:r>
              <a:rPr sz="2950" spc="-1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and</a:t>
            </a:r>
            <a:r>
              <a:rPr sz="2950" spc="-1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Dan</a:t>
            </a:r>
            <a:r>
              <a:rPr sz="2950" spc="-15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Bennett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2661" y="4409992"/>
            <a:ext cx="16832580" cy="14839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50" spc="-10" dirty="0">
                <a:solidFill>
                  <a:srgbClr val="000000"/>
                </a:solidFill>
              </a:rPr>
              <a:t>Human-</a:t>
            </a:r>
            <a:r>
              <a:rPr sz="9550" dirty="0">
                <a:solidFill>
                  <a:srgbClr val="000000"/>
                </a:solidFill>
              </a:rPr>
              <a:t>Computer</a:t>
            </a:r>
            <a:r>
              <a:rPr sz="9550" spc="-15" dirty="0">
                <a:solidFill>
                  <a:srgbClr val="000000"/>
                </a:solidFill>
              </a:rPr>
              <a:t> </a:t>
            </a:r>
            <a:r>
              <a:rPr sz="9550" spc="-10" dirty="0">
                <a:solidFill>
                  <a:srgbClr val="000000"/>
                </a:solidFill>
              </a:rPr>
              <a:t>Interaction</a:t>
            </a:r>
            <a:endParaRPr sz="9550" dirty="0"/>
          </a:p>
        </p:txBody>
      </p:sp>
      <p:sp>
        <p:nvSpPr>
          <p:cNvPr id="4" name="object 4"/>
          <p:cNvSpPr txBox="1"/>
          <p:nvPr/>
        </p:nvSpPr>
        <p:spPr>
          <a:xfrm>
            <a:off x="1023917" y="6241894"/>
            <a:ext cx="4665980" cy="151574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4500" b="1" spc="-10" dirty="0">
                <a:latin typeface="Arial"/>
                <a:cs typeface="Arial"/>
              </a:rPr>
              <a:t>COMS30029</a:t>
            </a:r>
            <a:endParaRPr sz="4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4500" dirty="0">
                <a:latin typeface="Arial"/>
                <a:cs typeface="Arial"/>
              </a:rPr>
              <a:t>aka</a:t>
            </a:r>
            <a:r>
              <a:rPr sz="4500" spc="10" dirty="0">
                <a:latin typeface="Arial"/>
                <a:cs typeface="Arial"/>
              </a:rPr>
              <a:t> </a:t>
            </a:r>
            <a:r>
              <a:rPr sz="4500" b="1" spc="-10" dirty="0">
                <a:solidFill>
                  <a:srgbClr val="FDAD00"/>
                </a:solidFill>
                <a:latin typeface="Arial"/>
                <a:cs typeface="Arial"/>
              </a:rPr>
              <a:t>#HCI_Theory</a:t>
            </a:r>
            <a:endParaRPr sz="4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69260" y="7803564"/>
            <a:ext cx="808545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0" b="1" dirty="0">
                <a:solidFill>
                  <a:srgbClr val="FDAD00"/>
                </a:solidFill>
                <a:latin typeface="Arial"/>
                <a:cs typeface="Arial"/>
              </a:rPr>
              <a:t>Week</a:t>
            </a:r>
            <a:r>
              <a:rPr sz="70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DAD00"/>
                </a:solidFill>
                <a:latin typeface="Arial"/>
                <a:cs typeface="Arial"/>
              </a:rPr>
              <a:t>2:</a:t>
            </a:r>
            <a:r>
              <a:rPr sz="70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DAD00"/>
                </a:solidFill>
                <a:latin typeface="Arial"/>
                <a:cs typeface="Arial"/>
              </a:rPr>
              <a:t>First</a:t>
            </a:r>
            <a:r>
              <a:rPr sz="70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7000" b="1" spc="-30" dirty="0">
                <a:solidFill>
                  <a:srgbClr val="FDAD00"/>
                </a:solidFill>
                <a:latin typeface="Arial"/>
                <a:cs typeface="Arial"/>
              </a:rPr>
              <a:t>Wave</a:t>
            </a:r>
            <a:endParaRPr sz="7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4326" y="8978993"/>
            <a:ext cx="6672580" cy="845819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2857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225"/>
              </a:spcBef>
              <a:tabLst>
                <a:tab pos="2903220" algn="l"/>
              </a:tabLst>
            </a:pP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Chunk</a:t>
            </a:r>
            <a:r>
              <a:rPr sz="495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950" b="1" spc="-1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FD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4201" y="1831327"/>
            <a:ext cx="8373745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50" dirty="0"/>
              <a:t>Week</a:t>
            </a:r>
            <a:r>
              <a:rPr sz="7250" spc="-100" dirty="0"/>
              <a:t> </a:t>
            </a:r>
            <a:r>
              <a:rPr sz="7250" dirty="0"/>
              <a:t>2:</a:t>
            </a:r>
            <a:r>
              <a:rPr sz="7250" spc="-114" dirty="0"/>
              <a:t> </a:t>
            </a:r>
            <a:r>
              <a:rPr sz="7250" dirty="0"/>
              <a:t>First</a:t>
            </a:r>
            <a:r>
              <a:rPr sz="7250" spc="-105" dirty="0"/>
              <a:t> </a:t>
            </a:r>
            <a:r>
              <a:rPr sz="7250" spc="-20" dirty="0"/>
              <a:t>Wave</a:t>
            </a:r>
            <a:endParaRPr sz="7250"/>
          </a:p>
        </p:txBody>
      </p:sp>
      <p:sp>
        <p:nvSpPr>
          <p:cNvPr id="4" name="object 4"/>
          <p:cNvSpPr txBox="1"/>
          <p:nvPr/>
        </p:nvSpPr>
        <p:spPr>
          <a:xfrm>
            <a:off x="3552531" y="5964458"/>
            <a:ext cx="13986510" cy="843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53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did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think</a:t>
            </a:r>
            <a:r>
              <a:rPr sz="53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5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early</a:t>
            </a:r>
            <a:r>
              <a:rPr sz="53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r>
              <a:rPr sz="5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5350" spc="-20" dirty="0">
                <a:solidFill>
                  <a:srgbClr val="FFFFFF"/>
                </a:solidFill>
                <a:latin typeface="Arial"/>
                <a:cs typeface="Arial"/>
              </a:rPr>
              <a:t> HCI?</a:t>
            </a:r>
            <a:endParaRPr sz="5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4647" y="3078440"/>
            <a:ext cx="6671309" cy="84581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794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220"/>
              </a:spcBef>
              <a:tabLst>
                <a:tab pos="290195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Chunk</a:t>
            </a:r>
            <a:r>
              <a:rPr sz="4950" b="1" spc="-1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1: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Introduction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383" y="647585"/>
            <a:ext cx="4769899" cy="195887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66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Reading</a:t>
            </a:r>
            <a:endParaRPr sz="64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760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Chapter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4:</a:t>
            </a:r>
            <a:endParaRPr sz="445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710" y="3102313"/>
            <a:ext cx="3676537" cy="45523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2842" y="8037945"/>
            <a:ext cx="4536440" cy="258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7094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212121"/>
                </a:solidFill>
                <a:latin typeface="Arial"/>
                <a:cs typeface="Arial"/>
              </a:rPr>
              <a:t>Rogers,</a:t>
            </a:r>
            <a:r>
              <a:rPr sz="2800" spc="-1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212121"/>
                </a:solidFill>
                <a:latin typeface="Arial"/>
                <a:cs typeface="Arial"/>
              </a:rPr>
              <a:t>Y.</a:t>
            </a:r>
            <a:r>
              <a:rPr sz="28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(2012).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r>
              <a:rPr sz="28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theory:</a:t>
            </a:r>
            <a:r>
              <a:rPr sz="2800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DAD00"/>
                </a:solidFill>
                <a:latin typeface="Arial"/>
                <a:cs typeface="Arial"/>
              </a:rPr>
              <a:t>classical,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modern,</a:t>
            </a:r>
            <a:r>
              <a:rPr sz="28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2800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DAD00"/>
                </a:solidFill>
                <a:latin typeface="Arial"/>
                <a:cs typeface="Arial"/>
              </a:rPr>
              <a:t>contemporary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.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Synthesis</a:t>
            </a:r>
            <a:r>
              <a:rPr sz="2800" i="1" spc="-1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lectures</a:t>
            </a:r>
            <a:r>
              <a:rPr sz="2800" i="1" spc="-114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solidFill>
                  <a:srgbClr val="212121"/>
                </a:solidFill>
                <a:latin typeface="Arial"/>
                <a:cs typeface="Arial"/>
              </a:rPr>
              <a:t>on </a:t>
            </a:r>
            <a:r>
              <a:rPr sz="2800" i="1" spc="-30" dirty="0">
                <a:solidFill>
                  <a:srgbClr val="212121"/>
                </a:solidFill>
                <a:latin typeface="Arial"/>
                <a:cs typeface="Arial"/>
              </a:rPr>
              <a:t>human-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centered</a:t>
            </a:r>
            <a:r>
              <a:rPr sz="2800" i="1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212121"/>
                </a:solidFill>
                <a:latin typeface="Arial"/>
                <a:cs typeface="Arial"/>
              </a:rPr>
              <a:t>informatics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,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5</a:t>
            </a:r>
            <a:r>
              <a:rPr sz="2800" dirty="0">
                <a:solidFill>
                  <a:srgbClr val="212121"/>
                </a:solidFill>
                <a:latin typeface="Arial"/>
                <a:cs typeface="Arial"/>
              </a:rPr>
              <a:t>(2),</a:t>
            </a:r>
            <a:r>
              <a:rPr sz="2800" spc="-5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212121"/>
                </a:solidFill>
                <a:latin typeface="Arial"/>
                <a:cs typeface="Arial"/>
              </a:rPr>
              <a:t>1-</a:t>
            </a:r>
            <a:r>
              <a:rPr sz="2800" spc="-20" dirty="0">
                <a:solidFill>
                  <a:srgbClr val="212121"/>
                </a:solidFill>
                <a:latin typeface="Arial"/>
                <a:cs typeface="Arial"/>
              </a:rPr>
              <a:t>129.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0223" y="2177523"/>
            <a:ext cx="9206230" cy="63119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 marL="213360">
              <a:lnSpc>
                <a:spcPts val="4935"/>
              </a:lnSpc>
            </a:pP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PLUS: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Choose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least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spc="-25" dirty="0">
                <a:solidFill>
                  <a:srgbClr val="FFFFFF"/>
                </a:solidFill>
                <a:latin typeface="Arial"/>
                <a:cs typeface="Arial"/>
              </a:rPr>
              <a:t>of…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5468332" y="3199261"/>
            <a:ext cx="13477142" cy="412792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 marR="2257425"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</a:rPr>
              <a:t>A more in-depth look at Fitts’ Law</a:t>
            </a:r>
          </a:p>
          <a:p>
            <a:pPr marL="1615440" marR="274955">
              <a:lnSpc>
                <a:spcPct val="100699"/>
              </a:lnSpc>
              <a:spcBef>
                <a:spcPts val="1190"/>
              </a:spcBef>
              <a:tabLst>
                <a:tab pos="8803640" algn="l"/>
              </a:tabLst>
            </a:pPr>
            <a:r>
              <a:rPr sz="2950" dirty="0">
                <a:solidFill>
                  <a:srgbClr val="7E7E7E"/>
                </a:solidFill>
              </a:rPr>
              <a:t>A nice interactive explanation of Fitts’ Law	and why it matters </a:t>
            </a:r>
            <a:r>
              <a:rPr sz="28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https://timmarco.com/fitts/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29"/>
              </a:spcBef>
            </a:pPr>
            <a:endParaRPr sz="2800" dirty="0">
              <a:latin typeface="Arial"/>
              <a:cs typeface="Arial"/>
            </a:endParaRPr>
          </a:p>
          <a:p>
            <a:pPr marL="12700" marR="2257425"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</a:rPr>
              <a:t>Meta theory: discussion of theory use in design</a:t>
            </a:r>
          </a:p>
          <a:p>
            <a:pPr marL="1661160" marR="5080">
              <a:lnSpc>
                <a:spcPct val="100400"/>
              </a:lnSpc>
              <a:spcBef>
                <a:spcPts val="1215"/>
              </a:spcBef>
            </a:pP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Beck</a:t>
            </a:r>
            <a:r>
              <a:rPr sz="2800" b="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&amp;</a:t>
            </a:r>
            <a:r>
              <a:rPr sz="2800" b="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Stolterman:</a:t>
            </a:r>
            <a:r>
              <a:rPr sz="2800" b="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Examining</a:t>
            </a:r>
            <a:r>
              <a:rPr sz="2800" b="0" i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Practical, Everyday Theory </a:t>
            </a:r>
            <a:r>
              <a:rPr sz="2800" b="0" i="1" spc="-25" dirty="0">
                <a:solidFill>
                  <a:srgbClr val="5E5E5E"/>
                </a:solidFill>
                <a:latin typeface="Arial"/>
                <a:cs typeface="Arial"/>
              </a:rPr>
              <a:t>Use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in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Design</a:t>
            </a:r>
            <a:r>
              <a:rPr sz="2800" b="0" i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Research</a:t>
            </a:r>
            <a:r>
              <a:rPr sz="2800" b="0" i="1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(2016)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–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in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reading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folder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5470" y="8110089"/>
            <a:ext cx="12258040" cy="211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57425">
              <a:lnSpc>
                <a:spcPct val="100000"/>
              </a:lnSpc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Seminal</a:t>
            </a:r>
            <a:r>
              <a:rPr sz="33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account</a:t>
            </a:r>
            <a:r>
              <a:rPr sz="33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330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why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should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move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20" dirty="0">
                <a:solidFill>
                  <a:srgbClr val="FDAD00"/>
                </a:solidFill>
                <a:latin typeface="Arial"/>
                <a:cs typeface="Arial"/>
              </a:rPr>
              <a:t>past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purely</a:t>
            </a:r>
            <a:r>
              <a:rPr sz="330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“hard”</a:t>
            </a:r>
            <a:r>
              <a:rPr sz="33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science</a:t>
            </a:r>
            <a:r>
              <a:rPr sz="33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FDAD00"/>
                </a:solidFill>
                <a:latin typeface="Arial"/>
                <a:cs typeface="Arial"/>
              </a:rPr>
              <a:t>perspectives</a:t>
            </a:r>
            <a:r>
              <a:rPr sz="3300" b="1" spc="-11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(tougher</a:t>
            </a:r>
            <a:r>
              <a:rPr sz="3300" b="1" spc="-1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FDAD00"/>
                </a:solidFill>
                <a:latin typeface="Arial"/>
                <a:cs typeface="Arial"/>
              </a:rPr>
              <a:t>read)</a:t>
            </a:r>
            <a:endParaRPr sz="3300" dirty="0">
              <a:latin typeface="Arial"/>
              <a:cs typeface="Arial"/>
            </a:endParaRPr>
          </a:p>
          <a:p>
            <a:pPr marL="1650364" marR="5080">
              <a:lnSpc>
                <a:spcPct val="100400"/>
              </a:lnSpc>
              <a:spcBef>
                <a:spcPts val="1400"/>
              </a:spcBef>
            </a:pP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Carroll</a:t>
            </a:r>
            <a:r>
              <a:rPr sz="295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&amp;</a:t>
            </a:r>
            <a:r>
              <a:rPr sz="2950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Campbell:</a:t>
            </a:r>
            <a:r>
              <a:rPr sz="29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Softening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Up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Hard</a:t>
            </a:r>
            <a:r>
              <a:rPr sz="2950" i="1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Science: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reply</a:t>
            </a:r>
            <a:r>
              <a:rPr sz="2950" i="1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to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spc="-10" dirty="0">
                <a:solidFill>
                  <a:srgbClr val="7E7E7E"/>
                </a:solidFill>
                <a:latin typeface="Arial"/>
                <a:cs typeface="Arial"/>
              </a:rPr>
              <a:t>Newell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Card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(1986)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–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in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reading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spc="-10" dirty="0">
                <a:solidFill>
                  <a:srgbClr val="7E7E7E"/>
                </a:solidFill>
                <a:latin typeface="Arial"/>
                <a:cs typeface="Arial"/>
              </a:rPr>
              <a:t>folder</a:t>
            </a:r>
            <a:endParaRPr sz="2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8264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30"/>
              </a:spcBef>
            </a:pPr>
            <a:r>
              <a:rPr sz="6400" dirty="0">
                <a:solidFill>
                  <a:srgbClr val="000000"/>
                </a:solidFill>
              </a:rPr>
              <a:t>First</a:t>
            </a:r>
            <a:r>
              <a:rPr sz="6400" spc="-10" dirty="0">
                <a:solidFill>
                  <a:srgbClr val="000000"/>
                </a:solidFill>
              </a:rPr>
              <a:t> </a:t>
            </a:r>
            <a:r>
              <a:rPr sz="6400" dirty="0">
                <a:solidFill>
                  <a:srgbClr val="000000"/>
                </a:solidFill>
              </a:rPr>
              <a:t>wave</a:t>
            </a:r>
            <a:r>
              <a:rPr sz="6400" spc="-10" dirty="0">
                <a:solidFill>
                  <a:srgbClr val="000000"/>
                </a:solidFill>
              </a:rPr>
              <a:t> </a:t>
            </a:r>
            <a:r>
              <a:rPr sz="6400" dirty="0">
                <a:solidFill>
                  <a:srgbClr val="000000"/>
                </a:solidFill>
              </a:rPr>
              <a:t>of</a:t>
            </a:r>
            <a:r>
              <a:rPr sz="6400" spc="-5" dirty="0">
                <a:solidFill>
                  <a:srgbClr val="000000"/>
                </a:solidFill>
              </a:rPr>
              <a:t> </a:t>
            </a:r>
            <a:r>
              <a:rPr sz="6400" spc="-25" dirty="0">
                <a:solidFill>
                  <a:srgbClr val="000000"/>
                </a:solidFill>
              </a:rPr>
              <a:t>HCI</a:t>
            </a:r>
            <a:endParaRPr sz="6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5"/>
              </a:spcBef>
              <a:buChar char="•"/>
              <a:tabLst>
                <a:tab pos="577850" algn="l"/>
              </a:tabLst>
            </a:pPr>
            <a:r>
              <a:rPr dirty="0"/>
              <a:t>1980s-</a:t>
            </a:r>
            <a:r>
              <a:rPr spc="-10" dirty="0"/>
              <a:t>1990s</a:t>
            </a: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pc="-10" dirty="0"/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  <a:tab pos="1834514" algn="l"/>
                <a:tab pos="2672715" algn="l"/>
                <a:tab pos="8225790" algn="l"/>
              </a:tabLst>
            </a:pPr>
            <a:r>
              <a:rPr spc="-25" dirty="0"/>
              <a:t>HCI</a:t>
            </a:r>
            <a:r>
              <a:rPr dirty="0"/>
              <a:t>	</a:t>
            </a:r>
            <a:r>
              <a:rPr spc="-25" dirty="0"/>
              <a:t>as</a:t>
            </a:r>
            <a:r>
              <a:rPr dirty="0"/>
              <a:t>	an</a:t>
            </a:r>
            <a:r>
              <a:rPr spc="-70" dirty="0"/>
              <a:t> </a:t>
            </a:r>
            <a:r>
              <a:rPr b="1" spc="-185" dirty="0">
                <a:solidFill>
                  <a:srgbClr val="D26900"/>
                </a:solidFill>
                <a:latin typeface="Arial"/>
                <a:cs typeface="Arial"/>
              </a:rPr>
              <a:t>applied</a:t>
            </a:r>
            <a:r>
              <a:rPr b="1" spc="-70" dirty="0">
                <a:solidFill>
                  <a:srgbClr val="D2690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D26900"/>
                </a:solidFill>
                <a:latin typeface="Arial"/>
                <a:cs typeface="Arial"/>
              </a:rPr>
              <a:t>science</a:t>
            </a:r>
            <a:r>
              <a:rPr spc="-10" dirty="0"/>
              <a:t>,</a:t>
            </a:r>
            <a:r>
              <a:rPr dirty="0"/>
              <a:t>	grounded</a:t>
            </a:r>
            <a:r>
              <a:rPr spc="-75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b="1" spc="-125" dirty="0">
                <a:solidFill>
                  <a:srgbClr val="D26900"/>
                </a:solidFill>
                <a:latin typeface="Arial"/>
                <a:cs typeface="Arial"/>
              </a:rPr>
              <a:t>lab</a:t>
            </a:r>
            <a:r>
              <a:rPr b="1" spc="-90" dirty="0">
                <a:solidFill>
                  <a:srgbClr val="D26900"/>
                </a:solidFill>
                <a:latin typeface="Arial"/>
                <a:cs typeface="Arial"/>
              </a:rPr>
              <a:t> </a:t>
            </a:r>
            <a:r>
              <a:rPr b="1" spc="-60" dirty="0">
                <a:solidFill>
                  <a:srgbClr val="D26900"/>
                </a:solidFill>
                <a:latin typeface="Arial"/>
                <a:cs typeface="Arial"/>
              </a:rPr>
              <a:t>research</a:t>
            </a:r>
          </a:p>
          <a:p>
            <a:pPr>
              <a:lnSpc>
                <a:spcPct val="100000"/>
              </a:lnSpc>
              <a:spcBef>
                <a:spcPts val="245"/>
              </a:spcBef>
              <a:buFont typeface="Arial"/>
              <a:buChar char="•"/>
            </a:pPr>
            <a:endParaRPr b="1" spc="-60" dirty="0">
              <a:solidFill>
                <a:srgbClr val="D26900"/>
              </a:solidFill>
              <a:latin typeface="Arial"/>
              <a:cs typeface="Arial"/>
            </a:endParaRPr>
          </a:p>
          <a:p>
            <a:pPr marL="577850" marR="704215" indent="-565785">
              <a:lnSpc>
                <a:spcPct val="100000"/>
              </a:lnSpc>
              <a:buChar char="•"/>
              <a:tabLst>
                <a:tab pos="577850" algn="l"/>
                <a:tab pos="11577955" algn="l"/>
                <a:tab pos="13009244" algn="l"/>
              </a:tabLst>
            </a:pPr>
            <a:r>
              <a:rPr dirty="0"/>
              <a:t>An</a:t>
            </a:r>
            <a:r>
              <a:rPr spc="10" dirty="0"/>
              <a:t> </a:t>
            </a:r>
            <a:r>
              <a:rPr b="1" spc="-280" dirty="0">
                <a:solidFill>
                  <a:srgbClr val="D26900"/>
                </a:solidFill>
                <a:latin typeface="Arial"/>
                <a:cs typeface="Arial"/>
              </a:rPr>
              <a:t>information</a:t>
            </a:r>
            <a:r>
              <a:rPr b="1" spc="10" dirty="0">
                <a:solidFill>
                  <a:srgbClr val="D26900"/>
                </a:solidFill>
                <a:latin typeface="Arial"/>
                <a:cs typeface="Arial"/>
              </a:rPr>
              <a:t> </a:t>
            </a:r>
            <a:r>
              <a:rPr b="1" spc="-270" dirty="0">
                <a:solidFill>
                  <a:srgbClr val="D26900"/>
                </a:solidFill>
                <a:latin typeface="Arial"/>
                <a:cs typeface="Arial"/>
              </a:rPr>
              <a:t>processing</a:t>
            </a:r>
            <a:r>
              <a:rPr b="1" spc="25" dirty="0">
                <a:solidFill>
                  <a:srgbClr val="D26900"/>
                </a:solidFill>
                <a:latin typeface="Arial"/>
                <a:cs typeface="Arial"/>
              </a:rPr>
              <a:t> </a:t>
            </a:r>
            <a:r>
              <a:rPr spc="-10" dirty="0"/>
              <a:t>perspective,</a:t>
            </a:r>
            <a:r>
              <a:rPr dirty="0"/>
              <a:t>	</a:t>
            </a:r>
            <a:r>
              <a:rPr spc="-20" dirty="0"/>
              <a:t>from</a:t>
            </a:r>
            <a:r>
              <a:rPr dirty="0"/>
              <a:t>	</a:t>
            </a:r>
            <a:r>
              <a:rPr spc="-10" dirty="0"/>
              <a:t>cognitive psychology</a:t>
            </a:r>
          </a:p>
          <a:p>
            <a:pPr>
              <a:lnSpc>
                <a:spcPct val="100000"/>
              </a:lnSpc>
              <a:spcBef>
                <a:spcPts val="235"/>
              </a:spcBef>
              <a:buFont typeface="Arial"/>
              <a:buChar char="•"/>
            </a:pPr>
            <a:endParaRPr spc="-10" dirty="0"/>
          </a:p>
          <a:p>
            <a:pPr marL="577850" marR="5080" indent="-565785">
              <a:lnSpc>
                <a:spcPct val="100000"/>
              </a:lnSpc>
              <a:buFont typeface="Arial"/>
              <a:buChar char="•"/>
              <a:tabLst>
                <a:tab pos="577850" algn="l"/>
              </a:tabLst>
            </a:pPr>
            <a:r>
              <a:rPr b="1" spc="-225" dirty="0">
                <a:latin typeface="Arial"/>
                <a:cs typeface="Arial"/>
              </a:rPr>
              <a:t>Still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spc="-235" dirty="0">
                <a:latin typeface="Arial"/>
                <a:cs typeface="Arial"/>
              </a:rPr>
              <a:t>influential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spc="-215" dirty="0">
                <a:latin typeface="Arial"/>
                <a:cs typeface="Arial"/>
              </a:rPr>
              <a:t>today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(though</a:t>
            </a:r>
            <a:r>
              <a:rPr spc="-65" dirty="0"/>
              <a:t> </a:t>
            </a:r>
            <a:r>
              <a:rPr dirty="0"/>
              <a:t>often</a:t>
            </a:r>
            <a:r>
              <a:rPr spc="-65" dirty="0"/>
              <a:t> </a:t>
            </a:r>
            <a:r>
              <a:rPr dirty="0"/>
              <a:t>using</a:t>
            </a:r>
            <a:r>
              <a:rPr spc="-65" dirty="0"/>
              <a:t> </a:t>
            </a:r>
            <a:r>
              <a:rPr dirty="0"/>
              <a:t>more</a:t>
            </a:r>
            <a:r>
              <a:rPr spc="-65" dirty="0"/>
              <a:t> </a:t>
            </a:r>
            <a:r>
              <a:rPr spc="-10" dirty="0"/>
              <a:t>advanced models)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0156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135"/>
              </a:spcBef>
            </a:pPr>
            <a:r>
              <a:rPr sz="5900" dirty="0">
                <a:solidFill>
                  <a:srgbClr val="000000"/>
                </a:solidFill>
              </a:rPr>
              <a:t>Broad</a:t>
            </a:r>
            <a:r>
              <a:rPr sz="5900" spc="5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theoretical</a:t>
            </a:r>
            <a:r>
              <a:rPr sz="5900" spc="-25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approaches</a:t>
            </a:r>
            <a:r>
              <a:rPr sz="5900" spc="-10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in</a:t>
            </a:r>
            <a:r>
              <a:rPr sz="5900" spc="5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the</a:t>
            </a:r>
            <a:r>
              <a:rPr sz="5900" spc="5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first</a:t>
            </a:r>
            <a:r>
              <a:rPr sz="5900" spc="25" dirty="0">
                <a:solidFill>
                  <a:srgbClr val="000000"/>
                </a:solidFill>
              </a:rPr>
              <a:t> </a:t>
            </a:r>
            <a:r>
              <a:rPr sz="5900" spc="-25" dirty="0">
                <a:solidFill>
                  <a:srgbClr val="000000"/>
                </a:solidFill>
              </a:rPr>
              <a:t>era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1646935" y="2396545"/>
            <a:ext cx="16429990" cy="79463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1010285">
              <a:lnSpc>
                <a:spcPct val="100600"/>
              </a:lnSpc>
              <a:spcBef>
                <a:spcPts val="60"/>
              </a:spcBef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Paradigm:</a:t>
            </a:r>
            <a:r>
              <a:rPr sz="4950" b="1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Scientific,</a:t>
            </a:r>
            <a:r>
              <a:rPr sz="395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grounded</a:t>
            </a:r>
            <a:r>
              <a:rPr sz="395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95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lab</a:t>
            </a:r>
            <a:r>
              <a:rPr sz="395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based</a:t>
            </a:r>
            <a:r>
              <a:rPr sz="3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cognitive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psychology.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Computational,</a:t>
            </a:r>
            <a:r>
              <a:rPr sz="3950" spc="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centralized,</a:t>
            </a:r>
            <a:r>
              <a:rPr sz="3950" spc="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symbol</a:t>
            </a:r>
            <a:r>
              <a:rPr sz="3950" spc="-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processing</a:t>
            </a:r>
            <a:r>
              <a:rPr sz="395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view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Goal:</a:t>
            </a:r>
            <a:r>
              <a:rPr sz="495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do</a:t>
            </a:r>
            <a:r>
              <a:rPr sz="3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individuals</a:t>
            </a:r>
            <a:r>
              <a:rPr sz="3950" i="1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make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use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computational</a:t>
            </a:r>
            <a:r>
              <a:rPr sz="3950" spc="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technologies,</a:t>
            </a:r>
            <a:r>
              <a:rPr sz="395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25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3950" i="1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can</a:t>
            </a:r>
            <a:r>
              <a:rPr sz="3950" i="1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technologies</a:t>
            </a:r>
            <a:r>
              <a:rPr sz="3950" i="1" spc="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be</a:t>
            </a:r>
            <a:r>
              <a:rPr sz="3950" i="1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designed</a:t>
            </a:r>
            <a:r>
              <a:rPr sz="3950" i="1" spc="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950" i="1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be</a:t>
            </a:r>
            <a:r>
              <a:rPr sz="3950" i="1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more</a:t>
            </a:r>
            <a:r>
              <a:rPr sz="3950" i="1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usable,</a:t>
            </a:r>
            <a:r>
              <a:rPr sz="3950" i="1" spc="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3950" i="1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spc="-10" dirty="0">
                <a:solidFill>
                  <a:srgbClr val="2E2E2E"/>
                </a:solidFill>
                <a:latin typeface="Arial"/>
                <a:cs typeface="Arial"/>
              </a:rPr>
              <a:t>useful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Main</a:t>
            </a:r>
            <a:r>
              <a:rPr sz="4950" b="1" spc="-3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Approaches</a:t>
            </a:r>
            <a:r>
              <a:rPr sz="4950" b="1" spc="-1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4950" b="1" spc="-1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Theory:</a:t>
            </a:r>
            <a:endParaRPr sz="4950" dirty="0">
              <a:latin typeface="Arial"/>
              <a:cs typeface="Arial"/>
            </a:endParaRPr>
          </a:p>
          <a:p>
            <a:pPr marL="431800" indent="-421005">
              <a:lnSpc>
                <a:spcPct val="100000"/>
              </a:lnSpc>
              <a:spcBef>
                <a:spcPts val="40"/>
              </a:spcBef>
              <a:buSzPct val="97468"/>
              <a:buAutoNum type="arabicPeriod"/>
              <a:tabLst>
                <a:tab pos="431800" algn="l"/>
              </a:tabLst>
            </a:pP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Using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Isolated</a:t>
            </a:r>
            <a:r>
              <a:rPr sz="395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Ideas</a:t>
            </a:r>
            <a:r>
              <a:rPr sz="3950" spc="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from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basic</a:t>
            </a:r>
            <a:r>
              <a:rPr sz="39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science</a:t>
            </a:r>
            <a:r>
              <a:rPr sz="39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disciplines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2E2E2E"/>
              </a:buClr>
              <a:buFont typeface="Arial"/>
              <a:buAutoNum type="arabicPeriod"/>
            </a:pPr>
            <a:endParaRPr sz="3950" dirty="0">
              <a:latin typeface="Arial"/>
              <a:cs typeface="Arial"/>
            </a:endParaRPr>
          </a:p>
          <a:p>
            <a:pPr marL="431165" indent="-421005">
              <a:lnSpc>
                <a:spcPct val="100000"/>
              </a:lnSpc>
              <a:buSzPct val="97468"/>
              <a:buAutoNum type="arabicPeriod"/>
              <a:tabLst>
                <a:tab pos="431165" algn="l"/>
              </a:tabLst>
            </a:pP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Applying</a:t>
            </a:r>
            <a:r>
              <a:rPr sz="39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theories</a:t>
            </a:r>
            <a:r>
              <a:rPr sz="395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from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basic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science</a:t>
            </a:r>
            <a:r>
              <a:rPr sz="39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disciplines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2E2E2E"/>
              </a:buClr>
              <a:buFont typeface="Arial"/>
              <a:buAutoNum type="arabicPeriod"/>
            </a:pPr>
            <a:endParaRPr sz="3950" dirty="0">
              <a:latin typeface="Arial"/>
              <a:cs typeface="Arial"/>
            </a:endParaRPr>
          </a:p>
          <a:p>
            <a:pPr marL="431800" indent="-421005">
              <a:lnSpc>
                <a:spcPct val="100000"/>
              </a:lnSpc>
              <a:buSzPct val="97468"/>
              <a:buAutoNum type="arabicPeriod"/>
              <a:tabLst>
                <a:tab pos="431800" algn="l"/>
              </a:tabLst>
            </a:pP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Developing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new</a:t>
            </a:r>
            <a:r>
              <a:rPr sz="395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HCI-specific</a:t>
            </a:r>
            <a:r>
              <a:rPr sz="395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theory,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grounded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95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lab</a:t>
            </a:r>
            <a:r>
              <a:rPr sz="3950" spc="-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science</a:t>
            </a:r>
            <a:r>
              <a:rPr sz="395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disciplines</a:t>
            </a:r>
            <a:endParaRPr sz="39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324" y="644064"/>
            <a:ext cx="17660620" cy="77279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30"/>
              </a:lnSpc>
            </a:pP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54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54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Isolated</a:t>
            </a:r>
            <a:r>
              <a:rPr sz="54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Ideas</a:t>
            </a:r>
            <a:r>
              <a:rPr sz="54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54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basic</a:t>
            </a:r>
            <a:r>
              <a:rPr sz="54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r>
              <a:rPr sz="54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5450" b="1" spc="-1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sz="545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654" y="2764842"/>
            <a:ext cx="8085490" cy="4099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19216" y="2514343"/>
            <a:ext cx="14281785" cy="7679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00" indent="-282575">
              <a:lnSpc>
                <a:spcPct val="100000"/>
              </a:lnSpc>
              <a:spcBef>
                <a:spcPts val="90"/>
              </a:spcBef>
              <a:buChar char="•"/>
              <a:tabLst>
                <a:tab pos="6350000" algn="l"/>
              </a:tabLst>
            </a:pPr>
            <a:r>
              <a:rPr sz="5450" spc="-20" dirty="0">
                <a:solidFill>
                  <a:srgbClr val="5E5E5E"/>
                </a:solidFill>
                <a:latin typeface="Arial"/>
                <a:cs typeface="Arial"/>
              </a:rPr>
              <a:t>5-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9</a:t>
            </a:r>
            <a:r>
              <a:rPr sz="5450" spc="-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top</a:t>
            </a:r>
            <a:r>
              <a:rPr sz="5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5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menu</a:t>
            </a:r>
            <a:r>
              <a:rPr sz="5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items?</a:t>
            </a:r>
            <a:endParaRPr sz="5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5E5E5E"/>
              </a:buClr>
              <a:buFont typeface="Arial"/>
              <a:buChar char="•"/>
            </a:pPr>
            <a:endParaRPr sz="5450" dirty="0">
              <a:latin typeface="Arial"/>
              <a:cs typeface="Arial"/>
            </a:endParaRPr>
          </a:p>
          <a:p>
            <a:pPr marL="6350000" indent="-282575">
              <a:lnSpc>
                <a:spcPct val="100000"/>
              </a:lnSpc>
              <a:spcBef>
                <a:spcPts val="5"/>
              </a:spcBef>
              <a:buChar char="•"/>
              <a:tabLst>
                <a:tab pos="6350000" algn="l"/>
              </a:tabLst>
            </a:pP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5-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9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function</a:t>
            </a:r>
            <a:r>
              <a:rPr sz="54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types?</a:t>
            </a:r>
            <a:endParaRPr sz="5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5E5E5E"/>
              </a:buClr>
              <a:buFont typeface="Arial"/>
              <a:buChar char="•"/>
            </a:pPr>
            <a:endParaRPr sz="5450" dirty="0">
              <a:latin typeface="Arial"/>
              <a:cs typeface="Arial"/>
            </a:endParaRPr>
          </a:p>
          <a:p>
            <a:pPr marL="6350000" indent="-282575">
              <a:lnSpc>
                <a:spcPct val="100000"/>
              </a:lnSpc>
              <a:spcBef>
                <a:spcPts val="5"/>
              </a:spcBef>
              <a:buChar char="•"/>
              <a:tabLst>
                <a:tab pos="6350000" algn="l"/>
              </a:tabLst>
            </a:pP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5-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9</a:t>
            </a:r>
            <a:r>
              <a:rPr sz="5450" spc="-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colours</a:t>
            </a:r>
            <a:r>
              <a:rPr sz="5450" spc="-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on</a:t>
            </a:r>
            <a:r>
              <a:rPr sz="5450" spc="-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screen?</a:t>
            </a:r>
            <a:endParaRPr sz="5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5450" dirty="0">
              <a:latin typeface="Arial"/>
              <a:cs typeface="Arial"/>
            </a:endParaRPr>
          </a:p>
          <a:p>
            <a:pPr marL="954405" indent="-941705">
              <a:lnSpc>
                <a:spcPts val="6534"/>
              </a:lnSpc>
              <a:buFont typeface="Arial"/>
              <a:buChar char="•"/>
              <a:tabLst>
                <a:tab pos="954405" algn="l"/>
                <a:tab pos="3606165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Easy</a:t>
            </a:r>
            <a:r>
              <a:rPr sz="545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25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remember</a:t>
            </a:r>
            <a:endParaRPr sz="5450" dirty="0">
              <a:latin typeface="Arial"/>
              <a:cs typeface="Arial"/>
            </a:endParaRPr>
          </a:p>
          <a:p>
            <a:pPr marL="954405" indent="-941705">
              <a:lnSpc>
                <a:spcPts val="6530"/>
              </a:lnSpc>
              <a:buFont typeface="Arial"/>
              <a:buChar char="•"/>
              <a:tabLst>
                <a:tab pos="954405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Lacks</a:t>
            </a:r>
            <a:r>
              <a:rPr sz="5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detail</a:t>
            </a:r>
            <a:r>
              <a:rPr sz="5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 discrimination</a:t>
            </a:r>
            <a:endParaRPr sz="5450" dirty="0">
              <a:latin typeface="Arial"/>
              <a:cs typeface="Arial"/>
            </a:endParaRPr>
          </a:p>
          <a:p>
            <a:pPr marL="954405" indent="-941705">
              <a:lnSpc>
                <a:spcPts val="6534"/>
              </a:lnSpc>
              <a:buFont typeface="Arial"/>
              <a:buChar char="•"/>
              <a:tabLst>
                <a:tab pos="954405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Not</a:t>
            </a:r>
            <a:r>
              <a:rPr sz="545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clear</a:t>
            </a:r>
            <a:r>
              <a:rPr sz="5450" b="1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how</a:t>
            </a:r>
            <a:r>
              <a:rPr sz="545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545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develop</a:t>
            </a:r>
            <a:r>
              <a:rPr sz="545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endParaRPr sz="54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0717" y="2686410"/>
            <a:ext cx="5406746" cy="71042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31324" y="644064"/>
            <a:ext cx="17647920" cy="772795"/>
          </a:xfrm>
          <a:custGeom>
            <a:avLst/>
            <a:gdLst/>
            <a:ahLst/>
            <a:cxnLst/>
            <a:rect l="l" t="t" r="r" b="b"/>
            <a:pathLst>
              <a:path w="17647920" h="772794">
                <a:moveTo>
                  <a:pt x="17647630" y="0"/>
                </a:moveTo>
                <a:lnTo>
                  <a:pt x="0" y="0"/>
                </a:lnTo>
                <a:lnTo>
                  <a:pt x="0" y="772751"/>
                </a:lnTo>
                <a:lnTo>
                  <a:pt x="17647630" y="772751"/>
                </a:lnTo>
                <a:lnTo>
                  <a:pt x="17647630" y="0"/>
                </a:lnTo>
                <a:close/>
              </a:path>
            </a:pathLst>
          </a:custGeom>
          <a:solidFill>
            <a:srgbClr val="FD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1.</a:t>
            </a:r>
            <a:r>
              <a:rPr spc="-6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Isolated</a:t>
            </a:r>
            <a:r>
              <a:rPr spc="-25" dirty="0"/>
              <a:t> </a:t>
            </a:r>
            <a:r>
              <a:rPr dirty="0"/>
              <a:t>Ideas</a:t>
            </a:r>
            <a:r>
              <a:rPr spc="-30" dirty="0"/>
              <a:t> </a:t>
            </a:r>
            <a:r>
              <a:rPr dirty="0"/>
              <a:t>from</a:t>
            </a:r>
            <a:r>
              <a:rPr spc="-55" dirty="0"/>
              <a:t> </a:t>
            </a:r>
            <a:r>
              <a:rPr dirty="0"/>
              <a:t>basic</a:t>
            </a:r>
            <a:r>
              <a:rPr spc="-45" dirty="0"/>
              <a:t> </a:t>
            </a:r>
            <a:r>
              <a:rPr dirty="0"/>
              <a:t>science</a:t>
            </a:r>
            <a:r>
              <a:rPr spc="-25" dirty="0"/>
              <a:t> </a:t>
            </a:r>
            <a:r>
              <a:rPr spc="-10" dirty="0"/>
              <a:t>disciplines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324" y="647833"/>
            <a:ext cx="18291175" cy="84328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65"/>
              </a:lnSpc>
            </a:pPr>
            <a:r>
              <a:rPr sz="5900" dirty="0"/>
              <a:t>2.</a:t>
            </a:r>
            <a:r>
              <a:rPr sz="5900" spc="-229" dirty="0"/>
              <a:t> </a:t>
            </a:r>
            <a:r>
              <a:rPr sz="5900" dirty="0"/>
              <a:t>Applying theories from basic</a:t>
            </a:r>
            <a:r>
              <a:rPr sz="5900" spc="-20" dirty="0"/>
              <a:t> </a:t>
            </a:r>
            <a:r>
              <a:rPr sz="5900" dirty="0"/>
              <a:t>science</a:t>
            </a:r>
            <a:r>
              <a:rPr sz="5900" spc="-30" dirty="0"/>
              <a:t> </a:t>
            </a:r>
            <a:r>
              <a:rPr sz="5900" spc="-10" dirty="0"/>
              <a:t>disciplines</a:t>
            </a:r>
            <a:endParaRPr sz="5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822" y="3457905"/>
            <a:ext cx="7732539" cy="49430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56858" y="2751404"/>
            <a:ext cx="16302990" cy="80899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7315200" marR="1405255">
              <a:lnSpc>
                <a:spcPts val="6530"/>
              </a:lnSpc>
              <a:spcBef>
                <a:spcPts val="315"/>
              </a:spcBef>
              <a:tabLst>
                <a:tab pos="9313545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Paired</a:t>
            </a:r>
            <a:r>
              <a:rPr sz="545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associate</a:t>
            </a:r>
            <a:r>
              <a:rPr sz="545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FDAD00"/>
                </a:solidFill>
                <a:latin typeface="Arial"/>
                <a:cs typeface="Arial"/>
              </a:rPr>
              <a:t>theory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used</a:t>
            </a:r>
            <a:r>
              <a:rPr sz="5450" spc="-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understand</a:t>
            </a:r>
            <a:r>
              <a:rPr sz="5450" spc="-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how</a:t>
            </a:r>
            <a:r>
              <a:rPr sz="5450" spc="-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25" dirty="0">
                <a:solidFill>
                  <a:srgbClr val="5E5E5E"/>
                </a:solidFill>
                <a:latin typeface="Arial"/>
                <a:cs typeface="Arial"/>
              </a:rPr>
              <a:t>to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select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	command</a:t>
            </a:r>
            <a:r>
              <a:rPr sz="5450" spc="-4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names:</a:t>
            </a: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450">
              <a:latin typeface="Arial"/>
              <a:cs typeface="Arial"/>
            </a:endParaRPr>
          </a:p>
          <a:p>
            <a:pPr marL="7315200" marR="5080">
              <a:lnSpc>
                <a:spcPct val="100000"/>
              </a:lnSpc>
              <a:tabLst>
                <a:tab pos="1244854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Command</a:t>
            </a:r>
            <a:r>
              <a:rPr sz="4950" spc="-2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spc="-20" dirty="0">
                <a:solidFill>
                  <a:srgbClr val="5E5E5E"/>
                </a:solidFill>
                <a:latin typeface="Arial"/>
                <a:cs typeface="Arial"/>
              </a:rPr>
              <a:t>names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	should</a:t>
            </a:r>
            <a:r>
              <a:rPr sz="49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spc="-25" dirty="0">
                <a:solidFill>
                  <a:srgbClr val="5E5E5E"/>
                </a:solidFill>
                <a:latin typeface="Arial"/>
                <a:cs typeface="Arial"/>
              </a:rPr>
              <a:t>be </a:t>
            </a:r>
            <a:r>
              <a:rPr sz="4950" b="1" dirty="0">
                <a:solidFill>
                  <a:srgbClr val="5E5E5E"/>
                </a:solidFill>
                <a:latin typeface="Arial"/>
                <a:cs typeface="Arial"/>
              </a:rPr>
              <a:t>familiar</a:t>
            </a:r>
            <a:r>
              <a:rPr sz="49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4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have</a:t>
            </a:r>
            <a:r>
              <a:rPr sz="4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some</a:t>
            </a:r>
            <a:r>
              <a:rPr sz="49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5E5E5E"/>
                </a:solidFill>
                <a:latin typeface="Arial"/>
                <a:cs typeface="Arial"/>
              </a:rPr>
              <a:t>natural </a:t>
            </a:r>
            <a:r>
              <a:rPr sz="4950" b="1" dirty="0">
                <a:solidFill>
                  <a:srgbClr val="5E5E5E"/>
                </a:solidFill>
                <a:latin typeface="Arial"/>
                <a:cs typeface="Arial"/>
              </a:rPr>
              <a:t>link</a:t>
            </a:r>
            <a:r>
              <a:rPr sz="4950" b="1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invoked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process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35"/>
              </a:spcBef>
            </a:pPr>
            <a:endParaRPr sz="4950">
              <a:latin typeface="Arial"/>
              <a:cs typeface="Arial"/>
            </a:endParaRPr>
          </a:p>
          <a:p>
            <a:pPr marL="12700" marR="1492250">
              <a:lnSpc>
                <a:spcPct val="117300"/>
              </a:lnSpc>
            </a:pP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approach</a:t>
            </a:r>
            <a:r>
              <a:rPr sz="3950" b="1" spc="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is</a:t>
            </a:r>
            <a:r>
              <a:rPr sz="39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specific</a:t>
            </a:r>
            <a:r>
              <a:rPr sz="3950" b="1" spc="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allows</a:t>
            </a:r>
            <a:r>
              <a:rPr sz="3950" b="1" spc="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us</a:t>
            </a:r>
            <a:r>
              <a:rPr sz="39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3950" b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refine</a:t>
            </a:r>
            <a:r>
              <a:rPr sz="3950" b="1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our</a:t>
            </a:r>
            <a:r>
              <a:rPr sz="3950" b="1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approach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by</a:t>
            </a:r>
            <a:r>
              <a:rPr sz="39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reference</a:t>
            </a:r>
            <a:r>
              <a:rPr sz="3950" b="1" spc="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3950" b="1" spc="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theory</a:t>
            </a:r>
            <a:endParaRPr sz="3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324" y="647833"/>
            <a:ext cx="18291175" cy="84328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65"/>
              </a:lnSpc>
            </a:pPr>
            <a:r>
              <a:rPr sz="5900" dirty="0"/>
              <a:t>2.</a:t>
            </a:r>
            <a:r>
              <a:rPr sz="5900" spc="-229" dirty="0"/>
              <a:t> </a:t>
            </a:r>
            <a:r>
              <a:rPr sz="5900" dirty="0"/>
              <a:t>Applying theories from basic</a:t>
            </a:r>
            <a:r>
              <a:rPr sz="5900" spc="-20" dirty="0"/>
              <a:t> </a:t>
            </a:r>
            <a:r>
              <a:rPr sz="5900" dirty="0"/>
              <a:t>science</a:t>
            </a:r>
            <a:r>
              <a:rPr sz="5900" spc="-30" dirty="0"/>
              <a:t> </a:t>
            </a:r>
            <a:r>
              <a:rPr sz="5900" spc="-10" dirty="0"/>
              <a:t>disciplines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794479" y="2751404"/>
            <a:ext cx="7599680" cy="854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Paired</a:t>
            </a:r>
            <a:r>
              <a:rPr sz="545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associate</a:t>
            </a:r>
            <a:r>
              <a:rPr sz="545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FDAD00"/>
                </a:solidFill>
                <a:latin typeface="Arial"/>
                <a:cs typeface="Arial"/>
              </a:rPr>
              <a:t>theory</a:t>
            </a:r>
            <a:endParaRPr sz="5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4479" y="4413761"/>
            <a:ext cx="8100059" cy="206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Command</a:t>
            </a:r>
            <a:r>
              <a:rPr sz="4450" spc="-10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names</a:t>
            </a:r>
            <a:r>
              <a:rPr sz="445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should</a:t>
            </a:r>
            <a:r>
              <a:rPr sz="445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be </a:t>
            </a:r>
            <a:r>
              <a:rPr sz="4450" b="1" dirty="0">
                <a:solidFill>
                  <a:srgbClr val="5E5E5E"/>
                </a:solidFill>
                <a:latin typeface="Arial"/>
                <a:cs typeface="Arial"/>
              </a:rPr>
              <a:t>familiar</a:t>
            </a:r>
            <a:r>
              <a:rPr sz="4450" b="1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4450" spc="-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have</a:t>
            </a:r>
            <a:r>
              <a:rPr sz="445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some</a:t>
            </a:r>
            <a:r>
              <a:rPr sz="4450" spc="-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b="1" spc="-10" dirty="0">
                <a:solidFill>
                  <a:srgbClr val="5E5E5E"/>
                </a:solidFill>
                <a:latin typeface="Arial"/>
                <a:cs typeface="Arial"/>
              </a:rPr>
              <a:t>natural </a:t>
            </a:r>
            <a:r>
              <a:rPr sz="4450" b="1" dirty="0">
                <a:solidFill>
                  <a:srgbClr val="5E5E5E"/>
                </a:solidFill>
                <a:latin typeface="Arial"/>
                <a:cs typeface="Arial"/>
              </a:rPr>
              <a:t>link</a:t>
            </a:r>
            <a:r>
              <a:rPr sz="44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invoked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process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1914" y="7805072"/>
            <a:ext cx="4000500" cy="1132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7845" marR="5080" indent="-525780">
              <a:lnSpc>
                <a:spcPct val="100800"/>
              </a:lnSpc>
              <a:spcBef>
                <a:spcPts val="95"/>
              </a:spcBef>
            </a:pPr>
            <a:r>
              <a:rPr sz="3600" dirty="0">
                <a:solidFill>
                  <a:srgbClr val="FDAD00"/>
                </a:solidFill>
                <a:latin typeface="Arial"/>
                <a:cs typeface="Arial"/>
              </a:rPr>
              <a:t>Neat,</a:t>
            </a:r>
            <a:r>
              <a:rPr sz="3600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FDAD00"/>
                </a:solidFill>
                <a:latin typeface="Arial"/>
                <a:cs typeface="Arial"/>
              </a:rPr>
              <a:t>generalisable </a:t>
            </a:r>
            <a:r>
              <a:rPr sz="3600" dirty="0">
                <a:solidFill>
                  <a:srgbClr val="FDAD00"/>
                </a:solidFill>
                <a:latin typeface="Arial"/>
                <a:cs typeface="Arial"/>
              </a:rPr>
              <a:t>rule</a:t>
            </a:r>
            <a:r>
              <a:rPr sz="3600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DAD00"/>
                </a:solidFill>
                <a:latin typeface="Arial"/>
                <a:cs typeface="Arial"/>
              </a:rPr>
              <a:t>for </a:t>
            </a:r>
            <a:r>
              <a:rPr sz="3600" spc="-10" dirty="0">
                <a:solidFill>
                  <a:srgbClr val="FDAD00"/>
                </a:solidFill>
                <a:latin typeface="Arial"/>
                <a:cs typeface="Arial"/>
              </a:rPr>
              <a:t>design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E1B48B-0B27-0D50-F2E7-2F90FA5CA748}"/>
              </a:ext>
            </a:extLst>
          </p:cNvPr>
          <p:cNvGrpSpPr/>
          <p:nvPr/>
        </p:nvGrpSpPr>
        <p:grpSpPr>
          <a:xfrm>
            <a:off x="8449869" y="4358224"/>
            <a:ext cx="10454447" cy="5190559"/>
            <a:chOff x="8449869" y="4358224"/>
            <a:chExt cx="10454447" cy="5190559"/>
          </a:xfrm>
        </p:grpSpPr>
        <p:sp>
          <p:nvSpPr>
            <p:cNvPr id="5" name="object 5"/>
            <p:cNvSpPr txBox="1"/>
            <p:nvPr/>
          </p:nvSpPr>
          <p:spPr>
            <a:xfrm>
              <a:off x="12133946" y="4358224"/>
              <a:ext cx="6770370" cy="206184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sz="4450" spc="-10" dirty="0">
                  <a:solidFill>
                    <a:srgbClr val="5E5E5E"/>
                  </a:solidFill>
                  <a:latin typeface="Arial"/>
                  <a:cs typeface="Arial"/>
                </a:rPr>
                <a:t>Various</a:t>
              </a:r>
              <a:r>
                <a:rPr sz="4450" spc="-105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factors</a:t>
              </a:r>
              <a:r>
                <a:rPr sz="4450" spc="-95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may</a:t>
              </a:r>
              <a:r>
                <a:rPr sz="4450" spc="-9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spc="-10" dirty="0">
                  <a:solidFill>
                    <a:srgbClr val="5E5E5E"/>
                  </a:solidFill>
                  <a:latin typeface="Arial"/>
                  <a:cs typeface="Arial"/>
                </a:rPr>
                <a:t>affect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memorability</a:t>
              </a:r>
              <a:r>
                <a:rPr sz="4450" spc="-13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of</a:t>
              </a:r>
              <a:r>
                <a:rPr sz="4450" spc="-125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spc="-10" dirty="0">
                  <a:solidFill>
                    <a:srgbClr val="5E5E5E"/>
                  </a:solidFill>
                  <a:latin typeface="Arial"/>
                  <a:cs typeface="Arial"/>
                </a:rPr>
                <a:t>command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names</a:t>
              </a:r>
              <a:r>
                <a:rPr sz="4450" spc="-7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in</a:t>
              </a:r>
              <a:r>
                <a:rPr sz="4450" spc="-7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different</a:t>
              </a:r>
              <a:r>
                <a:rPr sz="4450" spc="-7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spc="-10" dirty="0">
                  <a:solidFill>
                    <a:srgbClr val="5E5E5E"/>
                  </a:solidFill>
                  <a:latin typeface="Arial"/>
                  <a:cs typeface="Arial"/>
                </a:rPr>
                <a:t>contexts</a:t>
              </a:r>
              <a:endParaRPr sz="4450" dirty="0">
                <a:latin typeface="Arial"/>
                <a:cs typeface="Arial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063AC3-553F-BD3E-4D65-BEF7F2E28C67}"/>
                </a:ext>
              </a:extLst>
            </p:cNvPr>
            <p:cNvGrpSpPr/>
            <p:nvPr/>
          </p:nvGrpSpPr>
          <p:grpSpPr>
            <a:xfrm>
              <a:off x="8449869" y="4991052"/>
              <a:ext cx="3563620" cy="2342135"/>
              <a:chOff x="8449869" y="4991052"/>
              <a:chExt cx="3563620" cy="2342135"/>
            </a:xfrm>
          </p:grpSpPr>
          <p:grpSp>
            <p:nvGrpSpPr>
              <p:cNvPr id="6" name="object 6"/>
              <p:cNvGrpSpPr/>
              <p:nvPr/>
            </p:nvGrpSpPr>
            <p:grpSpPr>
              <a:xfrm>
                <a:off x="9508192" y="4991052"/>
                <a:ext cx="1742439" cy="1029969"/>
                <a:chOff x="9508192" y="4991052"/>
                <a:chExt cx="1742439" cy="1029969"/>
              </a:xfrm>
            </p:grpSpPr>
            <p:sp>
              <p:nvSpPr>
                <p:cNvPr id="7" name="object 7"/>
                <p:cNvSpPr/>
                <p:nvPr/>
              </p:nvSpPr>
              <p:spPr>
                <a:xfrm>
                  <a:off x="9518663" y="5001523"/>
                  <a:ext cx="1721485" cy="1009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1484" h="1009014">
                      <a:moveTo>
                        <a:pt x="1217031" y="0"/>
                      </a:moveTo>
                      <a:lnTo>
                        <a:pt x="1217031" y="252243"/>
                      </a:lnTo>
                      <a:lnTo>
                        <a:pt x="0" y="252243"/>
                      </a:lnTo>
                      <a:lnTo>
                        <a:pt x="0" y="756730"/>
                      </a:lnTo>
                      <a:lnTo>
                        <a:pt x="1217031" y="756730"/>
                      </a:lnTo>
                      <a:lnTo>
                        <a:pt x="1217031" y="1008974"/>
                      </a:lnTo>
                      <a:lnTo>
                        <a:pt x="1721413" y="504487"/>
                      </a:lnTo>
                      <a:lnTo>
                        <a:pt x="12170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" name="object 8"/>
                <p:cNvSpPr/>
                <p:nvPr/>
              </p:nvSpPr>
              <p:spPr>
                <a:xfrm>
                  <a:off x="9518663" y="5001523"/>
                  <a:ext cx="1721485" cy="1009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1484" h="1009014">
                      <a:moveTo>
                        <a:pt x="0" y="252243"/>
                      </a:moveTo>
                      <a:lnTo>
                        <a:pt x="1217031" y="252243"/>
                      </a:lnTo>
                      <a:lnTo>
                        <a:pt x="1217031" y="0"/>
                      </a:lnTo>
                      <a:lnTo>
                        <a:pt x="1721413" y="504487"/>
                      </a:lnTo>
                      <a:lnTo>
                        <a:pt x="1217031" y="1008974"/>
                      </a:lnTo>
                      <a:lnTo>
                        <a:pt x="1217031" y="756730"/>
                      </a:lnTo>
                      <a:lnTo>
                        <a:pt x="0" y="756730"/>
                      </a:lnTo>
                      <a:lnTo>
                        <a:pt x="0" y="252243"/>
                      </a:lnTo>
                      <a:close/>
                    </a:path>
                  </a:pathLst>
                </a:custGeom>
                <a:ln w="20941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9" name="object 9"/>
              <p:cNvSpPr txBox="1"/>
              <p:nvPr/>
            </p:nvSpPr>
            <p:spPr>
              <a:xfrm>
                <a:off x="9653812" y="6201456"/>
                <a:ext cx="1153160" cy="57912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3600" spc="-20" dirty="0">
                    <a:solidFill>
                      <a:srgbClr val="FDAD00"/>
                    </a:solidFill>
                    <a:latin typeface="Arial"/>
                    <a:cs typeface="Arial"/>
                  </a:rPr>
                  <a:t>Many</a:t>
                </a:r>
                <a:endParaRPr sz="3600">
                  <a:latin typeface="Arial"/>
                  <a:cs typeface="Arial"/>
                </a:endParaRPr>
              </a:p>
            </p:txBody>
          </p:sp>
          <p:sp>
            <p:nvSpPr>
              <p:cNvPr id="10" name="object 10"/>
              <p:cNvSpPr txBox="1"/>
              <p:nvPr/>
            </p:nvSpPr>
            <p:spPr>
              <a:xfrm>
                <a:off x="8449869" y="6754067"/>
                <a:ext cx="3563620" cy="57912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3600" dirty="0">
                    <a:solidFill>
                      <a:srgbClr val="FDAD00"/>
                    </a:solidFill>
                    <a:latin typeface="Arial"/>
                    <a:cs typeface="Arial"/>
                  </a:rPr>
                  <a:t>experiments </a:t>
                </a:r>
                <a:r>
                  <a:rPr sz="3600" spc="-10" dirty="0">
                    <a:solidFill>
                      <a:srgbClr val="FDAD00"/>
                    </a:solidFill>
                    <a:latin typeface="Arial"/>
                    <a:cs typeface="Arial"/>
                  </a:rPr>
                  <a:t>later</a:t>
                </a:r>
                <a:endParaRPr sz="3600" dirty="0">
                  <a:latin typeface="Arial"/>
                  <a:cs typeface="Arial"/>
                </a:endParaRPr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13991062" y="7864128"/>
              <a:ext cx="3638550" cy="168465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485775" marR="5080" indent="-473709">
                <a:lnSpc>
                  <a:spcPct val="100800"/>
                </a:lnSpc>
                <a:spcBef>
                  <a:spcPts val="95"/>
                </a:spcBef>
              </a:pP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Complex,</a:t>
              </a:r>
              <a:r>
                <a:rPr sz="3600" spc="-10" dirty="0">
                  <a:solidFill>
                    <a:srgbClr val="FDAD00"/>
                  </a:solidFill>
                  <a:latin typeface="Arial"/>
                  <a:cs typeface="Arial"/>
                </a:rPr>
                <a:t> specific </a:t>
              </a: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data</a:t>
              </a:r>
              <a:r>
                <a:rPr sz="3600" spc="-10" dirty="0">
                  <a:solidFill>
                    <a:srgbClr val="FDAD00"/>
                  </a:solidFill>
                  <a:latin typeface="Arial"/>
                  <a:cs typeface="Arial"/>
                </a:rPr>
                <a:t> </a:t>
              </a: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which</a:t>
              </a:r>
              <a:r>
                <a:rPr sz="3600" spc="-15" dirty="0">
                  <a:solidFill>
                    <a:srgbClr val="FDAD00"/>
                  </a:solidFill>
                  <a:latin typeface="Arial"/>
                  <a:cs typeface="Arial"/>
                </a:rPr>
                <a:t> </a:t>
              </a:r>
              <a:r>
                <a:rPr sz="3600" spc="-25" dirty="0">
                  <a:solidFill>
                    <a:srgbClr val="FDAD00"/>
                  </a:solidFill>
                  <a:latin typeface="Arial"/>
                  <a:cs typeface="Arial"/>
                </a:rPr>
                <a:t>is </a:t>
              </a: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hard</a:t>
              </a:r>
              <a:r>
                <a:rPr sz="3600" spc="-15" dirty="0">
                  <a:solidFill>
                    <a:srgbClr val="FDAD00"/>
                  </a:solidFill>
                  <a:latin typeface="Arial"/>
                  <a:cs typeface="Arial"/>
                </a:rPr>
                <a:t> </a:t>
              </a: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to</a:t>
              </a:r>
              <a:r>
                <a:rPr sz="3600" spc="-5" dirty="0">
                  <a:solidFill>
                    <a:srgbClr val="FDAD00"/>
                  </a:solidFill>
                  <a:latin typeface="Arial"/>
                  <a:cs typeface="Arial"/>
                </a:rPr>
                <a:t> </a:t>
              </a:r>
              <a:r>
                <a:rPr sz="3600" spc="-10" dirty="0">
                  <a:solidFill>
                    <a:srgbClr val="FDAD00"/>
                  </a:solidFill>
                  <a:latin typeface="Arial"/>
                  <a:cs typeface="Arial"/>
                </a:rPr>
                <a:t>apply</a:t>
              </a:r>
              <a:endParaRPr sz="3600">
                <a:latin typeface="Arial"/>
                <a:cs typeface="Arial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63C9DE8-328C-F32B-FC3A-B354F7DE8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676" y="7794174"/>
            <a:ext cx="5706271" cy="2962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324" y="647833"/>
            <a:ext cx="18582640" cy="84328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65"/>
              </a:lnSpc>
            </a:pPr>
            <a:r>
              <a:rPr sz="5900" dirty="0"/>
              <a:t>3.</a:t>
            </a:r>
            <a:r>
              <a:rPr sz="5900" spc="-75" dirty="0"/>
              <a:t> </a:t>
            </a:r>
            <a:r>
              <a:rPr sz="5900" dirty="0"/>
              <a:t>Developing</a:t>
            </a:r>
            <a:r>
              <a:rPr sz="5900" spc="-95" dirty="0"/>
              <a:t> </a:t>
            </a:r>
            <a:r>
              <a:rPr sz="5900" dirty="0"/>
              <a:t>new</a:t>
            </a:r>
            <a:r>
              <a:rPr sz="5900" spc="-60" dirty="0"/>
              <a:t> </a:t>
            </a:r>
            <a:r>
              <a:rPr sz="5900" spc="-10" dirty="0"/>
              <a:t>HCI-</a:t>
            </a:r>
            <a:r>
              <a:rPr sz="5900" dirty="0"/>
              <a:t>specific</a:t>
            </a:r>
            <a:r>
              <a:rPr sz="5900" spc="-90" dirty="0"/>
              <a:t> </a:t>
            </a:r>
            <a:r>
              <a:rPr sz="5900" spc="-10" dirty="0"/>
              <a:t>theory,</a:t>
            </a:r>
            <a:r>
              <a:rPr sz="5900" spc="-65" dirty="0"/>
              <a:t> </a:t>
            </a:r>
            <a:r>
              <a:rPr sz="5900" dirty="0"/>
              <a:t>grounded</a:t>
            </a:r>
            <a:r>
              <a:rPr sz="5900" spc="-60" dirty="0"/>
              <a:t> </a:t>
            </a:r>
            <a:r>
              <a:rPr sz="5900" spc="-25" dirty="0"/>
              <a:t>in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531324" y="1552518"/>
            <a:ext cx="8183880" cy="84328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65"/>
              </a:lnSpc>
            </a:pPr>
            <a:r>
              <a:rPr sz="5900" b="1" dirty="0">
                <a:solidFill>
                  <a:srgbClr val="FFFFFF"/>
                </a:solidFill>
                <a:latin typeface="Arial"/>
                <a:cs typeface="Arial"/>
              </a:rPr>
              <a:t>lab</a:t>
            </a:r>
            <a:r>
              <a:rPr sz="59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r>
              <a:rPr sz="5900" b="1" spc="-10" dirty="0">
                <a:solidFill>
                  <a:srgbClr val="FFFFFF"/>
                </a:solidFill>
                <a:latin typeface="Arial"/>
                <a:cs typeface="Arial"/>
              </a:rPr>
              <a:t> disciplines</a:t>
            </a:r>
            <a:endParaRPr sz="5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611" y="3053384"/>
            <a:ext cx="972439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Cognitive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modelling</a:t>
            </a:r>
            <a:r>
              <a:rPr sz="39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interaction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scenarios</a:t>
            </a:r>
            <a:endParaRPr sz="39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276" y="4525935"/>
            <a:ext cx="4837549" cy="5026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8284" y="4658976"/>
            <a:ext cx="9289149" cy="51317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87409" y="9999141"/>
            <a:ext cx="175387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b="1" spc="-20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endParaRPr sz="4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3931" y="10058951"/>
            <a:ext cx="9199245" cy="704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Gulfs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Execution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Evaluation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665" y="22684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FD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4201" y="1831327"/>
            <a:ext cx="8373745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50" b="1" dirty="0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sz="725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250" b="1" dirty="0">
                <a:solidFill>
                  <a:srgbClr val="FFFFFF"/>
                </a:solidFill>
                <a:latin typeface="Arial"/>
                <a:cs typeface="Arial"/>
              </a:rPr>
              <a:t>2:</a:t>
            </a:r>
            <a:r>
              <a:rPr sz="72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250" b="1" dirty="0">
                <a:solidFill>
                  <a:srgbClr val="FFFFFF"/>
                </a:solidFill>
                <a:latin typeface="Arial"/>
                <a:cs typeface="Arial"/>
              </a:rPr>
              <a:t>First</a:t>
            </a:r>
            <a:r>
              <a:rPr sz="72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250" b="1" spc="-20" dirty="0">
                <a:solidFill>
                  <a:srgbClr val="FFFFFF"/>
                </a:solidFill>
                <a:latin typeface="Arial"/>
                <a:cs typeface="Arial"/>
              </a:rPr>
              <a:t>Wave</a:t>
            </a:r>
            <a:endParaRPr sz="7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2531" y="5965023"/>
            <a:ext cx="11898630" cy="8426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Mathematical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sz="5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53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behaviour</a:t>
            </a:r>
            <a:endParaRPr sz="5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4647" y="3078440"/>
            <a:ext cx="9278620" cy="7899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794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220"/>
              </a:spcBef>
              <a:tabLst>
                <a:tab pos="2902585" algn="l"/>
                <a:tab pos="4996815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Chunk</a:t>
            </a:r>
            <a:r>
              <a:rPr sz="4950" b="1" spc="-1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lang="en-GB" sz="4950" b="1" spc="-25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: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20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and</a:t>
            </a:r>
            <a:r>
              <a:rPr sz="4950" b="1" spc="-10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4950" b="1" spc="-3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Law</a:t>
            </a:r>
            <a:endParaRPr sz="4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063" y="1069705"/>
            <a:ext cx="8131175" cy="912494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0"/>
              </a:lnSpc>
            </a:pP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GOMS</a:t>
            </a:r>
            <a:r>
              <a:rPr sz="6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6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Fitts’</a:t>
            </a:r>
            <a:r>
              <a:rPr sz="6400" b="1" spc="-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Law</a:t>
            </a:r>
            <a:endParaRPr sz="6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9562" y="2871714"/>
            <a:ext cx="17467580" cy="7565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57785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Fitt’s</a:t>
            </a:r>
            <a:r>
              <a:rPr sz="495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Law</a:t>
            </a:r>
            <a:r>
              <a:rPr sz="4950" b="1" dirty="0">
                <a:latin typeface="Arial"/>
                <a:cs typeface="Arial"/>
              </a:rPr>
              <a:t>:</a:t>
            </a:r>
            <a:r>
              <a:rPr sz="4950" b="1" spc="-13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predicting</a:t>
            </a:r>
            <a:r>
              <a:rPr sz="4950" spc="-14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performance</a:t>
            </a:r>
            <a:r>
              <a:rPr sz="4950" spc="-13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on</a:t>
            </a:r>
            <a:r>
              <a:rPr sz="4950" spc="-14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mouse</a:t>
            </a:r>
            <a:r>
              <a:rPr sz="4950" spc="-150" dirty="0">
                <a:latin typeface="Arial"/>
                <a:cs typeface="Arial"/>
              </a:rPr>
              <a:t> </a:t>
            </a:r>
            <a:r>
              <a:rPr sz="4950" spc="-10" dirty="0">
                <a:latin typeface="Arial"/>
                <a:cs typeface="Arial"/>
              </a:rPr>
              <a:t>tasks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577850" marR="1134110" indent="-565785">
              <a:lnSpc>
                <a:spcPct val="100000"/>
              </a:lnSpc>
              <a:buFont typeface="Arial"/>
              <a:buChar char="•"/>
              <a:tabLst>
                <a:tab pos="577850" algn="l"/>
                <a:tab pos="8503285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r>
              <a:rPr sz="4950" dirty="0">
                <a:latin typeface="Arial"/>
                <a:cs typeface="Arial"/>
              </a:rPr>
              <a:t>:</a:t>
            </a:r>
            <a:r>
              <a:rPr sz="4950" spc="-4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predicting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performance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on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a</a:t>
            </a:r>
            <a:r>
              <a:rPr sz="4950" spc="-4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range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of</a:t>
            </a:r>
            <a:r>
              <a:rPr sz="4950" spc="-2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input</a:t>
            </a:r>
            <a:r>
              <a:rPr sz="4950" spc="-15" dirty="0">
                <a:latin typeface="Arial"/>
                <a:cs typeface="Arial"/>
              </a:rPr>
              <a:t> </a:t>
            </a:r>
            <a:r>
              <a:rPr sz="4950" spc="-10" dirty="0">
                <a:latin typeface="Arial"/>
                <a:cs typeface="Arial"/>
              </a:rPr>
              <a:t>tasks </a:t>
            </a:r>
            <a:r>
              <a:rPr sz="4950" dirty="0">
                <a:latin typeface="Arial"/>
                <a:cs typeface="Arial"/>
              </a:rPr>
              <a:t>(</a:t>
            </a:r>
            <a:r>
              <a:rPr sz="4950" b="1" dirty="0">
                <a:latin typeface="Arial"/>
                <a:cs typeface="Arial"/>
              </a:rPr>
              <a:t>G</a:t>
            </a:r>
            <a:r>
              <a:rPr sz="4950" dirty="0">
                <a:latin typeface="Arial"/>
                <a:cs typeface="Arial"/>
              </a:rPr>
              <a:t>oals,</a:t>
            </a:r>
            <a:r>
              <a:rPr sz="4950" spc="-160" dirty="0">
                <a:latin typeface="Arial"/>
                <a:cs typeface="Arial"/>
              </a:rPr>
              <a:t> </a:t>
            </a:r>
            <a:r>
              <a:rPr sz="4950" b="1" dirty="0">
                <a:latin typeface="Arial"/>
                <a:cs typeface="Arial"/>
              </a:rPr>
              <a:t>O</a:t>
            </a:r>
            <a:r>
              <a:rPr sz="4950" dirty="0">
                <a:latin typeface="Arial"/>
                <a:cs typeface="Arial"/>
              </a:rPr>
              <a:t>perators,</a:t>
            </a:r>
            <a:r>
              <a:rPr sz="4950" spc="-160" dirty="0">
                <a:latin typeface="Arial"/>
                <a:cs typeface="Arial"/>
              </a:rPr>
              <a:t> </a:t>
            </a:r>
            <a:r>
              <a:rPr sz="4950" b="1" spc="-10" dirty="0">
                <a:latin typeface="Arial"/>
                <a:cs typeface="Arial"/>
              </a:rPr>
              <a:t>M</a:t>
            </a:r>
            <a:r>
              <a:rPr sz="4950" spc="-10" dirty="0">
                <a:latin typeface="Arial"/>
                <a:cs typeface="Arial"/>
              </a:rPr>
              <a:t>ethods</a:t>
            </a:r>
            <a:r>
              <a:rPr sz="4950" dirty="0">
                <a:latin typeface="Arial"/>
                <a:cs typeface="Arial"/>
              </a:rPr>
              <a:t>	and</a:t>
            </a:r>
            <a:r>
              <a:rPr sz="4950" spc="-60" dirty="0">
                <a:latin typeface="Arial"/>
                <a:cs typeface="Arial"/>
              </a:rPr>
              <a:t> </a:t>
            </a:r>
            <a:r>
              <a:rPr sz="4950" b="1" dirty="0">
                <a:latin typeface="Arial"/>
                <a:cs typeface="Arial"/>
              </a:rPr>
              <a:t>S</a:t>
            </a:r>
            <a:r>
              <a:rPr sz="4950" dirty="0">
                <a:latin typeface="Arial"/>
                <a:cs typeface="Arial"/>
              </a:rPr>
              <a:t>election</a:t>
            </a:r>
            <a:r>
              <a:rPr sz="4950" spc="-45" dirty="0">
                <a:latin typeface="Arial"/>
                <a:cs typeface="Arial"/>
              </a:rPr>
              <a:t> </a:t>
            </a:r>
            <a:r>
              <a:rPr sz="4950" spc="-10" dirty="0">
                <a:latin typeface="Arial"/>
                <a:cs typeface="Arial"/>
              </a:rPr>
              <a:t>rules)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4950" dirty="0">
                <a:latin typeface="Arial"/>
                <a:cs typeface="Arial"/>
              </a:rPr>
              <a:t>Both</a:t>
            </a:r>
            <a:r>
              <a:rPr sz="4950" spc="-6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grounded</a:t>
            </a:r>
            <a:r>
              <a:rPr sz="4950" spc="-6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in</a:t>
            </a:r>
            <a:r>
              <a:rPr sz="4950" spc="-60" dirty="0"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cognitive</a:t>
            </a:r>
            <a:r>
              <a:rPr sz="495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psychology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4950" dirty="0">
                <a:latin typeface="Arial"/>
                <a:cs typeface="Arial"/>
              </a:rPr>
              <a:t>Both</a:t>
            </a:r>
            <a:r>
              <a:rPr sz="4950" spc="-140" dirty="0"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expanded</a:t>
            </a:r>
            <a:r>
              <a:rPr sz="4950" b="1" spc="-1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4950" b="1" spc="-1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developed</a:t>
            </a:r>
            <a:r>
              <a:rPr sz="4950" b="1" spc="-1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in</a:t>
            </a:r>
            <a:r>
              <a:rPr sz="495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Font typeface="Arial"/>
              <a:buChar char="•"/>
              <a:tabLst>
                <a:tab pos="577850" algn="l"/>
                <a:tab pos="3068955" algn="l"/>
                <a:tab pos="6908800" algn="l"/>
                <a:tab pos="14134465" algn="l"/>
              </a:tabLst>
            </a:pP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Narrow,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and</a:t>
            </a:r>
            <a:r>
              <a:rPr sz="4950" b="1" spc="-10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precise</a:t>
            </a:r>
            <a:r>
              <a:rPr sz="4950" spc="-10" dirty="0">
                <a:latin typeface="Arial"/>
                <a:cs typeface="Arial"/>
              </a:rPr>
              <a:t>,</a:t>
            </a:r>
            <a:r>
              <a:rPr sz="4950" dirty="0">
                <a:latin typeface="Arial"/>
                <a:cs typeface="Arial"/>
              </a:rPr>
              <a:t>	and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focused</a:t>
            </a:r>
            <a:r>
              <a:rPr sz="4950" spc="-3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on</a:t>
            </a:r>
            <a:r>
              <a:rPr sz="4950" spc="-20" dirty="0">
                <a:latin typeface="Arial"/>
                <a:cs typeface="Arial"/>
              </a:rPr>
              <a:t> </a:t>
            </a:r>
            <a:r>
              <a:rPr sz="4950" spc="-10" dirty="0">
                <a:latin typeface="Arial"/>
                <a:cs typeface="Arial"/>
              </a:rPr>
              <a:t>particular</a:t>
            </a:r>
            <a:r>
              <a:rPr sz="4950" dirty="0">
                <a:latin typeface="Arial"/>
                <a:cs typeface="Arial"/>
              </a:rPr>
              <a:t>	</a:t>
            </a:r>
            <a:r>
              <a:rPr sz="4950" spc="-10" dirty="0">
                <a:latin typeface="Arial"/>
                <a:cs typeface="Arial"/>
              </a:rPr>
              <a:t>phenomena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383" y="1026221"/>
            <a:ext cx="1166114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-15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43035" y="3709071"/>
            <a:ext cx="7388859" cy="5052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3870" marR="426084" indent="-471805">
              <a:lnSpc>
                <a:spcPct val="100000"/>
              </a:lnSpc>
              <a:spcBef>
                <a:spcPts val="95"/>
              </a:spcBef>
              <a:buChar char="•"/>
              <a:tabLst>
                <a:tab pos="483870" algn="l"/>
              </a:tabLst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Originally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developed</a:t>
            </a:r>
            <a:r>
              <a:rPr sz="3300" spc="-10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3300" spc="-1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understand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pointing</a:t>
            </a:r>
            <a:r>
              <a:rPr sz="330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3300" spc="-7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</a:t>
            </a:r>
            <a:r>
              <a:rPr sz="3300" spc="-8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finger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5E5E5E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483870" marR="5080" indent="-471805">
              <a:lnSpc>
                <a:spcPct val="100000"/>
              </a:lnSpc>
              <a:spcBef>
                <a:spcPts val="5"/>
              </a:spcBef>
              <a:buChar char="•"/>
              <a:tabLst>
                <a:tab pos="483870" algn="l"/>
              </a:tabLst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HCI</a:t>
            </a:r>
            <a:r>
              <a:rPr sz="3300" spc="-10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adopted</a:t>
            </a:r>
            <a:r>
              <a:rPr sz="330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extended</a:t>
            </a:r>
            <a:r>
              <a:rPr sz="3300" spc="-10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5" dirty="0">
                <a:solidFill>
                  <a:srgbClr val="5E5E5E"/>
                </a:solidFill>
                <a:latin typeface="Arial"/>
                <a:cs typeface="Arial"/>
              </a:rPr>
              <a:t>to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understand</a:t>
            </a:r>
            <a:r>
              <a:rPr sz="3300" spc="-1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mouse,</a:t>
            </a:r>
            <a:r>
              <a:rPr sz="3300" spc="-1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touchscreen</a:t>
            </a:r>
            <a:r>
              <a:rPr sz="3300" spc="-1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use,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3300" spc="-9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other</a:t>
            </a:r>
            <a:r>
              <a:rPr sz="330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examples</a:t>
            </a:r>
            <a:r>
              <a:rPr sz="330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of</a:t>
            </a:r>
            <a:r>
              <a:rPr sz="3300" spc="-8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cursor</a:t>
            </a:r>
            <a:r>
              <a:rPr sz="3300" spc="-8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control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5E5E5E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483870" marR="220345" indent="-471805">
              <a:lnSpc>
                <a:spcPct val="100000"/>
              </a:lnSpc>
              <a:buChar char="•"/>
              <a:tabLst>
                <a:tab pos="483870" algn="l"/>
              </a:tabLst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Posits</a:t>
            </a:r>
            <a:r>
              <a:rPr sz="3300" spc="-5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</a:t>
            </a:r>
            <a:r>
              <a:rPr sz="3300" spc="-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5E5E5E"/>
                </a:solidFill>
                <a:latin typeface="Arial"/>
                <a:cs typeface="Arial"/>
              </a:rPr>
              <a:t>speed-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accuracy</a:t>
            </a:r>
            <a:r>
              <a:rPr sz="330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5" dirty="0">
                <a:solidFill>
                  <a:srgbClr val="5E5E5E"/>
                </a:solidFill>
                <a:latin typeface="Arial"/>
                <a:cs typeface="Arial"/>
              </a:rPr>
              <a:t>trade-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off</a:t>
            </a:r>
            <a:r>
              <a:rPr sz="3300" spc="-4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35" dirty="0">
                <a:solidFill>
                  <a:srgbClr val="5E5E5E"/>
                </a:solidFill>
                <a:latin typeface="Arial"/>
                <a:cs typeface="Arial"/>
              </a:rPr>
              <a:t>in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movement</a:t>
            </a:r>
            <a:r>
              <a:rPr sz="3300" spc="-7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towards</a:t>
            </a:r>
            <a:r>
              <a:rPr sz="3300" spc="-8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</a:t>
            </a:r>
            <a:r>
              <a:rPr sz="330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target,</a:t>
            </a:r>
            <a:r>
              <a:rPr sz="330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5" dirty="0">
                <a:solidFill>
                  <a:srgbClr val="5E5E5E"/>
                </a:solidFill>
                <a:latin typeface="Arial"/>
                <a:cs typeface="Arial"/>
              </a:rPr>
              <a:t>and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quantifies</a:t>
            </a:r>
            <a:r>
              <a:rPr sz="3300" spc="-1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this</a:t>
            </a:r>
            <a:endParaRPr sz="3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0784" y="3536804"/>
            <a:ext cx="6977483" cy="49079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383" y="1026221"/>
            <a:ext cx="1166114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-15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449" y="3559488"/>
            <a:ext cx="6977483" cy="4907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23412" y="3362318"/>
            <a:ext cx="8276590" cy="259715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  <a:tabLst>
                <a:tab pos="4524375" algn="l"/>
              </a:tabLst>
            </a:pP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39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3950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3950" spc="-10" dirty="0">
                <a:solidFill>
                  <a:srgbClr val="FDAD00"/>
                </a:solidFill>
                <a:latin typeface="Arial"/>
                <a:cs typeface="Arial"/>
              </a:rPr>
              <a:t> difficulty</a:t>
            </a:r>
            <a:endParaRPr sz="3950">
              <a:latin typeface="Arial"/>
              <a:cs typeface="Arial"/>
            </a:endParaRPr>
          </a:p>
          <a:p>
            <a:pPr marL="259079">
              <a:lnSpc>
                <a:spcPct val="100000"/>
              </a:lnSpc>
              <a:spcBef>
                <a:spcPts val="1300"/>
              </a:spcBef>
            </a:pPr>
            <a:r>
              <a:rPr sz="590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5900" b="1" spc="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5900" b="1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59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5900" b="1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5900" b="1" spc="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590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5900" b="1" spc="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5900" b="1" spc="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900" b="1" spc="-25" dirty="0">
                <a:solidFill>
                  <a:srgbClr val="FDAD00"/>
                </a:solidFill>
                <a:latin typeface="Arial"/>
                <a:cs typeface="Arial"/>
              </a:rPr>
              <a:t>W)</a:t>
            </a:r>
            <a:endParaRPr sz="5900">
              <a:latin typeface="Arial"/>
              <a:cs typeface="Arial"/>
            </a:endParaRPr>
          </a:p>
          <a:p>
            <a:pPr marL="796925">
              <a:lnSpc>
                <a:spcPct val="100000"/>
              </a:lnSpc>
              <a:spcBef>
                <a:spcPts val="2320"/>
              </a:spcBef>
              <a:tabLst>
                <a:tab pos="2750820" algn="l"/>
              </a:tabLst>
            </a:pP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330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383" y="1026221"/>
            <a:ext cx="1166114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-15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720" y="2883630"/>
            <a:ext cx="6977483" cy="4907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1907" y="8538531"/>
            <a:ext cx="7183120" cy="219646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4057015" algn="l"/>
              </a:tabLst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33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3300">
              <a:latin typeface="Arial"/>
              <a:cs typeface="Arial"/>
            </a:endParaRPr>
          </a:p>
          <a:p>
            <a:pPr marL="391795">
              <a:lnSpc>
                <a:spcPct val="100000"/>
              </a:lnSpc>
              <a:spcBef>
                <a:spcPts val="1165"/>
              </a:spcBef>
              <a:tabLst>
                <a:tab pos="950594" algn="l"/>
                <a:tab pos="5497195" algn="l"/>
                <a:tab pos="5846445" algn="l"/>
              </a:tabLst>
            </a:pPr>
            <a:r>
              <a:rPr sz="4950" b="1" spc="-50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4950" b="1" dirty="0">
                <a:solidFill>
                  <a:srgbClr val="5E5E5E"/>
                </a:solidFill>
                <a:latin typeface="Arial"/>
                <a:cs typeface="Arial"/>
              </a:rPr>
              <a:t>	=</a:t>
            </a:r>
            <a:r>
              <a:rPr sz="49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495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4950" b="1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4950" b="1" spc="-1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50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W)</a:t>
            </a:r>
            <a:endParaRPr sz="495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2075"/>
              </a:spcBef>
              <a:tabLst>
                <a:tab pos="2506980" algn="l"/>
              </a:tabLst>
            </a:pPr>
            <a:r>
              <a:rPr sz="26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r>
              <a:rPr sz="265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6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56417" y="3291702"/>
            <a:ext cx="8501380" cy="424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Three</a:t>
            </a:r>
            <a:r>
              <a:rPr sz="3950" b="1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ways</a:t>
            </a:r>
            <a:r>
              <a:rPr sz="39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3950" b="1" spc="-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use</a:t>
            </a:r>
            <a:r>
              <a:rPr sz="39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Fitt’s</a:t>
            </a:r>
            <a:r>
              <a:rPr sz="3950" b="1" spc="-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spc="-25" dirty="0">
                <a:solidFill>
                  <a:srgbClr val="FDAD00"/>
                </a:solidFill>
                <a:latin typeface="Arial"/>
                <a:cs typeface="Arial"/>
              </a:rPr>
              <a:t>Law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950">
              <a:latin typeface="Arial"/>
              <a:cs typeface="Arial"/>
            </a:endParaRPr>
          </a:p>
          <a:p>
            <a:pPr marL="431800" indent="-431800">
              <a:lnSpc>
                <a:spcPct val="100000"/>
              </a:lnSpc>
              <a:buSzPct val="97468"/>
              <a:buAutoNum type="arabicPeriod"/>
              <a:tabLst>
                <a:tab pos="43180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3950" spc="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3950" spc="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3950">
              <a:latin typeface="Arial"/>
              <a:cs typeface="Arial"/>
            </a:endParaRPr>
          </a:p>
          <a:p>
            <a:pPr marL="12700" marR="5080" indent="-8890">
              <a:lnSpc>
                <a:spcPct val="100200"/>
              </a:lnSpc>
              <a:buSzPct val="96202"/>
              <a:buAutoNum type="arabicPeriod" startAt="2"/>
              <a:tabLst>
                <a:tab pos="431165" algn="l"/>
              </a:tabLst>
            </a:pP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Mathematical</a:t>
            </a:r>
            <a:r>
              <a:rPr sz="3950" b="1" spc="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r>
              <a:rPr sz="3950" spc="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39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the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model</a:t>
            </a:r>
            <a:endParaRPr sz="3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56417" y="8116853"/>
            <a:ext cx="60356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3.Further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Theory</a:t>
            </a:r>
            <a:r>
              <a:rPr sz="3950" b="1" spc="-10" dirty="0">
                <a:solidFill>
                  <a:srgbClr val="FDAD00"/>
                </a:solidFill>
                <a:latin typeface="Arial"/>
                <a:cs typeface="Arial"/>
              </a:rPr>
              <a:t> Building</a:t>
            </a:r>
            <a:endParaRPr sz="3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479" y="1575119"/>
            <a:ext cx="14378305" cy="381381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698500" indent="-698500" algn="ctr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69850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495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r>
              <a:rPr sz="495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495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  <a:spcBef>
                <a:spcPts val="203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=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harder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 slower</a:t>
            </a:r>
            <a:endParaRPr sz="445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"/>
              </a:spcBef>
            </a:pP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So: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5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Minimise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length</a:t>
            </a:r>
            <a:r>
              <a:rPr sz="3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of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mouse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moves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10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Control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user’s</a:t>
            </a:r>
            <a:r>
              <a:rPr sz="3950" spc="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mouse-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path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019358" y="5867622"/>
            <a:ext cx="6965950" cy="4453255"/>
            <a:chOff x="9019358" y="5867622"/>
            <a:chExt cx="6965950" cy="445325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05134" y="5946154"/>
              <a:ext cx="5685690" cy="32119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031138" y="5879402"/>
              <a:ext cx="6942455" cy="4429760"/>
            </a:xfrm>
            <a:custGeom>
              <a:avLst/>
              <a:gdLst/>
              <a:ahLst/>
              <a:cxnLst/>
              <a:rect l="l" t="t" r="r" b="b"/>
              <a:pathLst>
                <a:path w="6942455" h="4429759">
                  <a:moveTo>
                    <a:pt x="0" y="4429184"/>
                  </a:moveTo>
                  <a:lnTo>
                    <a:pt x="6942196" y="4429184"/>
                  </a:lnTo>
                  <a:lnTo>
                    <a:pt x="6942196" y="0"/>
                  </a:lnTo>
                  <a:lnTo>
                    <a:pt x="0" y="0"/>
                  </a:lnTo>
                  <a:lnTo>
                    <a:pt x="0" y="4429184"/>
                  </a:lnTo>
                  <a:close/>
                </a:path>
              </a:pathLst>
            </a:custGeom>
            <a:ln w="2355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479" y="1575119"/>
            <a:ext cx="14378305" cy="4417695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698500" indent="-698500" algn="ctr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69850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495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r>
              <a:rPr sz="495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495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  <a:spcBef>
                <a:spcPts val="203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=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harder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 slower</a:t>
            </a:r>
            <a:endParaRPr sz="445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"/>
              </a:spcBef>
            </a:pP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So: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5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Minimise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length</a:t>
            </a:r>
            <a:r>
              <a:rPr sz="3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of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mouse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moves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10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Control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user’s</a:t>
            </a:r>
            <a:r>
              <a:rPr sz="3950" spc="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mouse-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path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10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Spawn</a:t>
            </a:r>
            <a:r>
              <a:rPr sz="39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controls</a:t>
            </a:r>
            <a:r>
              <a:rPr sz="3950" spc="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close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mouse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position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2400" y="7079574"/>
            <a:ext cx="3808784" cy="28742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25333" y="6943314"/>
            <a:ext cx="2992578" cy="29925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479" y="1575119"/>
            <a:ext cx="16111219" cy="381381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711200" indent="-698500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71120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495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r>
              <a:rPr sz="495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4950" dirty="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3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bigger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=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 easier</a:t>
            </a:r>
            <a:endParaRPr sz="4450" dirty="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"/>
              </a:spcBef>
            </a:pP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So:</a:t>
            </a:r>
            <a:endParaRPr sz="3950" dirty="0">
              <a:latin typeface="Arial"/>
              <a:cs typeface="Arial"/>
            </a:endParaRPr>
          </a:p>
          <a:p>
            <a:pPr marL="3870960" marR="5080" lvl="1" indent="-8890">
              <a:lnSpc>
                <a:spcPct val="100000"/>
              </a:lnSpc>
              <a:spcBef>
                <a:spcPts val="5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	Make UI</a:t>
            </a:r>
            <a:r>
              <a:rPr sz="39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elements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bi</a:t>
            </a:r>
            <a:r>
              <a:rPr lang="en-GB" sz="3950" dirty="0">
                <a:solidFill>
                  <a:srgbClr val="5E5E5E"/>
                </a:solidFill>
                <a:latin typeface="Arial"/>
                <a:cs typeface="Arial"/>
              </a:rPr>
              <a:t>g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ger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when</a:t>
            </a:r>
            <a:r>
              <a:rPr sz="39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3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pressure,</a:t>
            </a:r>
            <a:r>
              <a:rPr sz="3950" spc="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or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risk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of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error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are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endParaRPr sz="395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0207" y="6270699"/>
            <a:ext cx="6062642" cy="32983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479" y="1575119"/>
            <a:ext cx="14767560" cy="381381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711200" indent="-698500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71120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495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r>
              <a:rPr sz="495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495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3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Alerting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designer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high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error</a:t>
            </a:r>
            <a:r>
              <a:rPr sz="4450" b="1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rates</a:t>
            </a:r>
            <a:endParaRPr sz="44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20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Minimise</a:t>
            </a:r>
            <a:r>
              <a:rPr sz="39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cost</a:t>
            </a:r>
            <a:r>
              <a:rPr sz="3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of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error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395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</a:pP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Edges</a:t>
            </a:r>
            <a:r>
              <a:rPr sz="395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395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Corners</a:t>
            </a:r>
            <a:r>
              <a:rPr sz="3950" b="1" spc="-1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Are</a:t>
            </a:r>
            <a:r>
              <a:rPr sz="39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Special:</a:t>
            </a:r>
            <a:r>
              <a:rPr sz="3950" b="1" spc="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infinite</a:t>
            </a:r>
            <a:r>
              <a:rPr sz="3950" b="1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FDAD00"/>
                </a:solidFill>
                <a:latin typeface="Arial"/>
                <a:cs typeface="Arial"/>
              </a:rPr>
              <a:t>width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357105" y="6096568"/>
            <a:ext cx="7062470" cy="4581525"/>
            <a:chOff x="7357105" y="6096568"/>
            <a:chExt cx="7062470" cy="45815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42986" y="6303472"/>
              <a:ext cx="5685690" cy="32119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68885" y="6236721"/>
              <a:ext cx="6942455" cy="4429760"/>
            </a:xfrm>
            <a:custGeom>
              <a:avLst/>
              <a:gdLst/>
              <a:ahLst/>
              <a:cxnLst/>
              <a:rect l="l" t="t" r="r" b="b"/>
              <a:pathLst>
                <a:path w="6942455" h="4429759">
                  <a:moveTo>
                    <a:pt x="0" y="4429184"/>
                  </a:moveTo>
                  <a:lnTo>
                    <a:pt x="6942196" y="4429184"/>
                  </a:lnTo>
                  <a:lnTo>
                    <a:pt x="6942196" y="0"/>
                  </a:lnTo>
                  <a:lnTo>
                    <a:pt x="0" y="0"/>
                  </a:lnTo>
                  <a:lnTo>
                    <a:pt x="0" y="4429184"/>
                  </a:lnTo>
                  <a:close/>
                </a:path>
              </a:pathLst>
            </a:custGeom>
            <a:ln w="2355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58511" y="7770234"/>
              <a:ext cx="214234" cy="39265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14265" y="7027639"/>
              <a:ext cx="2827767" cy="27724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74988" y="6096568"/>
              <a:ext cx="1144048" cy="86636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77538" y="6159393"/>
              <a:ext cx="1412941" cy="64018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9356" y="1565262"/>
            <a:ext cx="17816830" cy="7204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9930" indent="-697230">
              <a:lnSpc>
                <a:spcPct val="100000"/>
              </a:lnSpc>
              <a:spcBef>
                <a:spcPts val="95"/>
              </a:spcBef>
              <a:buClr>
                <a:srgbClr val="5E5E5E"/>
              </a:buClr>
              <a:buFont typeface="Arial"/>
              <a:buAutoNum type="arabicPeriod" startAt="2"/>
              <a:tabLst>
                <a:tab pos="70993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Mathematical</a:t>
            </a:r>
            <a:r>
              <a:rPr sz="4950" b="1" spc="-2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Engagement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35"/>
              </a:spcBef>
              <a:buClr>
                <a:srgbClr val="5E5E5E"/>
              </a:buClr>
              <a:buFont typeface="Arial"/>
              <a:buAutoNum type="arabicPeriod" startAt="2"/>
            </a:pPr>
            <a:endParaRPr sz="4950">
              <a:latin typeface="Arial"/>
              <a:cs typeface="Arial"/>
            </a:endParaRPr>
          </a:p>
          <a:p>
            <a:pPr marL="4733290" lvl="1" indent="-565150">
              <a:lnSpc>
                <a:spcPct val="100000"/>
              </a:lnSpc>
              <a:buChar char="•"/>
              <a:tabLst>
                <a:tab pos="4733290" algn="l"/>
              </a:tabLst>
            </a:pP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Build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tools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analyse</a:t>
            </a:r>
            <a:r>
              <a:rPr sz="49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layouts</a:t>
            </a:r>
            <a:r>
              <a:rPr sz="49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guide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 design</a:t>
            </a:r>
            <a:endParaRPr sz="4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Clr>
                <a:srgbClr val="2E2E2E"/>
              </a:buClr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4733290" lvl="1" indent="-565150">
              <a:lnSpc>
                <a:spcPct val="100000"/>
              </a:lnSpc>
              <a:buChar char="•"/>
              <a:tabLst>
                <a:tab pos="4733290" algn="l"/>
                <a:tab pos="11895455" algn="l"/>
              </a:tabLst>
            </a:pP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Analyse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use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49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nested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vs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flat</a:t>
            </a:r>
            <a:r>
              <a:rPr sz="49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menus</a:t>
            </a:r>
            <a:endParaRPr sz="4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45"/>
              </a:spcBef>
              <a:buClr>
                <a:srgbClr val="2E2E2E"/>
              </a:buClr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4733290" lvl="1" indent="-565150">
              <a:lnSpc>
                <a:spcPct val="100000"/>
              </a:lnSpc>
              <a:buChar char="•"/>
              <a:tabLst>
                <a:tab pos="4733290" algn="l"/>
              </a:tabLst>
            </a:pP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Calculate</a:t>
            </a:r>
            <a:r>
              <a:rPr sz="495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times</a:t>
            </a:r>
            <a:r>
              <a:rPr sz="495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for</a:t>
            </a:r>
            <a:r>
              <a:rPr sz="495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paths</a:t>
            </a:r>
            <a:r>
              <a:rPr sz="495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through</a:t>
            </a:r>
            <a:r>
              <a:rPr sz="495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website</a:t>
            </a:r>
            <a:endParaRPr sz="4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Clr>
                <a:srgbClr val="2E2E2E"/>
              </a:buClr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4733290" lvl="1" indent="-565150">
              <a:lnSpc>
                <a:spcPct val="100000"/>
              </a:lnSpc>
              <a:buChar char="•"/>
              <a:tabLst>
                <a:tab pos="4733290" algn="l"/>
              </a:tabLst>
            </a:pP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Create</a:t>
            </a:r>
            <a:r>
              <a:rPr sz="4950" spc="-8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adaptive</a:t>
            </a:r>
            <a:r>
              <a:rPr sz="495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interfaces?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434" y="373047"/>
            <a:ext cx="11660505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9356" y="1190823"/>
            <a:ext cx="17633315" cy="3218815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709930" indent="-697230">
              <a:lnSpc>
                <a:spcPct val="100000"/>
              </a:lnSpc>
              <a:spcBef>
                <a:spcPts val="3045"/>
              </a:spcBef>
              <a:buClr>
                <a:srgbClr val="5E5E5E"/>
              </a:buClr>
              <a:buFont typeface="Arial"/>
              <a:buAutoNum type="arabicPeriod" startAt="3"/>
              <a:tabLst>
                <a:tab pos="70993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r>
              <a:rPr sz="4950" b="1" spc="-20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Theory</a:t>
            </a:r>
            <a:r>
              <a:rPr sz="4950" b="1" spc="-2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Building</a:t>
            </a:r>
            <a:endParaRPr sz="4950">
              <a:latin typeface="Arial"/>
              <a:cs typeface="Arial"/>
            </a:endParaRPr>
          </a:p>
          <a:p>
            <a:pPr marL="4674870" lvl="1" indent="-565785">
              <a:lnSpc>
                <a:spcPct val="100000"/>
              </a:lnSpc>
              <a:spcBef>
                <a:spcPts val="2945"/>
              </a:spcBef>
              <a:buChar char="•"/>
              <a:tabLst>
                <a:tab pos="4674870" algn="l"/>
                <a:tab pos="6315710" algn="l"/>
                <a:tab pos="12590145" algn="l"/>
              </a:tabLst>
            </a:pP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Does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</a:t>
            </a:r>
            <a:r>
              <a:rPr sz="4950" spc="-30" dirty="0">
                <a:solidFill>
                  <a:srgbClr val="2E2E2E"/>
                </a:solidFill>
                <a:latin typeface="Arial"/>
                <a:cs typeface="Arial"/>
              </a:rPr>
              <a:t>mouse-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path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efficiency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nudge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behaviour?</a:t>
            </a:r>
            <a:endParaRPr sz="4950">
              <a:latin typeface="Arial"/>
              <a:cs typeface="Arial"/>
            </a:endParaRPr>
          </a:p>
          <a:p>
            <a:pPr marL="5981065" lvl="2" indent="-565150">
              <a:lnSpc>
                <a:spcPct val="100000"/>
              </a:lnSpc>
              <a:spcBef>
                <a:spcPts val="2030"/>
              </a:spcBef>
              <a:buChar char="•"/>
              <a:tabLst>
                <a:tab pos="5981065" algn="l"/>
              </a:tabLst>
            </a:pPr>
            <a:r>
              <a:rPr sz="4450" dirty="0">
                <a:solidFill>
                  <a:srgbClr val="FDAD00"/>
                </a:solidFill>
                <a:latin typeface="Arial"/>
                <a:cs typeface="Arial"/>
              </a:rPr>
              <a:t>Easier:</a:t>
            </a:r>
            <a:r>
              <a:rPr sz="4450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encourage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purchases?</a:t>
            </a:r>
            <a:endParaRPr sz="44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92163" y="5142794"/>
            <a:ext cx="1736130" cy="6205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21300" y="5001104"/>
            <a:ext cx="14248765" cy="2434590"/>
          </a:xfrm>
          <a:prstGeom prst="rect">
            <a:avLst/>
          </a:prstGeom>
          <a:ln w="10470">
            <a:solidFill>
              <a:srgbClr val="5E5E5E"/>
            </a:solidFill>
          </a:ln>
        </p:spPr>
        <p:txBody>
          <a:bodyPr vert="horz" wrap="square" lIns="0" tIns="146050" rIns="0" bIns="0" rtlCol="0">
            <a:spAutoFit/>
          </a:bodyPr>
          <a:lstStyle/>
          <a:p>
            <a:pPr marL="3281045">
              <a:lnSpc>
                <a:spcPct val="100000"/>
              </a:lnSpc>
              <a:spcBef>
                <a:spcPts val="1150"/>
              </a:spcBef>
            </a:pPr>
            <a:r>
              <a:rPr sz="2650" dirty="0">
                <a:solidFill>
                  <a:srgbClr val="2E2E2E"/>
                </a:solidFill>
                <a:latin typeface="Arial"/>
                <a:cs typeface="Arial"/>
              </a:rPr>
              <a:t>A</a:t>
            </a:r>
            <a:r>
              <a:rPr sz="2650" spc="-1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2650" spc="-50" dirty="0">
                <a:solidFill>
                  <a:srgbClr val="2E2E2E"/>
                </a:solidFill>
                <a:latin typeface="Arial"/>
                <a:cs typeface="Arial"/>
              </a:rPr>
              <a:t>GREAT</a:t>
            </a:r>
            <a:r>
              <a:rPr sz="265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2E2E2E"/>
                </a:solidFill>
                <a:latin typeface="Arial"/>
                <a:cs typeface="Arial"/>
              </a:rPr>
              <a:t>PRODUCT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8152" y="5179214"/>
            <a:ext cx="2850698" cy="21373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9614" y="8926336"/>
            <a:ext cx="3872772" cy="138302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42242" y="7969652"/>
            <a:ext cx="14168755" cy="2434590"/>
          </a:xfrm>
          <a:prstGeom prst="rect">
            <a:avLst/>
          </a:prstGeom>
          <a:ln w="10470">
            <a:solidFill>
              <a:srgbClr val="5E5E5E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3281045">
              <a:lnSpc>
                <a:spcPct val="100000"/>
              </a:lnSpc>
              <a:spcBef>
                <a:spcPts val="1155"/>
              </a:spcBef>
            </a:pPr>
            <a:r>
              <a:rPr sz="2650" dirty="0">
                <a:solidFill>
                  <a:srgbClr val="2E2E2E"/>
                </a:solidFill>
                <a:latin typeface="Arial"/>
                <a:cs typeface="Arial"/>
              </a:rPr>
              <a:t>A</a:t>
            </a:r>
            <a:r>
              <a:rPr sz="2650" spc="-1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2650" spc="-50" dirty="0">
                <a:solidFill>
                  <a:srgbClr val="2E2E2E"/>
                </a:solidFill>
                <a:latin typeface="Arial"/>
                <a:cs typeface="Arial"/>
              </a:rPr>
              <a:t>GREAT</a:t>
            </a:r>
            <a:r>
              <a:rPr sz="265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2E2E2E"/>
                </a:solidFill>
                <a:latin typeface="Arial"/>
                <a:cs typeface="Arial"/>
              </a:rPr>
              <a:t>PRODUCT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9198" y="8147710"/>
            <a:ext cx="2849337" cy="213731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434" y="373047"/>
            <a:ext cx="11660505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9356" y="1190823"/>
            <a:ext cx="17633315" cy="3897629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709930" indent="-697230">
              <a:lnSpc>
                <a:spcPct val="100000"/>
              </a:lnSpc>
              <a:spcBef>
                <a:spcPts val="3045"/>
              </a:spcBef>
              <a:buClr>
                <a:srgbClr val="5E5E5E"/>
              </a:buClr>
              <a:buFont typeface="Arial"/>
              <a:buAutoNum type="arabicPeriod" startAt="3"/>
              <a:tabLst>
                <a:tab pos="70993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r>
              <a:rPr sz="4950" b="1" spc="-20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Theory</a:t>
            </a:r>
            <a:r>
              <a:rPr sz="4950" b="1" spc="-2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Building</a:t>
            </a:r>
            <a:endParaRPr sz="4950">
              <a:latin typeface="Arial"/>
              <a:cs typeface="Arial"/>
            </a:endParaRPr>
          </a:p>
          <a:p>
            <a:pPr marL="4674870" lvl="1" indent="-565785">
              <a:lnSpc>
                <a:spcPct val="100000"/>
              </a:lnSpc>
              <a:spcBef>
                <a:spcPts val="2945"/>
              </a:spcBef>
              <a:buChar char="•"/>
              <a:tabLst>
                <a:tab pos="4674870" algn="l"/>
                <a:tab pos="6315710" algn="l"/>
                <a:tab pos="12590145" algn="l"/>
              </a:tabLst>
            </a:pP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Does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</a:t>
            </a:r>
            <a:r>
              <a:rPr sz="4950" spc="-30" dirty="0">
                <a:solidFill>
                  <a:srgbClr val="2E2E2E"/>
                </a:solidFill>
                <a:latin typeface="Arial"/>
                <a:cs typeface="Arial"/>
              </a:rPr>
              <a:t>mouse-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path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efficiency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nudge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behaviour?</a:t>
            </a:r>
            <a:endParaRPr sz="4950">
              <a:latin typeface="Arial"/>
              <a:cs typeface="Arial"/>
            </a:endParaRPr>
          </a:p>
          <a:p>
            <a:pPr marL="5981065" lvl="2" indent="-565150">
              <a:lnSpc>
                <a:spcPct val="100000"/>
              </a:lnSpc>
              <a:spcBef>
                <a:spcPts val="2030"/>
              </a:spcBef>
              <a:buChar char="•"/>
              <a:tabLst>
                <a:tab pos="5981065" algn="l"/>
              </a:tabLst>
            </a:pPr>
            <a:r>
              <a:rPr sz="4450" dirty="0">
                <a:solidFill>
                  <a:srgbClr val="FDAD00"/>
                </a:solidFill>
                <a:latin typeface="Arial"/>
                <a:cs typeface="Arial"/>
              </a:rPr>
              <a:t>Easier:</a:t>
            </a:r>
            <a:r>
              <a:rPr sz="4450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encourage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purchases?</a:t>
            </a:r>
            <a:endParaRPr sz="4450">
              <a:latin typeface="Arial"/>
              <a:cs typeface="Arial"/>
            </a:endParaRPr>
          </a:p>
          <a:p>
            <a:pPr marL="5981065" lvl="2" indent="-565150">
              <a:lnSpc>
                <a:spcPct val="100000"/>
              </a:lnSpc>
              <a:spcBef>
                <a:spcPts val="5"/>
              </a:spcBef>
              <a:buChar char="•"/>
              <a:tabLst>
                <a:tab pos="5981065" algn="l"/>
              </a:tabLst>
            </a:pPr>
            <a:r>
              <a:rPr sz="4450" dirty="0">
                <a:solidFill>
                  <a:srgbClr val="FDAD00"/>
                </a:solidFill>
                <a:latin typeface="Arial"/>
                <a:cs typeface="Arial"/>
              </a:rPr>
              <a:t>Harder:</a:t>
            </a:r>
            <a:r>
              <a:rPr sz="4450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increase</a:t>
            </a:r>
            <a:r>
              <a:rPr sz="445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thoughtfulness?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3361" y="8275215"/>
            <a:ext cx="914654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5"/>
              </a:spcBef>
              <a:buChar char="•"/>
              <a:tabLst>
                <a:tab pos="577850" algn="l"/>
                <a:tab pos="4000500" algn="l"/>
              </a:tabLst>
            </a:pP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Extensions: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3d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pointing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VR?</a:t>
            </a:r>
            <a:endParaRPr sz="49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47888" y="3516960"/>
            <a:ext cx="2684420" cy="39775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9821" y="5417322"/>
            <a:ext cx="4955346" cy="205752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4393" y="6488672"/>
            <a:ext cx="17962245" cy="20148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spc="130" dirty="0">
                <a:solidFill>
                  <a:srgbClr val="FDAD00"/>
                </a:solidFill>
                <a:latin typeface="Arial"/>
                <a:cs typeface="Arial"/>
              </a:rPr>
              <a:t>NEX</a:t>
            </a:r>
            <a:r>
              <a:rPr sz="6400" b="1" spc="-575" dirty="0">
                <a:solidFill>
                  <a:srgbClr val="FDAD00"/>
                </a:solidFill>
                <a:latin typeface="Arial"/>
                <a:cs typeface="Arial"/>
              </a:rPr>
              <a:t>T</a:t>
            </a:r>
            <a:r>
              <a:rPr sz="6400" b="1" spc="130" dirty="0">
                <a:solidFill>
                  <a:srgbClr val="FDAD00"/>
                </a:solidFill>
                <a:latin typeface="Arial"/>
                <a:cs typeface="Arial"/>
              </a:rPr>
              <a:t>:</a:t>
            </a:r>
            <a:endParaRPr sz="6400">
              <a:latin typeface="Arial"/>
              <a:cs typeface="Arial"/>
            </a:endParaRPr>
          </a:p>
          <a:p>
            <a:pPr marL="962660">
              <a:lnSpc>
                <a:spcPct val="100000"/>
              </a:lnSpc>
              <a:spcBef>
                <a:spcPts val="265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GOMS:</a:t>
            </a:r>
            <a:r>
              <a:rPr sz="64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G</a:t>
            </a:r>
            <a:r>
              <a:rPr sz="5450" dirty="0">
                <a:latin typeface="Arial"/>
                <a:cs typeface="Arial"/>
              </a:rPr>
              <a:t>oals</a:t>
            </a:r>
            <a:r>
              <a:rPr sz="5450" spc="-105" dirty="0"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O</a:t>
            </a:r>
            <a:r>
              <a:rPr sz="5450" dirty="0">
                <a:latin typeface="Arial"/>
                <a:cs typeface="Arial"/>
              </a:rPr>
              <a:t>perators</a:t>
            </a:r>
            <a:r>
              <a:rPr sz="5450" spc="-110" dirty="0"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M</a:t>
            </a:r>
            <a:r>
              <a:rPr sz="5450" dirty="0">
                <a:latin typeface="Arial"/>
                <a:cs typeface="Arial"/>
              </a:rPr>
              <a:t>ethods</a:t>
            </a:r>
            <a:r>
              <a:rPr sz="5450" spc="-95" dirty="0">
                <a:latin typeface="Arial"/>
                <a:cs typeface="Arial"/>
              </a:rPr>
              <a:t> </a:t>
            </a:r>
            <a:r>
              <a:rPr sz="5450" dirty="0">
                <a:latin typeface="Arial"/>
                <a:cs typeface="Arial"/>
              </a:rPr>
              <a:t>and</a:t>
            </a:r>
            <a:r>
              <a:rPr sz="5450" spc="-105" dirty="0"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S</a:t>
            </a:r>
            <a:r>
              <a:rPr sz="5450" dirty="0">
                <a:latin typeface="Arial"/>
                <a:cs typeface="Arial"/>
              </a:rPr>
              <a:t>election</a:t>
            </a:r>
            <a:r>
              <a:rPr sz="5450" spc="-105" dirty="0">
                <a:latin typeface="Arial"/>
                <a:cs typeface="Arial"/>
              </a:rPr>
              <a:t> </a:t>
            </a:r>
            <a:r>
              <a:rPr sz="5450" spc="-10" dirty="0">
                <a:latin typeface="Arial"/>
                <a:cs typeface="Arial"/>
              </a:rPr>
              <a:t>rules</a:t>
            </a:r>
            <a:endParaRPr sz="54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6472" y="728596"/>
            <a:ext cx="4064635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spc="-10" dirty="0">
                <a:solidFill>
                  <a:srgbClr val="FDAD00"/>
                </a:solidFill>
                <a:latin typeface="Arial"/>
                <a:cs typeface="Arial"/>
              </a:rPr>
              <a:t>READING:</a:t>
            </a:r>
            <a:endParaRPr sz="6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6621" y="1802951"/>
            <a:ext cx="871093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  <a:tabLst>
                <a:tab pos="5668645" algn="l"/>
              </a:tabLst>
            </a:pP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READING</a:t>
            </a:r>
            <a:r>
              <a:rPr sz="4950" b="1" spc="-2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7E7E7E"/>
                </a:solidFill>
                <a:latin typeface="Arial"/>
                <a:cs typeface="Arial"/>
              </a:rPr>
              <a:t>OPTION</a:t>
            </a: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	</a:t>
            </a:r>
            <a:r>
              <a:rPr sz="4950" b="1" spc="-25" dirty="0">
                <a:solidFill>
                  <a:srgbClr val="7E7E7E"/>
                </a:solidFill>
                <a:latin typeface="Arial"/>
                <a:cs typeface="Arial"/>
              </a:rPr>
              <a:t>1:</a:t>
            </a:r>
            <a:endParaRPr sz="4950">
              <a:latin typeface="Arial"/>
              <a:cs typeface="Arial"/>
            </a:endParaRPr>
          </a:p>
          <a:p>
            <a:pPr marL="693420">
              <a:lnSpc>
                <a:spcPts val="5940"/>
              </a:lnSpc>
            </a:pP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A</a:t>
            </a:r>
            <a:r>
              <a:rPr sz="4950" b="1" spc="-2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Deep</a:t>
            </a:r>
            <a:r>
              <a:rPr sz="4950" b="1" spc="-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Dive</a:t>
            </a:r>
            <a:r>
              <a:rPr sz="4950" b="1" spc="-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Into</a:t>
            </a:r>
            <a:r>
              <a:rPr sz="4950" b="1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spc="-20" dirty="0">
                <a:solidFill>
                  <a:srgbClr val="7E7E7E"/>
                </a:solidFill>
                <a:latin typeface="Arial"/>
                <a:cs typeface="Arial"/>
              </a:rPr>
              <a:t>Fitts’</a:t>
            </a:r>
            <a:r>
              <a:rPr sz="4950" b="1" spc="-3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7E7E7E"/>
                </a:solidFill>
                <a:latin typeface="Arial"/>
                <a:cs typeface="Arial"/>
              </a:rPr>
              <a:t>Law</a:t>
            </a:r>
            <a:endParaRPr sz="4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0117" y="3392357"/>
            <a:ext cx="7891145" cy="70294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95"/>
              </a:lnSpc>
            </a:pPr>
            <a:r>
              <a:rPr sz="4950" b="1" spc="-10" dirty="0">
                <a:solidFill>
                  <a:srgbClr val="FFFFFF"/>
                </a:solidFill>
                <a:latin typeface="Arial"/>
                <a:cs typeface="Arial"/>
              </a:rPr>
              <a:t>https://timmarco.com/fitts/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GOMS:</a:t>
            </a:r>
            <a:r>
              <a:rPr sz="640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DAD00"/>
                </a:solidFill>
                <a:latin typeface="Arial"/>
                <a:cs typeface="Arial"/>
              </a:rPr>
              <a:t>G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</a:t>
            </a:r>
            <a:r>
              <a:rPr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als</a:t>
            </a:r>
            <a:r>
              <a:rPr spc="-10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1" dirty="0">
                <a:solidFill>
                  <a:srgbClr val="FDAD00"/>
                </a:solidFill>
                <a:latin typeface="Arial"/>
                <a:cs typeface="Arial"/>
              </a:rPr>
              <a:t>O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spc="-11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M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ethods</a:t>
            </a:r>
            <a:r>
              <a:rPr spc="-9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spc="-10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1" dirty="0">
                <a:solidFill>
                  <a:srgbClr val="FDAD00"/>
                </a:solidFill>
                <a:latin typeface="Arial"/>
                <a:cs typeface="Arial"/>
              </a:rPr>
              <a:t>S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spc="-10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pc="-10" dirty="0"/>
              <a:t>rules</a:t>
            </a:r>
            <a:endParaRPr sz="64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513" y="2685782"/>
            <a:ext cx="6457624" cy="67092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699045" y="2639784"/>
            <a:ext cx="8406765" cy="44494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30"/>
              </a:spcBef>
              <a:buChar char="•"/>
              <a:tabLst>
                <a:tab pos="577850" algn="l"/>
              </a:tabLst>
            </a:pP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Analyse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times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for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input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tasks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for</a:t>
            </a:r>
            <a:r>
              <a:rPr sz="360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50" dirty="0">
                <a:solidFill>
                  <a:srgbClr val="2E2E2E"/>
                </a:solidFill>
                <a:latin typeface="Arial"/>
                <a:cs typeface="Arial"/>
              </a:rPr>
              <a:t>a</a:t>
            </a:r>
            <a:endParaRPr sz="3600">
              <a:latin typeface="Arial"/>
              <a:cs typeface="Arial"/>
            </a:endParaRPr>
          </a:p>
          <a:p>
            <a:pPr marL="577850">
              <a:lnSpc>
                <a:spcPct val="100000"/>
              </a:lnSpc>
              <a:spcBef>
                <a:spcPts val="35"/>
              </a:spcBef>
            </a:pPr>
            <a:r>
              <a:rPr sz="3600" b="1" dirty="0">
                <a:solidFill>
                  <a:srgbClr val="2E2E2E"/>
                </a:solidFill>
                <a:latin typeface="Arial"/>
                <a:cs typeface="Arial"/>
              </a:rPr>
              <a:t>skilled</a:t>
            </a:r>
            <a:r>
              <a:rPr sz="3600" b="1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2E2E2E"/>
                </a:solidFill>
                <a:latin typeface="Arial"/>
                <a:cs typeface="Arial"/>
              </a:rPr>
              <a:t>user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600">
              <a:latin typeface="Arial"/>
              <a:cs typeface="Arial"/>
            </a:endParaRPr>
          </a:p>
          <a:p>
            <a:pPr marL="577850" marR="979169" indent="-565785">
              <a:lnSpc>
                <a:spcPct val="100800"/>
              </a:lnSpc>
              <a:buChar char="•"/>
              <a:tabLst>
                <a:tab pos="577850" algn="l"/>
              </a:tabLst>
            </a:pP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Again,</a:t>
            </a:r>
            <a:r>
              <a:rPr sz="3600" spc="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grounded</a:t>
            </a:r>
            <a:r>
              <a:rPr sz="3600" spc="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600" spc="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information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processing</a:t>
            </a:r>
            <a:r>
              <a:rPr sz="360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models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from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cognitive psychology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2E2E2E"/>
              </a:buClr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Aims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 be easy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for designers</a:t>
            </a:r>
            <a:r>
              <a:rPr sz="360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apply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46" y="7494588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25459" y="3229882"/>
            <a:ext cx="10164445" cy="40976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7850" marR="183515" indent="-565785">
              <a:lnSpc>
                <a:spcPct val="100000"/>
              </a:lnSpc>
              <a:spcBef>
                <a:spcPts val="105"/>
              </a:spcBef>
              <a:buChar char="•"/>
              <a:tabLst>
                <a:tab pos="577850" algn="l"/>
              </a:tabLst>
            </a:pP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Decomposes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tasks</a:t>
            </a:r>
            <a:r>
              <a:rPr sz="44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into</a:t>
            </a:r>
            <a:r>
              <a:rPr sz="44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on</a:t>
            </a:r>
            <a:r>
              <a:rPr sz="4450" spc="-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atomic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r>
              <a:rPr sz="44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(operators)</a:t>
            </a:r>
            <a:r>
              <a:rPr sz="44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44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assigns</a:t>
            </a:r>
            <a:r>
              <a:rPr sz="44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times</a:t>
            </a:r>
            <a:endParaRPr sz="4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2E2E2E"/>
              </a:buClr>
              <a:buFont typeface="Arial"/>
              <a:buChar char="•"/>
            </a:pPr>
            <a:endParaRPr sz="44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Various</a:t>
            </a:r>
            <a:r>
              <a:rPr sz="4450" spc="-8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versions</a:t>
            </a:r>
            <a:r>
              <a:rPr sz="4450" spc="-8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445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varying</a:t>
            </a:r>
            <a:r>
              <a:rPr sz="445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complexity</a:t>
            </a:r>
            <a:endParaRPr sz="44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spcBef>
                <a:spcPts val="5"/>
              </a:spcBef>
              <a:buChar char="•"/>
              <a:tabLst>
                <a:tab pos="577850" algn="l"/>
              </a:tabLst>
            </a:pP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Simple:</a:t>
            </a:r>
            <a:r>
              <a:rPr sz="4450" spc="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KLM-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GOMS</a:t>
            </a:r>
            <a:endParaRPr sz="44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Complex:</a:t>
            </a:r>
            <a:r>
              <a:rPr sz="4450" spc="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CPM-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GOMS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AC8DEC-AB05-6817-6693-D309C9C8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F4B6B14F-3DEC-5FE4-91A2-657981E78D5C}"/>
              </a:ext>
            </a:extLst>
          </p:cNvPr>
          <p:cNvSpPr txBox="1">
            <a:spLocks/>
          </p:cNvSpPr>
          <p:nvPr/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GB" sz="6400">
                <a:solidFill>
                  <a:srgbClr val="FDAD00"/>
                </a:solidFill>
              </a:rPr>
              <a:t>GOMS:</a:t>
            </a:r>
            <a:r>
              <a:rPr lang="en-GB" sz="6400" spc="-145">
                <a:solidFill>
                  <a:srgbClr val="FDAD00"/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G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oals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O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lang="en-GB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Methods</a:t>
            </a:r>
            <a:r>
              <a:rPr lang="en-GB" spc="-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S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pc="-10"/>
              <a:t>rules</a:t>
            </a:r>
            <a:endParaRPr lang="en-GB" sz="6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46" y="7494588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72285" y="2637271"/>
            <a:ext cx="12152630" cy="613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GOALS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what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44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user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wants</a:t>
            </a:r>
            <a:r>
              <a:rPr sz="44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do</a:t>
            </a:r>
            <a:endParaRPr sz="4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FDAD00"/>
              </a:buClr>
              <a:buFont typeface="Arial"/>
              <a:buChar char="•"/>
            </a:pPr>
            <a:endParaRPr sz="44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Font typeface="Arial"/>
              <a:buChar char="•"/>
              <a:tabLst>
                <a:tab pos="577850" algn="l"/>
              </a:tabLst>
            </a:pPr>
            <a:r>
              <a:rPr sz="4450" b="1" spc="-20" dirty="0">
                <a:solidFill>
                  <a:srgbClr val="FDAD00"/>
                </a:solidFill>
                <a:latin typeface="Arial"/>
                <a:cs typeface="Arial"/>
              </a:rPr>
              <a:t>OPERATORS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4450" spc="-1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individual</a:t>
            </a:r>
            <a:r>
              <a:rPr sz="4450" spc="-1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endParaRPr sz="4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FDAD00"/>
              </a:buClr>
              <a:buFont typeface="Arial"/>
              <a:buChar char="•"/>
            </a:pPr>
            <a:endParaRPr sz="4450">
              <a:latin typeface="Arial"/>
              <a:cs typeface="Arial"/>
            </a:endParaRPr>
          </a:p>
          <a:p>
            <a:pPr marL="577850" marR="1889760" indent="-565785">
              <a:lnSpc>
                <a:spcPct val="100000"/>
              </a:lnSpc>
              <a:buFont typeface="Arial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METHODS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combine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r>
              <a:rPr sz="44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to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achieve</a:t>
            </a:r>
            <a:r>
              <a:rPr sz="445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goal</a:t>
            </a:r>
            <a:endParaRPr sz="4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FDAD00"/>
              </a:buClr>
              <a:buFont typeface="Arial"/>
              <a:buChar char="•"/>
            </a:pPr>
            <a:endParaRPr sz="4450">
              <a:latin typeface="Arial"/>
              <a:cs typeface="Arial"/>
            </a:endParaRPr>
          </a:p>
          <a:p>
            <a:pPr marL="577850" marR="5080" indent="-565785">
              <a:lnSpc>
                <a:spcPct val="100000"/>
              </a:lnSpc>
              <a:buFont typeface="Arial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SELECTION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RULES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choose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between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potential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METHODS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task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EBD893-A711-6D81-4A18-B96A4F1E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3DB7DA3F-F21C-93DA-8F96-7008C6CF5898}"/>
              </a:ext>
            </a:extLst>
          </p:cNvPr>
          <p:cNvSpPr txBox="1">
            <a:spLocks/>
          </p:cNvSpPr>
          <p:nvPr/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GB" sz="6400">
                <a:solidFill>
                  <a:srgbClr val="FDAD00"/>
                </a:solidFill>
              </a:rPr>
              <a:t>GOMS:</a:t>
            </a:r>
            <a:r>
              <a:rPr lang="en-GB" sz="6400" spc="-145">
                <a:solidFill>
                  <a:srgbClr val="FDAD00"/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G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oals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O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lang="en-GB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Methods</a:t>
            </a:r>
            <a:r>
              <a:rPr lang="en-GB" spc="-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S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pc="-10"/>
              <a:t>rules</a:t>
            </a:r>
            <a:endParaRPr lang="en-GB" sz="6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46" y="7494588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52660" y="1741655"/>
            <a:ext cx="14458315" cy="7740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62300" algn="l"/>
              </a:tabLst>
            </a:pP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Applying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5450" b="1" spc="-20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endParaRPr sz="5450" dirty="0">
              <a:latin typeface="Arial"/>
              <a:cs typeface="Arial"/>
            </a:endParaRPr>
          </a:p>
          <a:p>
            <a:pPr marL="3159125">
              <a:lnSpc>
                <a:spcPct val="100000"/>
              </a:lnSpc>
              <a:spcBef>
                <a:spcPts val="6130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KLM 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OPERATORS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:</a:t>
            </a:r>
            <a:endParaRPr sz="4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4450" dirty="0">
              <a:latin typeface="Arial"/>
              <a:cs typeface="Arial"/>
            </a:endParaRPr>
          </a:p>
          <a:p>
            <a:pPr marL="3355975" indent="-206375">
              <a:lnSpc>
                <a:spcPct val="100000"/>
              </a:lnSpc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K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press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 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key</a:t>
            </a:r>
            <a:endParaRPr sz="4450" dirty="0">
              <a:latin typeface="Arial"/>
              <a:cs typeface="Arial"/>
            </a:endParaRPr>
          </a:p>
          <a:p>
            <a:pPr marL="3355975" indent="-206375">
              <a:lnSpc>
                <a:spcPct val="100000"/>
              </a:lnSpc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</a:t>
            </a:r>
            <a:r>
              <a:rPr sz="4450" spc="-10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point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location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on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screen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mouse</a:t>
            </a:r>
            <a:endParaRPr sz="4450" dirty="0">
              <a:latin typeface="Arial"/>
              <a:cs typeface="Arial"/>
            </a:endParaRPr>
          </a:p>
          <a:p>
            <a:pPr marL="3159125" marR="1071245" indent="-9525">
              <a:lnSpc>
                <a:spcPct val="100000"/>
              </a:lnSpc>
              <a:spcBef>
                <a:spcPts val="5"/>
              </a:spcBef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	H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move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hands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home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position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on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the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keyboard</a:t>
            </a:r>
            <a:endParaRPr sz="4450" dirty="0">
              <a:latin typeface="Arial"/>
              <a:cs typeface="Arial"/>
            </a:endParaRPr>
          </a:p>
          <a:p>
            <a:pPr marL="3355975" indent="-206375">
              <a:lnSpc>
                <a:spcPct val="100000"/>
              </a:lnSpc>
              <a:spcBef>
                <a:spcPts val="5"/>
              </a:spcBef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M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mentally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preparing</a:t>
            </a:r>
            <a:r>
              <a:rPr sz="4450" spc="-4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perform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an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endParaRPr sz="4450" dirty="0">
              <a:latin typeface="Arial"/>
              <a:cs typeface="Arial"/>
            </a:endParaRPr>
          </a:p>
          <a:p>
            <a:pPr marL="3159125" marR="5080" indent="-9525">
              <a:lnSpc>
                <a:spcPct val="100000"/>
              </a:lnSpc>
              <a:spcBef>
                <a:spcPts val="5"/>
              </a:spcBef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	R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system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response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while</a:t>
            </a:r>
            <a:r>
              <a:rPr sz="4450" spc="-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waits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for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system.</a:t>
            </a:r>
            <a:endParaRPr sz="4450" dirty="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348558-013E-B371-83F8-9E70EA14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649CD42-B648-FC3F-80E9-117565182416}"/>
              </a:ext>
            </a:extLst>
          </p:cNvPr>
          <p:cNvSpPr txBox="1">
            <a:spLocks/>
          </p:cNvSpPr>
          <p:nvPr/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GB" sz="6400">
                <a:solidFill>
                  <a:srgbClr val="FDAD00"/>
                </a:solidFill>
              </a:rPr>
              <a:t>GOMS:</a:t>
            </a:r>
            <a:r>
              <a:rPr lang="en-GB" sz="6400" spc="-145">
                <a:solidFill>
                  <a:srgbClr val="FDAD00"/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G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oals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O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lang="en-GB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Methods</a:t>
            </a:r>
            <a:r>
              <a:rPr lang="en-GB" spc="-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S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pc="-10"/>
              <a:t>rules</a:t>
            </a:r>
            <a:endParaRPr lang="en-GB" sz="6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46" y="7494588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88589" y="2535538"/>
            <a:ext cx="14726919" cy="4959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r>
              <a:rPr sz="5450" b="1" spc="-1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Limitations?</a:t>
            </a:r>
            <a:endParaRPr sz="5450" dirty="0">
              <a:latin typeface="Arial"/>
              <a:cs typeface="Arial"/>
            </a:endParaRPr>
          </a:p>
          <a:p>
            <a:pPr marL="3748404" indent="-707390">
              <a:lnSpc>
                <a:spcPct val="100000"/>
              </a:lnSpc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No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Fatigue</a:t>
            </a:r>
            <a:endParaRPr sz="4450" dirty="0">
              <a:latin typeface="Arial"/>
              <a:cs typeface="Arial"/>
            </a:endParaRPr>
          </a:p>
          <a:p>
            <a:pPr marL="3748404" indent="-707390">
              <a:lnSpc>
                <a:spcPct val="100000"/>
              </a:lnSpc>
              <a:spcBef>
                <a:spcPts val="5"/>
              </a:spcBef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No</a:t>
            </a:r>
            <a:r>
              <a:rPr sz="445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Learning</a:t>
            </a:r>
            <a:r>
              <a:rPr sz="445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(expert</a:t>
            </a:r>
            <a:r>
              <a:rPr sz="445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users)</a:t>
            </a:r>
            <a:endParaRPr sz="4450" dirty="0">
              <a:latin typeface="Arial"/>
              <a:cs typeface="Arial"/>
            </a:endParaRPr>
          </a:p>
          <a:p>
            <a:pPr marL="3748404" indent="-707390">
              <a:lnSpc>
                <a:spcPct val="100000"/>
              </a:lnSpc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No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Errors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(expert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users)</a:t>
            </a:r>
            <a:endParaRPr sz="4450" dirty="0">
              <a:latin typeface="Arial"/>
              <a:cs typeface="Arial"/>
            </a:endParaRPr>
          </a:p>
          <a:p>
            <a:pPr marL="3748404" indent="-707390">
              <a:lnSpc>
                <a:spcPct val="100000"/>
              </a:lnSpc>
              <a:spcBef>
                <a:spcPts val="5"/>
              </a:spcBef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All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tasks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are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goal-directed</a:t>
            </a:r>
            <a:endParaRPr sz="4450" dirty="0">
              <a:latin typeface="Arial"/>
              <a:cs typeface="Arial"/>
            </a:endParaRPr>
          </a:p>
          <a:p>
            <a:pPr marL="3748404" marR="5080" indent="-708025">
              <a:lnSpc>
                <a:spcPct val="100000"/>
              </a:lnSpc>
              <a:spcBef>
                <a:spcPts val="5"/>
              </a:spcBef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Goal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is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clear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at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start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of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task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(no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problem solving)</a:t>
            </a:r>
            <a:endParaRPr sz="4450" dirty="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95921E-9290-1620-52B6-2FB79067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088C200-B6B7-7953-D8A0-83DEA949E6DD}"/>
              </a:ext>
            </a:extLst>
          </p:cNvPr>
          <p:cNvSpPr txBox="1">
            <a:spLocks/>
          </p:cNvSpPr>
          <p:nvPr/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GB" sz="6400">
                <a:solidFill>
                  <a:srgbClr val="FDAD00"/>
                </a:solidFill>
              </a:rPr>
              <a:t>GOMS:</a:t>
            </a:r>
            <a:r>
              <a:rPr lang="en-GB" sz="6400" spc="-145">
                <a:solidFill>
                  <a:srgbClr val="FDAD00"/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G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oals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O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lang="en-GB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Methods</a:t>
            </a:r>
            <a:r>
              <a:rPr lang="en-GB" spc="-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S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pc="-10"/>
              <a:t>rules</a:t>
            </a:r>
            <a:endParaRPr lang="en-GB" sz="6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076795" cy="11065510"/>
          </a:xfrm>
          <a:custGeom>
            <a:avLst/>
            <a:gdLst/>
            <a:ahLst/>
            <a:cxnLst/>
            <a:rect l="l" t="t" r="r" b="b"/>
            <a:pathLst>
              <a:path w="20076795" h="11065510">
                <a:moveTo>
                  <a:pt x="0" y="11065108"/>
                </a:moveTo>
                <a:lnTo>
                  <a:pt x="20076613" y="11065108"/>
                </a:lnTo>
                <a:lnTo>
                  <a:pt x="20076613" y="0"/>
                </a:lnTo>
                <a:lnTo>
                  <a:pt x="0" y="0"/>
                </a:lnTo>
                <a:lnTo>
                  <a:pt x="0" y="11065108"/>
                </a:lnTo>
                <a:close/>
              </a:path>
            </a:pathLst>
          </a:custGeom>
          <a:solidFill>
            <a:srgbClr val="FD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4201" y="1831327"/>
            <a:ext cx="8373745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50" dirty="0">
                <a:solidFill>
                  <a:srgbClr val="FFFFFF"/>
                </a:solidFill>
              </a:rPr>
              <a:t>Week</a:t>
            </a:r>
            <a:r>
              <a:rPr sz="7250" spc="-100" dirty="0">
                <a:solidFill>
                  <a:srgbClr val="FFFFFF"/>
                </a:solidFill>
              </a:rPr>
              <a:t> </a:t>
            </a:r>
            <a:r>
              <a:rPr sz="7250" dirty="0">
                <a:solidFill>
                  <a:srgbClr val="FFFFFF"/>
                </a:solidFill>
              </a:rPr>
              <a:t>2:</a:t>
            </a:r>
            <a:r>
              <a:rPr sz="7250" spc="-114" dirty="0">
                <a:solidFill>
                  <a:srgbClr val="FFFFFF"/>
                </a:solidFill>
              </a:rPr>
              <a:t> </a:t>
            </a:r>
            <a:r>
              <a:rPr sz="7250" dirty="0">
                <a:solidFill>
                  <a:srgbClr val="FFFFFF"/>
                </a:solidFill>
              </a:rPr>
              <a:t>First</a:t>
            </a:r>
            <a:r>
              <a:rPr sz="7250" spc="-105" dirty="0">
                <a:solidFill>
                  <a:srgbClr val="FFFFFF"/>
                </a:solidFill>
              </a:rPr>
              <a:t> </a:t>
            </a:r>
            <a:r>
              <a:rPr sz="7250" spc="-20" dirty="0">
                <a:solidFill>
                  <a:srgbClr val="FFFFFF"/>
                </a:solidFill>
              </a:rPr>
              <a:t>Wave</a:t>
            </a:r>
            <a:endParaRPr sz="7250"/>
          </a:p>
        </p:txBody>
      </p:sp>
      <p:sp>
        <p:nvSpPr>
          <p:cNvPr id="4" name="object 4"/>
          <p:cNvSpPr txBox="1"/>
          <p:nvPr/>
        </p:nvSpPr>
        <p:spPr>
          <a:xfrm>
            <a:off x="3552531" y="5965023"/>
            <a:ext cx="14561819" cy="1659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00"/>
              </a:spcBef>
            </a:pP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535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approaches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5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First</a:t>
            </a:r>
            <a:r>
              <a:rPr sz="53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Wave,</a:t>
            </a:r>
            <a:r>
              <a:rPr sz="5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sz="5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HCI</a:t>
            </a:r>
            <a:r>
              <a:rPr sz="5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started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53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investigate</a:t>
            </a:r>
            <a:r>
              <a:rPr sz="5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approaches</a:t>
            </a:r>
            <a:endParaRPr sz="5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7740" y="3160846"/>
            <a:ext cx="14392275" cy="16078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 marL="41910" marR="349250">
              <a:lnSpc>
                <a:spcPct val="100000"/>
              </a:lnSpc>
              <a:spcBef>
                <a:spcPts val="254"/>
              </a:spcBef>
              <a:tabLst>
                <a:tab pos="290195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Chunk</a:t>
            </a:r>
            <a:r>
              <a:rPr sz="4950" b="1" spc="-1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3: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Heuristic</a:t>
            </a:r>
            <a:r>
              <a:rPr sz="4950" b="1" spc="-1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models,</a:t>
            </a:r>
            <a:r>
              <a:rPr sz="4950" b="1" spc="-1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4950" b="1" spc="-1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disagreements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with</a:t>
            </a:r>
            <a:r>
              <a:rPr sz="495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495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first</a:t>
            </a:r>
            <a:r>
              <a:rPr sz="4950" b="1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0" dirty="0">
                <a:solidFill>
                  <a:srgbClr val="FDAD00"/>
                </a:solidFill>
                <a:latin typeface="Arial"/>
                <a:cs typeface="Arial"/>
              </a:rPr>
              <a:t>wave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063" y="1069705"/>
            <a:ext cx="8131175" cy="912494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0"/>
              </a:lnSpc>
            </a:pPr>
            <a:r>
              <a:rPr dirty="0">
                <a:solidFill>
                  <a:srgbClr val="FFFFFF"/>
                </a:solidFill>
              </a:rPr>
              <a:t>GOMS</a:t>
            </a:r>
            <a:r>
              <a:rPr spc="-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spc="-1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Fitts’</a:t>
            </a:r>
            <a:r>
              <a:rPr spc="-37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9562" y="1966414"/>
            <a:ext cx="10643870" cy="2037080"/>
          </a:xfrm>
          <a:prstGeom prst="rect">
            <a:avLst/>
          </a:prstGeom>
        </p:spPr>
        <p:txBody>
          <a:bodyPr vert="horz" wrap="square" lIns="0" tIns="26416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080"/>
              </a:spcBef>
              <a:buChar char="•"/>
              <a:tabLst>
                <a:tab pos="577850" algn="l"/>
              </a:tabLst>
            </a:pPr>
            <a:r>
              <a:rPr sz="4950" dirty="0">
                <a:latin typeface="Arial"/>
                <a:cs typeface="Arial"/>
              </a:rPr>
              <a:t>Grounded</a:t>
            </a:r>
            <a:r>
              <a:rPr sz="4950" spc="-7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in</a:t>
            </a:r>
            <a:r>
              <a:rPr sz="4950" spc="-70" dirty="0"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cognitive</a:t>
            </a:r>
            <a:r>
              <a:rPr sz="495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psychology</a:t>
            </a:r>
            <a:endParaRPr sz="4950" dirty="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spcBef>
                <a:spcPts val="1975"/>
              </a:spcBef>
              <a:buFont typeface="Arial"/>
              <a:buChar char="•"/>
              <a:tabLst>
                <a:tab pos="577850" algn="l"/>
                <a:tab pos="3068955" algn="l"/>
                <a:tab pos="5616575" algn="l"/>
              </a:tabLst>
            </a:pP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Narrow,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precise</a:t>
            </a:r>
            <a:r>
              <a:rPr sz="4950" spc="-10" dirty="0">
                <a:latin typeface="Arial"/>
                <a:cs typeface="Arial"/>
              </a:rPr>
              <a:t>,</a:t>
            </a:r>
            <a:r>
              <a:rPr sz="4950" dirty="0">
                <a:latin typeface="Arial"/>
                <a:cs typeface="Arial"/>
              </a:rPr>
              <a:t>	and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predictive</a:t>
            </a:r>
            <a:endParaRPr sz="4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9423" y="4750536"/>
            <a:ext cx="16505427" cy="897682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5"/>
              </a:lnSpc>
            </a:pPr>
            <a:r>
              <a:rPr lang="en-GB" sz="6400" b="1" dirty="0">
                <a:solidFill>
                  <a:srgbClr val="FFFFFF"/>
                </a:solidFill>
                <a:latin typeface="Arial"/>
                <a:cs typeface="Arial"/>
              </a:rPr>
              <a:t>Next: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General,</a:t>
            </a:r>
            <a:r>
              <a:rPr sz="6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Heuristic</a:t>
            </a:r>
            <a:r>
              <a:rPr sz="6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spc="-10" dirty="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6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784" y="5727020"/>
            <a:ext cx="18336260" cy="3876061"/>
          </a:xfrm>
          <a:prstGeom prst="rect">
            <a:avLst/>
          </a:prstGeom>
        </p:spPr>
        <p:txBody>
          <a:bodyPr vert="horz" wrap="square" lIns="0" tIns="363855" rIns="0" bIns="0" rtlCol="0">
            <a:spAutoFit/>
          </a:bodyPr>
          <a:lstStyle/>
          <a:p>
            <a:pPr marL="1289685" indent="-565150">
              <a:lnSpc>
                <a:spcPct val="100000"/>
              </a:lnSpc>
              <a:spcBef>
                <a:spcPts val="2865"/>
              </a:spcBef>
              <a:buChar char="•"/>
              <a:tabLst>
                <a:tab pos="1289685" algn="l"/>
              </a:tabLst>
            </a:pPr>
            <a:r>
              <a:rPr sz="4950" dirty="0">
                <a:latin typeface="Arial"/>
                <a:cs typeface="Arial"/>
              </a:rPr>
              <a:t>Grounded</a:t>
            </a:r>
            <a:r>
              <a:rPr sz="4950" spc="-10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in</a:t>
            </a:r>
            <a:r>
              <a:rPr sz="4950" spc="-95" dirty="0"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cognitive</a:t>
            </a:r>
            <a:r>
              <a:rPr sz="495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psychology</a:t>
            </a:r>
            <a:endParaRPr sz="4950" dirty="0">
              <a:latin typeface="Arial"/>
              <a:cs typeface="Arial"/>
            </a:endParaRPr>
          </a:p>
          <a:p>
            <a:pPr marL="1289685" indent="-565150">
              <a:lnSpc>
                <a:spcPct val="100000"/>
              </a:lnSpc>
              <a:spcBef>
                <a:spcPts val="2765"/>
              </a:spcBef>
              <a:buFont typeface="Arial"/>
              <a:buChar char="•"/>
              <a:tabLst>
                <a:tab pos="1289685" algn="l"/>
                <a:tab pos="4011929" algn="l"/>
              </a:tabLst>
            </a:pP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Broader,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generalising,</a:t>
            </a:r>
            <a:r>
              <a:rPr sz="4950" b="1" spc="-3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prescriptive</a:t>
            </a:r>
            <a:endParaRPr sz="4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4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932430" algn="l"/>
              </a:tabLst>
            </a:pP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Reading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Option</a:t>
            </a:r>
            <a:r>
              <a:rPr sz="5450" b="1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3:</a:t>
            </a:r>
            <a:r>
              <a:rPr sz="5450" b="1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7E7E7E"/>
                </a:solidFill>
                <a:latin typeface="Arial"/>
                <a:cs typeface="Arial"/>
              </a:rPr>
              <a:t>Carroll</a:t>
            </a:r>
            <a:r>
              <a:rPr sz="3950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7E7E7E"/>
                </a:solidFill>
                <a:latin typeface="Arial"/>
                <a:cs typeface="Arial"/>
              </a:rPr>
              <a:t>&amp;</a:t>
            </a:r>
            <a:r>
              <a:rPr sz="39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7E7E7E"/>
                </a:solidFill>
                <a:latin typeface="Arial"/>
                <a:cs typeface="Arial"/>
              </a:rPr>
              <a:t>Campbell:</a:t>
            </a:r>
            <a:r>
              <a:rPr sz="395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7E7E7E"/>
                </a:solidFill>
                <a:latin typeface="Arial"/>
                <a:cs typeface="Arial"/>
              </a:rPr>
              <a:t>Softening</a:t>
            </a:r>
            <a:r>
              <a:rPr sz="3950" i="1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7E7E7E"/>
                </a:solidFill>
                <a:latin typeface="Arial"/>
                <a:cs typeface="Arial"/>
              </a:rPr>
              <a:t>Up</a:t>
            </a:r>
            <a:r>
              <a:rPr sz="3950" i="1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7E7E7E"/>
                </a:solidFill>
                <a:latin typeface="Arial"/>
                <a:cs typeface="Arial"/>
              </a:rPr>
              <a:t>Hard</a:t>
            </a:r>
            <a:r>
              <a:rPr sz="3950" i="1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7E7E7E"/>
                </a:solidFill>
                <a:latin typeface="Arial"/>
                <a:cs typeface="Arial"/>
              </a:rPr>
              <a:t>Science</a:t>
            </a:r>
            <a:r>
              <a:rPr sz="3950" i="1" spc="-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spc="-10" dirty="0">
                <a:solidFill>
                  <a:srgbClr val="7E7E7E"/>
                </a:solidFill>
                <a:latin typeface="Arial"/>
                <a:cs typeface="Arial"/>
              </a:rPr>
              <a:t>(1986)</a:t>
            </a:r>
            <a:endParaRPr sz="3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783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30"/>
              </a:spcBef>
            </a:pPr>
            <a:r>
              <a:rPr dirty="0"/>
              <a:t>Direct</a:t>
            </a:r>
            <a:r>
              <a:rPr spc="-105" dirty="0"/>
              <a:t> </a:t>
            </a:r>
            <a:r>
              <a:rPr dirty="0"/>
              <a:t>Manipulation:</a:t>
            </a:r>
            <a:r>
              <a:rPr spc="-114" dirty="0"/>
              <a:t> </a:t>
            </a:r>
            <a:r>
              <a:rPr sz="5450" dirty="0">
                <a:solidFill>
                  <a:srgbClr val="000000"/>
                </a:solidFill>
              </a:rPr>
              <a:t>a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foundational</a:t>
            </a:r>
            <a:r>
              <a:rPr sz="5450" spc="-5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GUI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10" dirty="0">
                <a:solidFill>
                  <a:srgbClr val="000000"/>
                </a:solidFill>
              </a:rPr>
              <a:t>theory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0520" y="4586247"/>
            <a:ext cx="4020819" cy="40208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0577" y="3872970"/>
            <a:ext cx="9103073" cy="54618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340" y="2804155"/>
            <a:ext cx="4549998" cy="7954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7E98C8-2B9E-C782-7AA0-09173E39D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0" y="7483475"/>
            <a:ext cx="5706271" cy="2962688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783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30"/>
              </a:spcBef>
            </a:pPr>
            <a:r>
              <a:rPr dirty="0"/>
              <a:t>Direct</a:t>
            </a:r>
            <a:r>
              <a:rPr spc="-105" dirty="0"/>
              <a:t> </a:t>
            </a:r>
            <a:r>
              <a:rPr dirty="0"/>
              <a:t>Manipulation:</a:t>
            </a:r>
            <a:r>
              <a:rPr spc="-114" dirty="0"/>
              <a:t> </a:t>
            </a:r>
            <a:r>
              <a:rPr sz="5450" dirty="0">
                <a:solidFill>
                  <a:srgbClr val="000000"/>
                </a:solidFill>
              </a:rPr>
              <a:t>a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foundational</a:t>
            </a:r>
            <a:r>
              <a:rPr sz="5450" spc="-5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GUI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10" dirty="0">
                <a:solidFill>
                  <a:srgbClr val="000000"/>
                </a:solidFill>
              </a:rPr>
              <a:t>theory</a:t>
            </a:r>
            <a:endParaRPr sz="54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D0071A-7FA3-6603-66AD-B9CC969F2FD3}"/>
              </a:ext>
            </a:extLst>
          </p:cNvPr>
          <p:cNvSpPr/>
          <p:nvPr/>
        </p:nvSpPr>
        <p:spPr>
          <a:xfrm>
            <a:off x="12152719" y="2136997"/>
            <a:ext cx="7951381" cy="9172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85650" y="2149475"/>
            <a:ext cx="7437638" cy="8555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21 0.01264 L 0.00821 0.01264 C 0.02006 -0.01179 0.03079 -0.03818 0.0439 -0.06064 C 0.07904 -0.12058 0.12081 -0.16423 0.16409 -0.20311 C 0.19441 -0.23021 0.2256 -0.25477 0.2594 -0.26277 C 0.26832 -0.26488 0.2774 -0.26403 0.28648 -0.2646 C 0.30061 -0.26193 0.34231 -0.25519 0.36118 -0.24733 C 0.45246 -0.20915 0.32762 -0.25617 0.41961 -0.21266 C 0.4328 -0.20648 0.44662 -0.20564 0.45973 -0.19918 C 0.48571 -0.18655 0.52495 -0.1544 0.54738 -0.13377 C 0.56807 -0.11482 0.58694 -0.09559 0.60478 -0.07018 C 0.60723 -0.06681 0.60913 -0.06246 0.61134 -0.05867 " pathEditMode="relative" ptsTypes="AAAAAAAAAA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783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30"/>
              </a:spcBef>
            </a:pPr>
            <a:r>
              <a:rPr dirty="0"/>
              <a:t>Direct</a:t>
            </a:r>
            <a:r>
              <a:rPr spc="-105" dirty="0"/>
              <a:t> </a:t>
            </a:r>
            <a:r>
              <a:rPr dirty="0"/>
              <a:t>Manipulation:</a:t>
            </a:r>
            <a:r>
              <a:rPr spc="-114" dirty="0"/>
              <a:t> </a:t>
            </a:r>
            <a:r>
              <a:rPr sz="5450" dirty="0">
                <a:solidFill>
                  <a:srgbClr val="000000"/>
                </a:solidFill>
              </a:rPr>
              <a:t>a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foundational</a:t>
            </a:r>
            <a:r>
              <a:rPr sz="5450" spc="-5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GUI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10" dirty="0">
                <a:solidFill>
                  <a:srgbClr val="000000"/>
                </a:solidFill>
              </a:rPr>
              <a:t>theory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6469" y="4002914"/>
            <a:ext cx="7361032" cy="401807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2450" y="4206875"/>
            <a:ext cx="7361032" cy="4019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7100" y="4649811"/>
            <a:ext cx="10048257" cy="55511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8611" y="2734192"/>
            <a:ext cx="218694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System Capabilities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3208" y="2856573"/>
            <a:ext cx="23056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endParaRPr sz="3300" dirty="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plans</a:t>
            </a:r>
            <a:endParaRPr sz="3300" dirty="0">
              <a:latin typeface="Arial"/>
              <a:cs typeface="Arial"/>
            </a:endParaRPr>
          </a:p>
        </p:txBody>
      </p:sp>
      <p:pic>
        <p:nvPicPr>
          <p:cNvPr id="7" name="Picture 6" descr="Businessman thumbs up">
            <a:extLst>
              <a:ext uri="{FF2B5EF4-FFF2-40B4-BE49-F238E27FC236}">
                <a16:creationId xmlns:a16="http://schemas.microsoft.com/office/drawing/2014/main" id="{45158EC5-620C-4F77-DF60-1F03EB9FA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8911" y="2856573"/>
            <a:ext cx="2556809" cy="7206413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455694E5-C853-CA3B-9A81-1C1B8DD7E30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250" y="4518874"/>
            <a:ext cx="2556809" cy="22716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D90FF2-5692-D1DD-284D-32A7EA6345A3}"/>
              </a:ext>
            </a:extLst>
          </p:cNvPr>
          <p:cNvSpPr txBox="1"/>
          <p:nvPr/>
        </p:nvSpPr>
        <p:spPr>
          <a:xfrm>
            <a:off x="15299770" y="3934099"/>
            <a:ext cx="1645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(Adnan)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grpSp>
        <p:nvGrpSpPr>
          <p:cNvPr id="3" name="object 3"/>
          <p:cNvGrpSpPr/>
          <p:nvPr/>
        </p:nvGrpSpPr>
        <p:grpSpPr>
          <a:xfrm>
            <a:off x="5540354" y="3338851"/>
            <a:ext cx="7539355" cy="6214110"/>
            <a:chOff x="5540354" y="3338851"/>
            <a:chExt cx="7539355" cy="62141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0354" y="3338851"/>
              <a:ext cx="7539037" cy="62140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48793" y="4421331"/>
              <a:ext cx="1710689" cy="2445385"/>
            </a:xfrm>
            <a:custGeom>
              <a:avLst/>
              <a:gdLst/>
              <a:ahLst/>
              <a:cxnLst/>
              <a:rect l="l" t="t" r="r" b="b"/>
              <a:pathLst>
                <a:path w="1710690" h="2445384">
                  <a:moveTo>
                    <a:pt x="1405192" y="0"/>
                  </a:moveTo>
                  <a:lnTo>
                    <a:pt x="1360185" y="8229"/>
                  </a:lnTo>
                  <a:lnTo>
                    <a:pt x="1306211" y="29504"/>
                  </a:lnTo>
                  <a:lnTo>
                    <a:pt x="1249242" y="58702"/>
                  </a:lnTo>
                  <a:lnTo>
                    <a:pt x="1195247" y="90701"/>
                  </a:lnTo>
                  <a:lnTo>
                    <a:pt x="1150200" y="120378"/>
                  </a:lnTo>
                  <a:lnTo>
                    <a:pt x="1091540" y="167655"/>
                  </a:lnTo>
                  <a:lnTo>
                    <a:pt x="1057752" y="200261"/>
                  </a:lnTo>
                  <a:lnTo>
                    <a:pt x="1020168" y="238563"/>
                  </a:lnTo>
                  <a:lnTo>
                    <a:pt x="992541" y="278056"/>
                  </a:lnTo>
                  <a:lnTo>
                    <a:pt x="978473" y="304296"/>
                  </a:lnTo>
                  <a:lnTo>
                    <a:pt x="955192" y="337170"/>
                  </a:lnTo>
                  <a:lnTo>
                    <a:pt x="916411" y="387108"/>
                  </a:lnTo>
                  <a:lnTo>
                    <a:pt x="878252" y="434971"/>
                  </a:lnTo>
                  <a:lnTo>
                    <a:pt x="844637" y="475293"/>
                  </a:lnTo>
                  <a:lnTo>
                    <a:pt x="813828" y="509815"/>
                  </a:lnTo>
                  <a:lnTo>
                    <a:pt x="784086" y="540281"/>
                  </a:lnTo>
                  <a:lnTo>
                    <a:pt x="753675" y="568433"/>
                  </a:lnTo>
                  <a:lnTo>
                    <a:pt x="720854" y="596014"/>
                  </a:lnTo>
                  <a:lnTo>
                    <a:pt x="683886" y="624766"/>
                  </a:lnTo>
                  <a:lnTo>
                    <a:pt x="667901" y="636578"/>
                  </a:lnTo>
                  <a:lnTo>
                    <a:pt x="325749" y="1141012"/>
                  </a:lnTo>
                  <a:lnTo>
                    <a:pt x="81358" y="1813347"/>
                  </a:lnTo>
                  <a:lnTo>
                    <a:pt x="0" y="2383801"/>
                  </a:lnTo>
                  <a:lnTo>
                    <a:pt x="875680" y="2444951"/>
                  </a:lnTo>
                  <a:lnTo>
                    <a:pt x="895993" y="2281920"/>
                  </a:lnTo>
                  <a:lnTo>
                    <a:pt x="1058920" y="1833661"/>
                  </a:lnTo>
                  <a:lnTo>
                    <a:pt x="1221847" y="1487389"/>
                  </a:lnTo>
                  <a:lnTo>
                    <a:pt x="1405192" y="1202057"/>
                  </a:lnTo>
                  <a:lnTo>
                    <a:pt x="1710628" y="916830"/>
                  </a:lnTo>
                  <a:lnTo>
                    <a:pt x="1323729" y="142613"/>
                  </a:lnTo>
                  <a:lnTo>
                    <a:pt x="1324584" y="110294"/>
                  </a:lnTo>
                  <a:lnTo>
                    <a:pt x="1320915" y="97981"/>
                  </a:lnTo>
                  <a:lnTo>
                    <a:pt x="1303365" y="92696"/>
                  </a:lnTo>
                  <a:lnTo>
                    <a:pt x="1262579" y="81463"/>
                  </a:lnTo>
                  <a:lnTo>
                    <a:pt x="1303585" y="61686"/>
                  </a:lnTo>
                  <a:lnTo>
                    <a:pt x="1323996" y="51557"/>
                  </a:lnTo>
                  <a:lnTo>
                    <a:pt x="1344042" y="40731"/>
                  </a:lnTo>
                  <a:lnTo>
                    <a:pt x="1391737" y="15811"/>
                  </a:lnTo>
                  <a:lnTo>
                    <a:pt x="1408919" y="4656"/>
                  </a:lnTo>
                  <a:lnTo>
                    <a:pt x="1405192" y="0"/>
                  </a:lnTo>
                  <a:close/>
                </a:path>
                <a:path w="1710690" h="2445384">
                  <a:moveTo>
                    <a:pt x="603901" y="683151"/>
                  </a:moveTo>
                  <a:lnTo>
                    <a:pt x="590557" y="692753"/>
                  </a:lnTo>
                  <a:lnTo>
                    <a:pt x="564979" y="708080"/>
                  </a:lnTo>
                  <a:lnTo>
                    <a:pt x="538046" y="721444"/>
                  </a:lnTo>
                  <a:lnTo>
                    <a:pt x="511898" y="735749"/>
                  </a:lnTo>
                  <a:lnTo>
                    <a:pt x="488676" y="753903"/>
                  </a:lnTo>
                  <a:lnTo>
                    <a:pt x="489109" y="759361"/>
                  </a:lnTo>
                  <a:lnTo>
                    <a:pt x="512719" y="748956"/>
                  </a:lnTo>
                  <a:lnTo>
                    <a:pt x="544674" y="730815"/>
                  </a:lnTo>
                  <a:lnTo>
                    <a:pt x="570139" y="713067"/>
                  </a:lnTo>
                  <a:lnTo>
                    <a:pt x="603901" y="683151"/>
                  </a:lnTo>
                  <a:close/>
                </a:path>
                <a:path w="1710690" h="2445384">
                  <a:moveTo>
                    <a:pt x="700675" y="588259"/>
                  </a:moveTo>
                  <a:lnTo>
                    <a:pt x="675228" y="614536"/>
                  </a:lnTo>
                  <a:lnTo>
                    <a:pt x="641066" y="648330"/>
                  </a:lnTo>
                  <a:lnTo>
                    <a:pt x="606072" y="681228"/>
                  </a:lnTo>
                  <a:lnTo>
                    <a:pt x="603901" y="683151"/>
                  </a:lnTo>
                  <a:lnTo>
                    <a:pt x="641034" y="656431"/>
                  </a:lnTo>
                  <a:lnTo>
                    <a:pt x="667901" y="636578"/>
                  </a:lnTo>
                  <a:lnTo>
                    <a:pt x="700675" y="588259"/>
                  </a:lnTo>
                  <a:close/>
                </a:path>
                <a:path w="1710690" h="2445384">
                  <a:moveTo>
                    <a:pt x="1018188" y="203763"/>
                  </a:moveTo>
                  <a:lnTo>
                    <a:pt x="967471" y="254794"/>
                  </a:lnTo>
                  <a:lnTo>
                    <a:pt x="954645" y="267125"/>
                  </a:lnTo>
                  <a:lnTo>
                    <a:pt x="942653" y="277399"/>
                  </a:lnTo>
                  <a:lnTo>
                    <a:pt x="898602" y="311974"/>
                  </a:lnTo>
                  <a:lnTo>
                    <a:pt x="855261" y="346376"/>
                  </a:lnTo>
                  <a:lnTo>
                    <a:pt x="818467" y="383743"/>
                  </a:lnTo>
                  <a:lnTo>
                    <a:pt x="788935" y="427634"/>
                  </a:lnTo>
                  <a:lnTo>
                    <a:pt x="763527" y="475293"/>
                  </a:lnTo>
                  <a:lnTo>
                    <a:pt x="739194" y="523788"/>
                  </a:lnTo>
                  <a:lnTo>
                    <a:pt x="712753" y="570453"/>
                  </a:lnTo>
                  <a:lnTo>
                    <a:pt x="700675" y="588259"/>
                  </a:lnTo>
                  <a:lnTo>
                    <a:pt x="708665" y="580009"/>
                  </a:lnTo>
                  <a:lnTo>
                    <a:pt x="741486" y="544912"/>
                  </a:lnTo>
                  <a:lnTo>
                    <a:pt x="773798" y="509408"/>
                  </a:lnTo>
                  <a:lnTo>
                    <a:pt x="899289" y="368988"/>
                  </a:lnTo>
                  <a:lnTo>
                    <a:pt x="939474" y="324793"/>
                  </a:lnTo>
                  <a:lnTo>
                    <a:pt x="980254" y="280696"/>
                  </a:lnTo>
                  <a:lnTo>
                    <a:pt x="998839" y="261078"/>
                  </a:lnTo>
                  <a:lnTo>
                    <a:pt x="1003683" y="248021"/>
                  </a:lnTo>
                  <a:lnTo>
                    <a:pt x="1018188" y="203763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48793" y="4421331"/>
              <a:ext cx="1710689" cy="2445385"/>
            </a:xfrm>
            <a:custGeom>
              <a:avLst/>
              <a:gdLst/>
              <a:ahLst/>
              <a:cxnLst/>
              <a:rect l="l" t="t" r="r" b="b"/>
              <a:pathLst>
                <a:path w="1710690" h="2445384">
                  <a:moveTo>
                    <a:pt x="0" y="2383801"/>
                  </a:moveTo>
                  <a:lnTo>
                    <a:pt x="81358" y="1813347"/>
                  </a:lnTo>
                  <a:lnTo>
                    <a:pt x="325749" y="1141012"/>
                  </a:lnTo>
                  <a:lnTo>
                    <a:pt x="712753" y="570453"/>
                  </a:lnTo>
                  <a:lnTo>
                    <a:pt x="739194" y="523788"/>
                  </a:lnTo>
                  <a:lnTo>
                    <a:pt x="763549" y="475249"/>
                  </a:lnTo>
                  <a:lnTo>
                    <a:pt x="788935" y="427634"/>
                  </a:lnTo>
                  <a:lnTo>
                    <a:pt x="818467" y="383743"/>
                  </a:lnTo>
                  <a:lnTo>
                    <a:pt x="855261" y="346376"/>
                  </a:lnTo>
                  <a:lnTo>
                    <a:pt x="898602" y="311974"/>
                  </a:lnTo>
                  <a:lnTo>
                    <a:pt x="925852" y="290665"/>
                  </a:lnTo>
                  <a:lnTo>
                    <a:pt x="942653" y="277399"/>
                  </a:lnTo>
                  <a:lnTo>
                    <a:pt x="954645" y="267125"/>
                  </a:lnTo>
                  <a:lnTo>
                    <a:pt x="967471" y="254794"/>
                  </a:lnTo>
                  <a:lnTo>
                    <a:pt x="986771" y="235357"/>
                  </a:lnTo>
                  <a:lnTo>
                    <a:pt x="1018188" y="203763"/>
                  </a:lnTo>
                  <a:lnTo>
                    <a:pt x="1003683" y="248021"/>
                  </a:lnTo>
                  <a:lnTo>
                    <a:pt x="978473" y="304296"/>
                  </a:lnTo>
                  <a:lnTo>
                    <a:pt x="955192" y="337170"/>
                  </a:lnTo>
                  <a:lnTo>
                    <a:pt x="916411" y="387108"/>
                  </a:lnTo>
                  <a:lnTo>
                    <a:pt x="878252" y="434971"/>
                  </a:lnTo>
                  <a:lnTo>
                    <a:pt x="844637" y="475293"/>
                  </a:lnTo>
                  <a:lnTo>
                    <a:pt x="813828" y="509815"/>
                  </a:lnTo>
                  <a:lnTo>
                    <a:pt x="784086" y="540281"/>
                  </a:lnTo>
                  <a:lnTo>
                    <a:pt x="753675" y="568433"/>
                  </a:lnTo>
                  <a:lnTo>
                    <a:pt x="720854" y="596014"/>
                  </a:lnTo>
                  <a:lnTo>
                    <a:pt x="683886" y="624766"/>
                  </a:lnTo>
                  <a:lnTo>
                    <a:pt x="641034" y="656431"/>
                  </a:lnTo>
                  <a:lnTo>
                    <a:pt x="590557" y="692753"/>
                  </a:lnTo>
                  <a:lnTo>
                    <a:pt x="538046" y="721444"/>
                  </a:lnTo>
                  <a:lnTo>
                    <a:pt x="511898" y="735749"/>
                  </a:lnTo>
                  <a:lnTo>
                    <a:pt x="488676" y="753903"/>
                  </a:lnTo>
                  <a:lnTo>
                    <a:pt x="489109" y="759361"/>
                  </a:lnTo>
                  <a:lnTo>
                    <a:pt x="512719" y="748956"/>
                  </a:lnTo>
                  <a:lnTo>
                    <a:pt x="570139" y="713067"/>
                  </a:lnTo>
                  <a:lnTo>
                    <a:pt x="606072" y="681228"/>
                  </a:lnTo>
                  <a:lnTo>
                    <a:pt x="641066" y="648330"/>
                  </a:lnTo>
                  <a:lnTo>
                    <a:pt x="675228" y="614536"/>
                  </a:lnTo>
                  <a:lnTo>
                    <a:pt x="708665" y="580009"/>
                  </a:lnTo>
                  <a:lnTo>
                    <a:pt x="741486" y="544912"/>
                  </a:lnTo>
                  <a:lnTo>
                    <a:pt x="773798" y="509408"/>
                  </a:lnTo>
                  <a:lnTo>
                    <a:pt x="826567" y="450202"/>
                  </a:lnTo>
                  <a:lnTo>
                    <a:pt x="861166" y="411413"/>
                  </a:lnTo>
                  <a:lnTo>
                    <a:pt x="899289" y="368988"/>
                  </a:lnTo>
                  <a:lnTo>
                    <a:pt x="939474" y="324793"/>
                  </a:lnTo>
                  <a:lnTo>
                    <a:pt x="980254" y="280696"/>
                  </a:lnTo>
                  <a:lnTo>
                    <a:pt x="1020168" y="238563"/>
                  </a:lnTo>
                  <a:lnTo>
                    <a:pt x="1057752" y="200261"/>
                  </a:lnTo>
                  <a:lnTo>
                    <a:pt x="1091540" y="167655"/>
                  </a:lnTo>
                  <a:lnTo>
                    <a:pt x="1150200" y="120378"/>
                  </a:lnTo>
                  <a:lnTo>
                    <a:pt x="1195247" y="90701"/>
                  </a:lnTo>
                  <a:lnTo>
                    <a:pt x="1249242" y="58702"/>
                  </a:lnTo>
                  <a:lnTo>
                    <a:pt x="1306211" y="29504"/>
                  </a:lnTo>
                  <a:lnTo>
                    <a:pt x="1360185" y="8229"/>
                  </a:lnTo>
                  <a:lnTo>
                    <a:pt x="1405192" y="0"/>
                  </a:lnTo>
                  <a:lnTo>
                    <a:pt x="1408919" y="4656"/>
                  </a:lnTo>
                  <a:lnTo>
                    <a:pt x="1391737" y="15811"/>
                  </a:lnTo>
                  <a:lnTo>
                    <a:pt x="1365995" y="29243"/>
                  </a:lnTo>
                  <a:lnTo>
                    <a:pt x="1344042" y="40731"/>
                  </a:lnTo>
                  <a:lnTo>
                    <a:pt x="1323996" y="51557"/>
                  </a:lnTo>
                  <a:lnTo>
                    <a:pt x="1303585" y="61686"/>
                  </a:lnTo>
                  <a:lnTo>
                    <a:pt x="1283038" y="71521"/>
                  </a:lnTo>
                  <a:lnTo>
                    <a:pt x="1262579" y="81463"/>
                  </a:lnTo>
                  <a:lnTo>
                    <a:pt x="1303365" y="92696"/>
                  </a:lnTo>
                  <a:lnTo>
                    <a:pt x="1320915" y="97981"/>
                  </a:lnTo>
                  <a:lnTo>
                    <a:pt x="1324584" y="110294"/>
                  </a:lnTo>
                  <a:lnTo>
                    <a:pt x="1323729" y="142613"/>
                  </a:lnTo>
                  <a:lnTo>
                    <a:pt x="1710628" y="916830"/>
                  </a:lnTo>
                  <a:lnTo>
                    <a:pt x="1405192" y="1202057"/>
                  </a:lnTo>
                  <a:lnTo>
                    <a:pt x="1221847" y="1487389"/>
                  </a:lnTo>
                  <a:lnTo>
                    <a:pt x="1058920" y="1833661"/>
                  </a:lnTo>
                  <a:lnTo>
                    <a:pt x="895993" y="2281920"/>
                  </a:lnTo>
                  <a:lnTo>
                    <a:pt x="875680" y="2444951"/>
                  </a:lnTo>
                  <a:lnTo>
                    <a:pt x="0" y="2383801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95032" y="4014223"/>
              <a:ext cx="2914015" cy="1263650"/>
            </a:xfrm>
            <a:custGeom>
              <a:avLst/>
              <a:gdLst/>
              <a:ahLst/>
              <a:cxnLst/>
              <a:rect l="l" t="t" r="r" b="b"/>
              <a:pathLst>
                <a:path w="2914015" h="1263650">
                  <a:moveTo>
                    <a:pt x="1303939" y="0"/>
                  </a:moveTo>
                  <a:lnTo>
                    <a:pt x="570453" y="142613"/>
                  </a:lnTo>
                  <a:lnTo>
                    <a:pt x="40731" y="325958"/>
                  </a:lnTo>
                  <a:lnTo>
                    <a:pt x="0" y="448258"/>
                  </a:lnTo>
                  <a:lnTo>
                    <a:pt x="305645" y="1263102"/>
                  </a:lnTo>
                  <a:lnTo>
                    <a:pt x="1181744" y="957562"/>
                  </a:lnTo>
                  <a:lnTo>
                    <a:pt x="1752197" y="937144"/>
                  </a:lnTo>
                  <a:lnTo>
                    <a:pt x="2444951" y="1140907"/>
                  </a:lnTo>
                  <a:lnTo>
                    <a:pt x="2913523" y="305645"/>
                  </a:lnTo>
                  <a:lnTo>
                    <a:pt x="2118888" y="61149"/>
                  </a:lnTo>
                  <a:lnTo>
                    <a:pt x="1303939" y="0"/>
                  </a:lnTo>
                  <a:close/>
                </a:path>
              </a:pathLst>
            </a:custGeom>
            <a:solidFill>
              <a:srgbClr val="00AFE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5032" y="4014223"/>
              <a:ext cx="2914015" cy="1263650"/>
            </a:xfrm>
            <a:custGeom>
              <a:avLst/>
              <a:gdLst/>
              <a:ahLst/>
              <a:cxnLst/>
              <a:rect l="l" t="t" r="r" b="b"/>
              <a:pathLst>
                <a:path w="2914015" h="1263650">
                  <a:moveTo>
                    <a:pt x="40731" y="325958"/>
                  </a:moveTo>
                  <a:lnTo>
                    <a:pt x="570453" y="142613"/>
                  </a:lnTo>
                  <a:lnTo>
                    <a:pt x="1303939" y="0"/>
                  </a:lnTo>
                  <a:lnTo>
                    <a:pt x="2118888" y="61149"/>
                  </a:lnTo>
                  <a:lnTo>
                    <a:pt x="2913523" y="305645"/>
                  </a:lnTo>
                  <a:lnTo>
                    <a:pt x="2444951" y="1140907"/>
                  </a:lnTo>
                  <a:lnTo>
                    <a:pt x="1752197" y="937144"/>
                  </a:lnTo>
                  <a:lnTo>
                    <a:pt x="1181744" y="957562"/>
                  </a:lnTo>
                  <a:lnTo>
                    <a:pt x="305645" y="1263102"/>
                  </a:lnTo>
                  <a:lnTo>
                    <a:pt x="0" y="448258"/>
                  </a:lnTo>
                  <a:lnTo>
                    <a:pt x="40731" y="32595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19042" y="4421331"/>
              <a:ext cx="1833880" cy="2099945"/>
            </a:xfrm>
            <a:custGeom>
              <a:avLst/>
              <a:gdLst/>
              <a:ahLst/>
              <a:cxnLst/>
              <a:rect l="l" t="t" r="r" b="b"/>
              <a:pathLst>
                <a:path w="1833879" h="2099945">
                  <a:moveTo>
                    <a:pt x="570453" y="0"/>
                  </a:moveTo>
                  <a:lnTo>
                    <a:pt x="40731" y="733799"/>
                  </a:lnTo>
                  <a:lnTo>
                    <a:pt x="0" y="754113"/>
                  </a:lnTo>
                  <a:lnTo>
                    <a:pt x="468572" y="1161849"/>
                  </a:lnTo>
                  <a:lnTo>
                    <a:pt x="774217" y="1569481"/>
                  </a:lnTo>
                  <a:lnTo>
                    <a:pt x="876098" y="2078994"/>
                  </a:lnTo>
                  <a:lnTo>
                    <a:pt x="1833766" y="2099412"/>
                  </a:lnTo>
                  <a:lnTo>
                    <a:pt x="1833766" y="1997530"/>
                  </a:lnTo>
                  <a:lnTo>
                    <a:pt x="1650316" y="1222999"/>
                  </a:lnTo>
                  <a:lnTo>
                    <a:pt x="1405821" y="713381"/>
                  </a:lnTo>
                  <a:lnTo>
                    <a:pt x="1059444" y="326168"/>
                  </a:lnTo>
                  <a:lnTo>
                    <a:pt x="1052638" y="326168"/>
                  </a:lnTo>
                  <a:lnTo>
                    <a:pt x="1045517" y="328262"/>
                  </a:lnTo>
                  <a:lnTo>
                    <a:pt x="1039130" y="326168"/>
                  </a:lnTo>
                  <a:lnTo>
                    <a:pt x="987362" y="307779"/>
                  </a:lnTo>
                  <a:lnTo>
                    <a:pt x="948966" y="291339"/>
                  </a:lnTo>
                  <a:lnTo>
                    <a:pt x="893297" y="256353"/>
                  </a:lnTo>
                  <a:lnTo>
                    <a:pt x="834133" y="205307"/>
                  </a:lnTo>
                  <a:lnTo>
                    <a:pt x="791369" y="168793"/>
                  </a:lnTo>
                  <a:lnTo>
                    <a:pt x="733485" y="122299"/>
                  </a:lnTo>
                  <a:lnTo>
                    <a:pt x="693036" y="91337"/>
                  </a:lnTo>
                  <a:lnTo>
                    <a:pt x="652244" y="60796"/>
                  </a:lnTo>
                  <a:lnTo>
                    <a:pt x="570453" y="0"/>
                  </a:lnTo>
                  <a:close/>
                </a:path>
              </a:pathLst>
            </a:custGeom>
            <a:solidFill>
              <a:srgbClr val="92D05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19042" y="4421331"/>
              <a:ext cx="1833880" cy="2099945"/>
            </a:xfrm>
            <a:custGeom>
              <a:avLst/>
              <a:gdLst/>
              <a:ahLst/>
              <a:cxnLst/>
              <a:rect l="l" t="t" r="r" b="b"/>
              <a:pathLst>
                <a:path w="1833879" h="2099945">
                  <a:moveTo>
                    <a:pt x="40731" y="733799"/>
                  </a:moveTo>
                  <a:lnTo>
                    <a:pt x="570453" y="0"/>
                  </a:lnTo>
                  <a:lnTo>
                    <a:pt x="611314" y="30432"/>
                  </a:lnTo>
                  <a:lnTo>
                    <a:pt x="652244" y="60796"/>
                  </a:lnTo>
                  <a:lnTo>
                    <a:pt x="693036" y="91337"/>
                  </a:lnTo>
                  <a:lnTo>
                    <a:pt x="733485" y="122299"/>
                  </a:lnTo>
                  <a:lnTo>
                    <a:pt x="791369" y="168793"/>
                  </a:lnTo>
                  <a:lnTo>
                    <a:pt x="834133" y="205307"/>
                  </a:lnTo>
                  <a:lnTo>
                    <a:pt x="866526" y="233832"/>
                  </a:lnTo>
                  <a:lnTo>
                    <a:pt x="893297" y="256353"/>
                  </a:lnTo>
                  <a:lnTo>
                    <a:pt x="948966" y="291339"/>
                  </a:lnTo>
                  <a:lnTo>
                    <a:pt x="987362" y="307779"/>
                  </a:lnTo>
                  <a:lnTo>
                    <a:pt x="1039130" y="326168"/>
                  </a:lnTo>
                  <a:lnTo>
                    <a:pt x="1045517" y="328262"/>
                  </a:lnTo>
                  <a:lnTo>
                    <a:pt x="1052638" y="326168"/>
                  </a:lnTo>
                  <a:lnTo>
                    <a:pt x="1059444" y="326168"/>
                  </a:lnTo>
                  <a:lnTo>
                    <a:pt x="1405821" y="713381"/>
                  </a:lnTo>
                  <a:lnTo>
                    <a:pt x="1650316" y="1222999"/>
                  </a:lnTo>
                  <a:lnTo>
                    <a:pt x="1833766" y="1997530"/>
                  </a:lnTo>
                  <a:lnTo>
                    <a:pt x="1833766" y="2099412"/>
                  </a:lnTo>
                  <a:lnTo>
                    <a:pt x="876098" y="2078994"/>
                  </a:lnTo>
                  <a:lnTo>
                    <a:pt x="774217" y="1569481"/>
                  </a:lnTo>
                  <a:lnTo>
                    <a:pt x="468572" y="1161849"/>
                  </a:lnTo>
                  <a:lnTo>
                    <a:pt x="0" y="75411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509195" y="6966966"/>
            <a:ext cx="218694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System Capabilities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57707" y="6574849"/>
            <a:ext cx="23056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endParaRPr sz="3300" dirty="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plans</a:t>
            </a:r>
            <a:endParaRPr sz="3300" dirty="0">
              <a:latin typeface="Arial"/>
              <a:cs typeface="Arial"/>
            </a:endParaRPr>
          </a:p>
        </p:txBody>
      </p:sp>
      <p:pic>
        <p:nvPicPr>
          <p:cNvPr id="13" name="object 7">
            <a:extLst>
              <a:ext uri="{FF2B5EF4-FFF2-40B4-BE49-F238E27FC236}">
                <a16:creationId xmlns:a16="http://schemas.microsoft.com/office/drawing/2014/main" id="{5B342D74-15C6-4F80-6929-F7B3B053FC7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2606" y="5439048"/>
            <a:ext cx="2556809" cy="227160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354328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8611" y="1534540"/>
            <a:ext cx="14514830" cy="855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466455" algn="l"/>
                <a:tab pos="10888345" algn="l"/>
              </a:tabLst>
            </a:pPr>
            <a:r>
              <a:rPr sz="5450" b="1" dirty="0">
                <a:latin typeface="Arial"/>
                <a:cs typeface="Arial"/>
              </a:rPr>
              <a:t>interaction</a:t>
            </a:r>
            <a:r>
              <a:rPr sz="5450" b="1" spc="-130" dirty="0">
                <a:latin typeface="Arial"/>
                <a:cs typeface="Arial"/>
              </a:rPr>
              <a:t> </a:t>
            </a:r>
            <a:r>
              <a:rPr sz="5450" b="1" dirty="0">
                <a:latin typeface="Arial"/>
                <a:cs typeface="Arial"/>
              </a:rPr>
              <a:t>problems</a:t>
            </a:r>
            <a:r>
              <a:rPr sz="5450" b="1" spc="-145" dirty="0">
                <a:latin typeface="Arial"/>
                <a:cs typeface="Arial"/>
              </a:rPr>
              <a:t> </a:t>
            </a:r>
            <a:r>
              <a:rPr sz="5450" b="1" spc="-25" dirty="0">
                <a:latin typeface="Arial"/>
                <a:cs typeface="Arial"/>
              </a:rPr>
              <a:t>and</a:t>
            </a:r>
            <a:r>
              <a:rPr sz="5450" b="1" dirty="0">
                <a:latin typeface="Arial"/>
                <a:cs typeface="Arial"/>
              </a:rPr>
              <a:t>	how</a:t>
            </a:r>
            <a:r>
              <a:rPr sz="5450" b="1" spc="-95" dirty="0">
                <a:latin typeface="Arial"/>
                <a:cs typeface="Arial"/>
              </a:rPr>
              <a:t> </a:t>
            </a:r>
            <a:r>
              <a:rPr sz="5450" b="1" spc="-25" dirty="0">
                <a:latin typeface="Arial"/>
                <a:cs typeface="Arial"/>
              </a:rPr>
              <a:t>to</a:t>
            </a:r>
            <a:r>
              <a:rPr sz="5450" b="1" dirty="0">
                <a:latin typeface="Arial"/>
                <a:cs typeface="Arial"/>
              </a:rPr>
              <a:t>	solve </a:t>
            </a:r>
            <a:r>
              <a:rPr sz="5450" b="1" spc="-20" dirty="0">
                <a:latin typeface="Arial"/>
                <a:cs typeface="Arial"/>
              </a:rPr>
              <a:t>them</a:t>
            </a:r>
            <a:endParaRPr sz="5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063" y="2494479"/>
            <a:ext cx="13301980" cy="912494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0"/>
              </a:lnSpc>
            </a:pP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Editing</a:t>
            </a:r>
            <a:r>
              <a:rPr sz="6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a video: Gulf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64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spc="-10" dirty="0">
                <a:solidFill>
                  <a:srgbClr val="FFFFFF"/>
                </a:solidFill>
                <a:latin typeface="Arial"/>
                <a:cs typeface="Arial"/>
              </a:rPr>
              <a:t>Evaluation</a:t>
            </a:r>
            <a:endParaRPr sz="6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1653" y="7197372"/>
            <a:ext cx="8905875" cy="2494915"/>
          </a:xfrm>
          <a:prstGeom prst="rect">
            <a:avLst/>
          </a:prstGeom>
          <a:ln w="7853">
            <a:solidFill>
              <a:srgbClr val="151515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Evaluated</a:t>
            </a:r>
            <a:r>
              <a:rPr sz="545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System</a:t>
            </a:r>
            <a:r>
              <a:rPr sz="5450" b="1" spc="-11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State</a:t>
            </a: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54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</a:pPr>
            <a:r>
              <a:rPr sz="3600" dirty="0">
                <a:solidFill>
                  <a:srgbClr val="151515"/>
                </a:solidFill>
                <a:latin typeface="Arial"/>
                <a:cs typeface="Arial"/>
              </a:rPr>
              <a:t>System</a:t>
            </a:r>
            <a:r>
              <a:rPr sz="36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151515"/>
                </a:solidFill>
                <a:latin typeface="Arial"/>
                <a:cs typeface="Arial"/>
              </a:rPr>
              <a:t>has</a:t>
            </a:r>
            <a:r>
              <a:rPr sz="36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36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151515"/>
                </a:solidFill>
                <a:latin typeface="Arial"/>
                <a:cs typeface="Arial"/>
              </a:rPr>
              <a:t>video</a:t>
            </a:r>
            <a:r>
              <a:rPr sz="3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151515"/>
                </a:solidFill>
                <a:latin typeface="Arial"/>
                <a:cs typeface="Arial"/>
              </a:rPr>
              <a:t>editor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93203" y="7197476"/>
            <a:ext cx="8905875" cy="2553970"/>
          </a:xfrm>
          <a:prstGeom prst="rect">
            <a:avLst/>
          </a:prstGeom>
          <a:ln w="7853">
            <a:solidFill>
              <a:srgbClr val="151515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  <a:tabLst>
                <a:tab pos="2343150" algn="l"/>
              </a:tabLst>
            </a:pP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Actual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System</a:t>
            </a:r>
            <a:r>
              <a:rPr sz="5450" b="1" spc="-2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State</a:t>
            </a:r>
            <a:endParaRPr sz="54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890"/>
              </a:spcBef>
            </a:pPr>
            <a:r>
              <a:rPr sz="3300" spc="70" dirty="0">
                <a:solidFill>
                  <a:srgbClr val="333333"/>
                </a:solidFill>
                <a:latin typeface="Arial"/>
                <a:cs typeface="Arial"/>
              </a:rPr>
              <a:t>Vendor</a:t>
            </a:r>
            <a:r>
              <a:rPr sz="33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95" dirty="0">
                <a:solidFill>
                  <a:srgbClr val="333333"/>
                </a:solidFill>
                <a:latin typeface="Arial"/>
                <a:cs typeface="Arial"/>
              </a:rPr>
              <a:t>wants</a:t>
            </a:r>
            <a:r>
              <a:rPr sz="33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9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sell</a:t>
            </a:r>
            <a:r>
              <a:rPr sz="33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05" dirty="0">
                <a:solidFill>
                  <a:srgbClr val="333333"/>
                </a:solidFill>
                <a:latin typeface="Arial"/>
                <a:cs typeface="Arial"/>
              </a:rPr>
              <a:t>you</a:t>
            </a:r>
            <a:r>
              <a:rPr sz="33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35" dirty="0">
                <a:solidFill>
                  <a:srgbClr val="333333"/>
                </a:solidFill>
                <a:latin typeface="Arial"/>
                <a:cs typeface="Arial"/>
              </a:rPr>
              <a:t>editor</a:t>
            </a:r>
            <a:endParaRPr sz="33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3392" y="4171339"/>
            <a:ext cx="1953454" cy="17355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7556" y="4230466"/>
            <a:ext cx="1952492" cy="173640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50058" y="4601462"/>
            <a:ext cx="4859020" cy="930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Hyper</a:t>
            </a:r>
            <a:r>
              <a:rPr sz="2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VideoEdit</a:t>
            </a:r>
            <a:r>
              <a:rPr sz="2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2097</a:t>
            </a:r>
            <a:r>
              <a:rPr sz="2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is</a:t>
            </a:r>
            <a:r>
              <a:rPr sz="2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spc="-20" dirty="0">
                <a:solidFill>
                  <a:srgbClr val="5E5E5E"/>
                </a:solidFill>
                <a:latin typeface="Arial"/>
                <a:cs typeface="Arial"/>
              </a:rPr>
              <a:t>only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£134</a:t>
            </a:r>
            <a:r>
              <a:rPr sz="2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a</a:t>
            </a:r>
            <a:r>
              <a:rPr sz="2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5E5E5E"/>
                </a:solidFill>
                <a:latin typeface="Arial"/>
                <a:cs typeface="Arial"/>
              </a:rPr>
              <a:t>month!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grpSp>
        <p:nvGrpSpPr>
          <p:cNvPr id="3" name="object 3"/>
          <p:cNvGrpSpPr/>
          <p:nvPr/>
        </p:nvGrpSpPr>
        <p:grpSpPr>
          <a:xfrm>
            <a:off x="5480251" y="3462258"/>
            <a:ext cx="7540625" cy="5018405"/>
            <a:chOff x="5480251" y="3462258"/>
            <a:chExt cx="7540625" cy="50184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0251" y="3462258"/>
              <a:ext cx="7540293" cy="50177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66591" y="5549569"/>
              <a:ext cx="1712595" cy="2445385"/>
            </a:xfrm>
            <a:custGeom>
              <a:avLst/>
              <a:gdLst/>
              <a:ahLst/>
              <a:cxnLst/>
              <a:rect l="l" t="t" r="r" b="b"/>
              <a:pathLst>
                <a:path w="1712595" h="2445384">
                  <a:moveTo>
                    <a:pt x="1406239" y="0"/>
                  </a:moveTo>
                  <a:lnTo>
                    <a:pt x="1361181" y="8229"/>
                  </a:lnTo>
                  <a:lnTo>
                    <a:pt x="1307158" y="29504"/>
                  </a:lnTo>
                  <a:lnTo>
                    <a:pt x="1250145" y="58702"/>
                  </a:lnTo>
                  <a:lnTo>
                    <a:pt x="1196116" y="90701"/>
                  </a:lnTo>
                  <a:lnTo>
                    <a:pt x="1151046" y="120378"/>
                  </a:lnTo>
                  <a:lnTo>
                    <a:pt x="1092372" y="167655"/>
                  </a:lnTo>
                  <a:lnTo>
                    <a:pt x="1058567" y="200261"/>
                  </a:lnTo>
                  <a:lnTo>
                    <a:pt x="1020961" y="238563"/>
                  </a:lnTo>
                  <a:lnTo>
                    <a:pt x="993335" y="278056"/>
                  </a:lnTo>
                  <a:lnTo>
                    <a:pt x="979220" y="304296"/>
                  </a:lnTo>
                  <a:lnTo>
                    <a:pt x="955882" y="337170"/>
                  </a:lnTo>
                  <a:lnTo>
                    <a:pt x="917040" y="387108"/>
                  </a:lnTo>
                  <a:lnTo>
                    <a:pt x="878852" y="434971"/>
                  </a:lnTo>
                  <a:lnTo>
                    <a:pt x="845221" y="475293"/>
                  </a:lnTo>
                  <a:lnTo>
                    <a:pt x="814402" y="509815"/>
                  </a:lnTo>
                  <a:lnTo>
                    <a:pt x="784653" y="540281"/>
                  </a:lnTo>
                  <a:lnTo>
                    <a:pt x="754232" y="568433"/>
                  </a:lnTo>
                  <a:lnTo>
                    <a:pt x="721397" y="596014"/>
                  </a:lnTo>
                  <a:lnTo>
                    <a:pt x="684404" y="624766"/>
                  </a:lnTo>
                  <a:lnTo>
                    <a:pt x="668397" y="636583"/>
                  </a:lnTo>
                  <a:lnTo>
                    <a:pt x="326063" y="1141012"/>
                  </a:lnTo>
                  <a:lnTo>
                    <a:pt x="81463" y="1813347"/>
                  </a:lnTo>
                  <a:lnTo>
                    <a:pt x="0" y="2383801"/>
                  </a:lnTo>
                  <a:lnTo>
                    <a:pt x="876308" y="2444951"/>
                  </a:lnTo>
                  <a:lnTo>
                    <a:pt x="896726" y="2281920"/>
                  </a:lnTo>
                  <a:lnTo>
                    <a:pt x="1059758" y="1833661"/>
                  </a:lnTo>
                  <a:lnTo>
                    <a:pt x="1222789" y="1487389"/>
                  </a:lnTo>
                  <a:lnTo>
                    <a:pt x="1406239" y="1202057"/>
                  </a:lnTo>
                  <a:lnTo>
                    <a:pt x="1711989" y="916830"/>
                  </a:lnTo>
                  <a:lnTo>
                    <a:pt x="1324671" y="142613"/>
                  </a:lnTo>
                  <a:lnTo>
                    <a:pt x="1325527" y="110294"/>
                  </a:lnTo>
                  <a:lnTo>
                    <a:pt x="1321857" y="97981"/>
                  </a:lnTo>
                  <a:lnTo>
                    <a:pt x="1304307" y="92696"/>
                  </a:lnTo>
                  <a:lnTo>
                    <a:pt x="1263521" y="81463"/>
                  </a:lnTo>
                  <a:lnTo>
                    <a:pt x="1304619" y="61686"/>
                  </a:lnTo>
                  <a:lnTo>
                    <a:pt x="1325041" y="51557"/>
                  </a:lnTo>
                  <a:lnTo>
                    <a:pt x="1345089" y="40731"/>
                  </a:lnTo>
                  <a:lnTo>
                    <a:pt x="1392824" y="15811"/>
                  </a:lnTo>
                  <a:lnTo>
                    <a:pt x="1410011" y="4656"/>
                  </a:lnTo>
                  <a:lnTo>
                    <a:pt x="1406239" y="0"/>
                  </a:lnTo>
                  <a:close/>
                </a:path>
                <a:path w="1712595" h="2445384">
                  <a:moveTo>
                    <a:pt x="604810" y="682810"/>
                  </a:moveTo>
                  <a:lnTo>
                    <a:pt x="590976" y="692753"/>
                  </a:lnTo>
                  <a:lnTo>
                    <a:pt x="565383" y="708080"/>
                  </a:lnTo>
                  <a:lnTo>
                    <a:pt x="538426" y="721444"/>
                  </a:lnTo>
                  <a:lnTo>
                    <a:pt x="512273" y="735749"/>
                  </a:lnTo>
                  <a:lnTo>
                    <a:pt x="489095" y="753903"/>
                  </a:lnTo>
                  <a:lnTo>
                    <a:pt x="489530" y="759361"/>
                  </a:lnTo>
                  <a:lnTo>
                    <a:pt x="513151" y="748956"/>
                  </a:lnTo>
                  <a:lnTo>
                    <a:pt x="545137" y="730815"/>
                  </a:lnTo>
                  <a:lnTo>
                    <a:pt x="570663" y="713067"/>
                  </a:lnTo>
                  <a:lnTo>
                    <a:pt x="604810" y="682810"/>
                  </a:lnTo>
                  <a:close/>
                </a:path>
                <a:path w="1712595" h="2445384">
                  <a:moveTo>
                    <a:pt x="701114" y="588374"/>
                  </a:moveTo>
                  <a:lnTo>
                    <a:pt x="675764" y="614536"/>
                  </a:lnTo>
                  <a:lnTo>
                    <a:pt x="641593" y="648330"/>
                  </a:lnTo>
                  <a:lnTo>
                    <a:pt x="606596" y="681228"/>
                  </a:lnTo>
                  <a:lnTo>
                    <a:pt x="604810" y="682810"/>
                  </a:lnTo>
                  <a:lnTo>
                    <a:pt x="641511" y="656431"/>
                  </a:lnTo>
                  <a:lnTo>
                    <a:pt x="668397" y="636583"/>
                  </a:lnTo>
                  <a:lnTo>
                    <a:pt x="701114" y="588374"/>
                  </a:lnTo>
                  <a:close/>
                </a:path>
                <a:path w="1712595" h="2445384">
                  <a:moveTo>
                    <a:pt x="1019026" y="203763"/>
                  </a:moveTo>
                  <a:lnTo>
                    <a:pt x="968260" y="254794"/>
                  </a:lnTo>
                  <a:lnTo>
                    <a:pt x="955431" y="267125"/>
                  </a:lnTo>
                  <a:lnTo>
                    <a:pt x="943438" y="277399"/>
                  </a:lnTo>
                  <a:lnTo>
                    <a:pt x="899369" y="311974"/>
                  </a:lnTo>
                  <a:lnTo>
                    <a:pt x="855994" y="346376"/>
                  </a:lnTo>
                  <a:lnTo>
                    <a:pt x="819138" y="383743"/>
                  </a:lnTo>
                  <a:lnTo>
                    <a:pt x="789549" y="427634"/>
                  </a:lnTo>
                  <a:lnTo>
                    <a:pt x="764094" y="475293"/>
                  </a:lnTo>
                  <a:lnTo>
                    <a:pt x="739729" y="523788"/>
                  </a:lnTo>
                  <a:lnTo>
                    <a:pt x="713276" y="570453"/>
                  </a:lnTo>
                  <a:lnTo>
                    <a:pt x="701114" y="588374"/>
                  </a:lnTo>
                  <a:lnTo>
                    <a:pt x="709220" y="580009"/>
                  </a:lnTo>
                  <a:lnTo>
                    <a:pt x="742070" y="544912"/>
                  </a:lnTo>
                  <a:lnTo>
                    <a:pt x="774426" y="509408"/>
                  </a:lnTo>
                  <a:lnTo>
                    <a:pt x="899991" y="368988"/>
                  </a:lnTo>
                  <a:lnTo>
                    <a:pt x="940206" y="324793"/>
                  </a:lnTo>
                  <a:lnTo>
                    <a:pt x="981018" y="280696"/>
                  </a:lnTo>
                  <a:lnTo>
                    <a:pt x="999674" y="261018"/>
                  </a:lnTo>
                  <a:lnTo>
                    <a:pt x="1004509" y="248021"/>
                  </a:lnTo>
                  <a:lnTo>
                    <a:pt x="1019026" y="203763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66591" y="5549569"/>
              <a:ext cx="1712595" cy="2445385"/>
            </a:xfrm>
            <a:custGeom>
              <a:avLst/>
              <a:gdLst/>
              <a:ahLst/>
              <a:cxnLst/>
              <a:rect l="l" t="t" r="r" b="b"/>
              <a:pathLst>
                <a:path w="1712595" h="2445384">
                  <a:moveTo>
                    <a:pt x="0" y="2383801"/>
                  </a:moveTo>
                  <a:lnTo>
                    <a:pt x="81463" y="1813347"/>
                  </a:lnTo>
                  <a:lnTo>
                    <a:pt x="326063" y="1141012"/>
                  </a:lnTo>
                  <a:lnTo>
                    <a:pt x="713276" y="570453"/>
                  </a:lnTo>
                  <a:lnTo>
                    <a:pt x="739729" y="523788"/>
                  </a:lnTo>
                  <a:lnTo>
                    <a:pt x="764116" y="475249"/>
                  </a:lnTo>
                  <a:lnTo>
                    <a:pt x="789549" y="427634"/>
                  </a:lnTo>
                  <a:lnTo>
                    <a:pt x="819138" y="383743"/>
                  </a:lnTo>
                  <a:lnTo>
                    <a:pt x="855994" y="346376"/>
                  </a:lnTo>
                  <a:lnTo>
                    <a:pt x="899369" y="311974"/>
                  </a:lnTo>
                  <a:lnTo>
                    <a:pt x="926633" y="290665"/>
                  </a:lnTo>
                  <a:lnTo>
                    <a:pt x="943438" y="277399"/>
                  </a:lnTo>
                  <a:lnTo>
                    <a:pt x="955431" y="267125"/>
                  </a:lnTo>
                  <a:lnTo>
                    <a:pt x="968260" y="254794"/>
                  </a:lnTo>
                  <a:lnTo>
                    <a:pt x="987576" y="235357"/>
                  </a:lnTo>
                  <a:lnTo>
                    <a:pt x="1019026" y="203763"/>
                  </a:lnTo>
                  <a:lnTo>
                    <a:pt x="1004509" y="248021"/>
                  </a:lnTo>
                  <a:lnTo>
                    <a:pt x="979220" y="304296"/>
                  </a:lnTo>
                  <a:lnTo>
                    <a:pt x="955882" y="337170"/>
                  </a:lnTo>
                  <a:lnTo>
                    <a:pt x="917040" y="387108"/>
                  </a:lnTo>
                  <a:lnTo>
                    <a:pt x="878852" y="434971"/>
                  </a:lnTo>
                  <a:lnTo>
                    <a:pt x="845221" y="475293"/>
                  </a:lnTo>
                  <a:lnTo>
                    <a:pt x="814402" y="509815"/>
                  </a:lnTo>
                  <a:lnTo>
                    <a:pt x="784653" y="540281"/>
                  </a:lnTo>
                  <a:lnTo>
                    <a:pt x="754232" y="568433"/>
                  </a:lnTo>
                  <a:lnTo>
                    <a:pt x="721397" y="596014"/>
                  </a:lnTo>
                  <a:lnTo>
                    <a:pt x="684404" y="624766"/>
                  </a:lnTo>
                  <a:lnTo>
                    <a:pt x="641511" y="656431"/>
                  </a:lnTo>
                  <a:lnTo>
                    <a:pt x="590976" y="692753"/>
                  </a:lnTo>
                  <a:lnTo>
                    <a:pt x="538426" y="721444"/>
                  </a:lnTo>
                  <a:lnTo>
                    <a:pt x="512273" y="735749"/>
                  </a:lnTo>
                  <a:lnTo>
                    <a:pt x="489095" y="753903"/>
                  </a:lnTo>
                  <a:lnTo>
                    <a:pt x="489530" y="759361"/>
                  </a:lnTo>
                  <a:lnTo>
                    <a:pt x="513151" y="748956"/>
                  </a:lnTo>
                  <a:lnTo>
                    <a:pt x="570663" y="713067"/>
                  </a:lnTo>
                  <a:lnTo>
                    <a:pt x="606596" y="681228"/>
                  </a:lnTo>
                  <a:lnTo>
                    <a:pt x="641593" y="648330"/>
                  </a:lnTo>
                  <a:lnTo>
                    <a:pt x="675764" y="614536"/>
                  </a:lnTo>
                  <a:lnTo>
                    <a:pt x="709220" y="580009"/>
                  </a:lnTo>
                  <a:lnTo>
                    <a:pt x="742070" y="544912"/>
                  </a:lnTo>
                  <a:lnTo>
                    <a:pt x="774426" y="509408"/>
                  </a:lnTo>
                  <a:lnTo>
                    <a:pt x="827217" y="450202"/>
                  </a:lnTo>
                  <a:lnTo>
                    <a:pt x="861839" y="411413"/>
                  </a:lnTo>
                  <a:lnTo>
                    <a:pt x="899991" y="368988"/>
                  </a:lnTo>
                  <a:lnTo>
                    <a:pt x="940206" y="324793"/>
                  </a:lnTo>
                  <a:lnTo>
                    <a:pt x="981018" y="280696"/>
                  </a:lnTo>
                  <a:lnTo>
                    <a:pt x="1020961" y="238563"/>
                  </a:lnTo>
                  <a:lnTo>
                    <a:pt x="1058567" y="200261"/>
                  </a:lnTo>
                  <a:lnTo>
                    <a:pt x="1092372" y="167655"/>
                  </a:lnTo>
                  <a:lnTo>
                    <a:pt x="1151046" y="120378"/>
                  </a:lnTo>
                  <a:lnTo>
                    <a:pt x="1196116" y="90701"/>
                  </a:lnTo>
                  <a:lnTo>
                    <a:pt x="1250145" y="58702"/>
                  </a:lnTo>
                  <a:lnTo>
                    <a:pt x="1307158" y="29504"/>
                  </a:lnTo>
                  <a:lnTo>
                    <a:pt x="1361181" y="8229"/>
                  </a:lnTo>
                  <a:lnTo>
                    <a:pt x="1406239" y="0"/>
                  </a:lnTo>
                  <a:lnTo>
                    <a:pt x="1410011" y="4656"/>
                  </a:lnTo>
                  <a:lnTo>
                    <a:pt x="1392824" y="15811"/>
                  </a:lnTo>
                  <a:lnTo>
                    <a:pt x="1367057" y="29243"/>
                  </a:lnTo>
                  <a:lnTo>
                    <a:pt x="1345089" y="40731"/>
                  </a:lnTo>
                  <a:lnTo>
                    <a:pt x="1325041" y="51557"/>
                  </a:lnTo>
                  <a:lnTo>
                    <a:pt x="1304619" y="61686"/>
                  </a:lnTo>
                  <a:lnTo>
                    <a:pt x="1284041" y="71521"/>
                  </a:lnTo>
                  <a:lnTo>
                    <a:pt x="1263521" y="81463"/>
                  </a:lnTo>
                  <a:lnTo>
                    <a:pt x="1304307" y="92696"/>
                  </a:lnTo>
                  <a:lnTo>
                    <a:pt x="1321857" y="97981"/>
                  </a:lnTo>
                  <a:lnTo>
                    <a:pt x="1325527" y="110294"/>
                  </a:lnTo>
                  <a:lnTo>
                    <a:pt x="1324671" y="142613"/>
                  </a:lnTo>
                  <a:lnTo>
                    <a:pt x="1711989" y="916830"/>
                  </a:lnTo>
                  <a:lnTo>
                    <a:pt x="1406239" y="1202057"/>
                  </a:lnTo>
                  <a:lnTo>
                    <a:pt x="1222789" y="1487389"/>
                  </a:lnTo>
                  <a:lnTo>
                    <a:pt x="1059758" y="1833661"/>
                  </a:lnTo>
                  <a:lnTo>
                    <a:pt x="896726" y="2281920"/>
                  </a:lnTo>
                  <a:lnTo>
                    <a:pt x="876308" y="2444951"/>
                  </a:lnTo>
                  <a:lnTo>
                    <a:pt x="0" y="2383801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14190" y="5142461"/>
              <a:ext cx="2914015" cy="1263650"/>
            </a:xfrm>
            <a:custGeom>
              <a:avLst/>
              <a:gdLst/>
              <a:ahLst/>
              <a:cxnLst/>
              <a:rect l="l" t="t" r="r" b="b"/>
              <a:pathLst>
                <a:path w="2914015" h="1263650">
                  <a:moveTo>
                    <a:pt x="1303939" y="0"/>
                  </a:moveTo>
                  <a:lnTo>
                    <a:pt x="570453" y="142613"/>
                  </a:lnTo>
                  <a:lnTo>
                    <a:pt x="40731" y="325958"/>
                  </a:lnTo>
                  <a:lnTo>
                    <a:pt x="0" y="448258"/>
                  </a:lnTo>
                  <a:lnTo>
                    <a:pt x="305540" y="1263102"/>
                  </a:lnTo>
                  <a:lnTo>
                    <a:pt x="1181639" y="957562"/>
                  </a:lnTo>
                  <a:lnTo>
                    <a:pt x="1752093" y="937144"/>
                  </a:lnTo>
                  <a:lnTo>
                    <a:pt x="2444847" y="1140907"/>
                  </a:lnTo>
                  <a:lnTo>
                    <a:pt x="2913523" y="305645"/>
                  </a:lnTo>
                  <a:lnTo>
                    <a:pt x="2118888" y="61149"/>
                  </a:lnTo>
                  <a:lnTo>
                    <a:pt x="1303939" y="0"/>
                  </a:lnTo>
                  <a:close/>
                </a:path>
              </a:pathLst>
            </a:custGeom>
            <a:solidFill>
              <a:srgbClr val="00AFE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14190" y="5142461"/>
              <a:ext cx="2914015" cy="1263650"/>
            </a:xfrm>
            <a:custGeom>
              <a:avLst/>
              <a:gdLst/>
              <a:ahLst/>
              <a:cxnLst/>
              <a:rect l="l" t="t" r="r" b="b"/>
              <a:pathLst>
                <a:path w="2914015" h="1263650">
                  <a:moveTo>
                    <a:pt x="40731" y="325958"/>
                  </a:moveTo>
                  <a:lnTo>
                    <a:pt x="570453" y="142613"/>
                  </a:lnTo>
                  <a:lnTo>
                    <a:pt x="1303939" y="0"/>
                  </a:lnTo>
                  <a:lnTo>
                    <a:pt x="2118888" y="61149"/>
                  </a:lnTo>
                  <a:lnTo>
                    <a:pt x="2913523" y="305645"/>
                  </a:lnTo>
                  <a:lnTo>
                    <a:pt x="2444847" y="1140907"/>
                  </a:lnTo>
                  <a:lnTo>
                    <a:pt x="1752093" y="937144"/>
                  </a:lnTo>
                  <a:lnTo>
                    <a:pt x="1181639" y="957562"/>
                  </a:lnTo>
                  <a:lnTo>
                    <a:pt x="305540" y="1263102"/>
                  </a:lnTo>
                  <a:lnTo>
                    <a:pt x="0" y="448258"/>
                  </a:lnTo>
                  <a:lnTo>
                    <a:pt x="40731" y="32595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38200" y="5549569"/>
              <a:ext cx="1833880" cy="2098675"/>
            </a:xfrm>
            <a:custGeom>
              <a:avLst/>
              <a:gdLst/>
              <a:ahLst/>
              <a:cxnLst/>
              <a:rect l="l" t="t" r="r" b="b"/>
              <a:pathLst>
                <a:path w="1833879" h="2098675">
                  <a:moveTo>
                    <a:pt x="570453" y="0"/>
                  </a:moveTo>
                  <a:lnTo>
                    <a:pt x="40731" y="733276"/>
                  </a:lnTo>
                  <a:lnTo>
                    <a:pt x="0" y="753694"/>
                  </a:lnTo>
                  <a:lnTo>
                    <a:pt x="468572" y="1161116"/>
                  </a:lnTo>
                  <a:lnTo>
                    <a:pt x="774217" y="1568433"/>
                  </a:lnTo>
                  <a:lnTo>
                    <a:pt x="876098" y="2077737"/>
                  </a:lnTo>
                  <a:lnTo>
                    <a:pt x="1833661" y="2098051"/>
                  </a:lnTo>
                  <a:lnTo>
                    <a:pt x="1833661" y="1996274"/>
                  </a:lnTo>
                  <a:lnTo>
                    <a:pt x="1650316" y="1222161"/>
                  </a:lnTo>
                  <a:lnTo>
                    <a:pt x="1405821" y="712962"/>
                  </a:lnTo>
                  <a:lnTo>
                    <a:pt x="1059444" y="325958"/>
                  </a:lnTo>
                  <a:lnTo>
                    <a:pt x="1052638" y="325958"/>
                  </a:lnTo>
                  <a:lnTo>
                    <a:pt x="1045517" y="328052"/>
                  </a:lnTo>
                  <a:lnTo>
                    <a:pt x="1039025" y="325958"/>
                  </a:lnTo>
                  <a:lnTo>
                    <a:pt x="987261" y="307574"/>
                  </a:lnTo>
                  <a:lnTo>
                    <a:pt x="948876" y="291146"/>
                  </a:lnTo>
                  <a:lnTo>
                    <a:pt x="893231" y="256196"/>
                  </a:lnTo>
                  <a:lnTo>
                    <a:pt x="834073" y="205186"/>
                  </a:lnTo>
                  <a:lnTo>
                    <a:pt x="791294" y="168683"/>
                  </a:lnTo>
                  <a:lnTo>
                    <a:pt x="733380" y="122195"/>
                  </a:lnTo>
                  <a:lnTo>
                    <a:pt x="692992" y="91248"/>
                  </a:lnTo>
                  <a:lnTo>
                    <a:pt x="652231" y="60744"/>
                  </a:lnTo>
                  <a:lnTo>
                    <a:pt x="570453" y="0"/>
                  </a:lnTo>
                  <a:close/>
                </a:path>
              </a:pathLst>
            </a:custGeom>
            <a:solidFill>
              <a:srgbClr val="92D05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38200" y="5549569"/>
              <a:ext cx="1833880" cy="2098675"/>
            </a:xfrm>
            <a:custGeom>
              <a:avLst/>
              <a:gdLst/>
              <a:ahLst/>
              <a:cxnLst/>
              <a:rect l="l" t="t" r="r" b="b"/>
              <a:pathLst>
                <a:path w="1833879" h="2098675">
                  <a:moveTo>
                    <a:pt x="40731" y="733276"/>
                  </a:moveTo>
                  <a:lnTo>
                    <a:pt x="570453" y="0"/>
                  </a:lnTo>
                  <a:lnTo>
                    <a:pt x="611313" y="30416"/>
                  </a:lnTo>
                  <a:lnTo>
                    <a:pt x="652231" y="60744"/>
                  </a:lnTo>
                  <a:lnTo>
                    <a:pt x="692992" y="91248"/>
                  </a:lnTo>
                  <a:lnTo>
                    <a:pt x="733380" y="122195"/>
                  </a:lnTo>
                  <a:lnTo>
                    <a:pt x="791294" y="168683"/>
                  </a:lnTo>
                  <a:lnTo>
                    <a:pt x="834073" y="205186"/>
                  </a:lnTo>
                  <a:lnTo>
                    <a:pt x="866468" y="233694"/>
                  </a:lnTo>
                  <a:lnTo>
                    <a:pt x="893231" y="256196"/>
                  </a:lnTo>
                  <a:lnTo>
                    <a:pt x="948876" y="291146"/>
                  </a:lnTo>
                  <a:lnTo>
                    <a:pt x="987261" y="307574"/>
                  </a:lnTo>
                  <a:lnTo>
                    <a:pt x="1039025" y="325958"/>
                  </a:lnTo>
                  <a:lnTo>
                    <a:pt x="1045517" y="328052"/>
                  </a:lnTo>
                  <a:lnTo>
                    <a:pt x="1052638" y="325958"/>
                  </a:lnTo>
                  <a:lnTo>
                    <a:pt x="1059444" y="325958"/>
                  </a:lnTo>
                  <a:lnTo>
                    <a:pt x="1405821" y="712962"/>
                  </a:lnTo>
                  <a:lnTo>
                    <a:pt x="1650316" y="1222161"/>
                  </a:lnTo>
                  <a:lnTo>
                    <a:pt x="1833661" y="1996274"/>
                  </a:lnTo>
                  <a:lnTo>
                    <a:pt x="1833661" y="2098051"/>
                  </a:lnTo>
                  <a:lnTo>
                    <a:pt x="876098" y="2077737"/>
                  </a:lnTo>
                  <a:lnTo>
                    <a:pt x="774217" y="1568433"/>
                  </a:lnTo>
                  <a:lnTo>
                    <a:pt x="468572" y="1161116"/>
                  </a:lnTo>
                  <a:lnTo>
                    <a:pt x="0" y="7536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0303" y="5609956"/>
            <a:ext cx="218694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System Capabilities</a:t>
            </a:r>
            <a:endParaRPr sz="3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43491" y="5134682"/>
            <a:ext cx="23056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plans</a:t>
            </a:r>
            <a:endParaRPr sz="3300">
              <a:latin typeface="Arial"/>
              <a:cs typeface="Arial"/>
            </a:endParaRPr>
          </a:p>
        </p:txBody>
      </p:sp>
      <p:pic>
        <p:nvPicPr>
          <p:cNvPr id="13" name="Picture 12" descr="Businessman thumbs up">
            <a:extLst>
              <a:ext uri="{FF2B5EF4-FFF2-40B4-BE49-F238E27FC236}">
                <a16:creationId xmlns:a16="http://schemas.microsoft.com/office/drawing/2014/main" id="{27005542-F53A-B86B-EE0E-5EF011D77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8911" y="2856573"/>
            <a:ext cx="2556809" cy="720641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354328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8611" y="1534540"/>
            <a:ext cx="14514830" cy="855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466455" algn="l"/>
                <a:tab pos="10888345" algn="l"/>
              </a:tabLst>
            </a:pPr>
            <a:r>
              <a:rPr sz="5450" b="1" dirty="0">
                <a:latin typeface="Arial"/>
                <a:cs typeface="Arial"/>
              </a:rPr>
              <a:t>interaction</a:t>
            </a:r>
            <a:r>
              <a:rPr sz="5450" b="1" spc="-130" dirty="0">
                <a:latin typeface="Arial"/>
                <a:cs typeface="Arial"/>
              </a:rPr>
              <a:t> </a:t>
            </a:r>
            <a:r>
              <a:rPr sz="5450" b="1" dirty="0">
                <a:latin typeface="Arial"/>
                <a:cs typeface="Arial"/>
              </a:rPr>
              <a:t>problems</a:t>
            </a:r>
            <a:r>
              <a:rPr sz="5450" b="1" spc="-145" dirty="0">
                <a:latin typeface="Arial"/>
                <a:cs typeface="Arial"/>
              </a:rPr>
              <a:t> </a:t>
            </a:r>
            <a:r>
              <a:rPr sz="5450" b="1" spc="-25" dirty="0">
                <a:latin typeface="Arial"/>
                <a:cs typeface="Arial"/>
              </a:rPr>
              <a:t>and</a:t>
            </a:r>
            <a:r>
              <a:rPr sz="5450" b="1" dirty="0">
                <a:latin typeface="Arial"/>
                <a:cs typeface="Arial"/>
              </a:rPr>
              <a:t>	how</a:t>
            </a:r>
            <a:r>
              <a:rPr sz="5450" b="1" spc="-95" dirty="0">
                <a:latin typeface="Arial"/>
                <a:cs typeface="Arial"/>
              </a:rPr>
              <a:t> </a:t>
            </a:r>
            <a:r>
              <a:rPr sz="5450" b="1" spc="-25" dirty="0">
                <a:latin typeface="Arial"/>
                <a:cs typeface="Arial"/>
              </a:rPr>
              <a:t>to</a:t>
            </a:r>
            <a:r>
              <a:rPr sz="5450" b="1" dirty="0">
                <a:latin typeface="Arial"/>
                <a:cs typeface="Arial"/>
              </a:rPr>
              <a:t>	solve </a:t>
            </a:r>
            <a:r>
              <a:rPr sz="5450" b="1" spc="-20" dirty="0">
                <a:latin typeface="Arial"/>
                <a:cs typeface="Arial"/>
              </a:rPr>
              <a:t>them</a:t>
            </a:r>
            <a:endParaRPr sz="5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063" y="2494479"/>
            <a:ext cx="13074650" cy="912494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0"/>
              </a:lnSpc>
            </a:pP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Editing</a:t>
            </a:r>
            <a:r>
              <a:rPr sz="6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a video: Gulf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64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spc="-10" dirty="0">
                <a:solidFill>
                  <a:srgbClr val="FFFFFF"/>
                </a:solidFill>
                <a:latin typeface="Arial"/>
                <a:cs typeface="Arial"/>
              </a:rPr>
              <a:t>Execution</a:t>
            </a:r>
            <a:endParaRPr sz="6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546" y="3694965"/>
            <a:ext cx="8905875" cy="5495287"/>
          </a:xfrm>
          <a:prstGeom prst="rect">
            <a:avLst/>
          </a:prstGeom>
          <a:ln w="7853">
            <a:solidFill>
              <a:srgbClr val="151515"/>
            </a:solidFill>
          </a:ln>
        </p:spPr>
        <p:txBody>
          <a:bodyPr vert="horz" wrap="square" lIns="0" tIns="17780" rIns="0" bIns="0" rtlCol="0" anchor="t">
            <a:spAutoFit/>
          </a:bodyPr>
          <a:lstStyle/>
          <a:p>
            <a:pPr marL="37465">
              <a:lnSpc>
                <a:spcPct val="100000"/>
              </a:lnSpc>
              <a:spcBef>
                <a:spcPts val="140"/>
              </a:spcBef>
              <a:tabLst>
                <a:tab pos="5624830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Expected</a:t>
            </a:r>
            <a:r>
              <a:rPr sz="5450" b="1" spc="-1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Action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5450" b="1" spc="-20" dirty="0">
                <a:solidFill>
                  <a:srgbClr val="FDAD00"/>
                </a:solidFill>
                <a:latin typeface="Arial"/>
                <a:cs typeface="Arial"/>
              </a:rPr>
              <a:t>Plan</a:t>
            </a: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5450">
              <a:latin typeface="Arial"/>
              <a:cs typeface="Arial"/>
            </a:endParaRPr>
          </a:p>
          <a:p>
            <a:pPr marL="386715" indent="-351155">
              <a:lnSpc>
                <a:spcPts val="3960"/>
              </a:lnSpc>
              <a:spcBef>
                <a:spcPts val="5"/>
              </a:spcBef>
              <a:buSzPct val="96969"/>
              <a:buAutoNum type="arabicPeriod"/>
              <a:tabLst>
                <a:tab pos="386715" algn="l"/>
              </a:tabLst>
            </a:pP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Run</a:t>
            </a:r>
            <a:r>
              <a:rPr sz="33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editing</a:t>
            </a:r>
            <a:r>
              <a:rPr sz="33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333333"/>
                </a:solidFill>
                <a:latin typeface="Arial"/>
                <a:cs typeface="Arial"/>
              </a:rPr>
              <a:t>app</a:t>
            </a:r>
            <a:endParaRPr sz="3300">
              <a:latin typeface="Arial"/>
              <a:cs typeface="Arial"/>
            </a:endParaRPr>
          </a:p>
          <a:p>
            <a:pPr marL="386715" indent="-351155">
              <a:lnSpc>
                <a:spcPts val="3954"/>
              </a:lnSpc>
              <a:buSzPct val="96969"/>
              <a:buAutoNum type="arabicPeriod"/>
              <a:tabLst>
                <a:tab pos="386715" algn="l"/>
              </a:tabLst>
            </a:pPr>
            <a:r>
              <a:rPr sz="3300" spc="90" dirty="0">
                <a:solidFill>
                  <a:srgbClr val="333333"/>
                </a:solidFill>
                <a:latin typeface="Arial"/>
                <a:cs typeface="Arial"/>
              </a:rPr>
              <a:t>load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33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333333"/>
                </a:solidFill>
                <a:latin typeface="Arial"/>
                <a:cs typeface="Arial"/>
              </a:rPr>
              <a:t>sections</a:t>
            </a:r>
            <a:endParaRPr sz="3300">
              <a:latin typeface="Arial"/>
              <a:cs typeface="Arial"/>
            </a:endParaRPr>
          </a:p>
          <a:p>
            <a:pPr marL="37465" marR="121920" indent="-1905">
              <a:lnSpc>
                <a:spcPts val="3960"/>
              </a:lnSpc>
              <a:spcBef>
                <a:spcPts val="130"/>
              </a:spcBef>
              <a:buSzPct val="96969"/>
              <a:buAutoNum type="arabicPeriod"/>
              <a:tabLst>
                <a:tab pos="386715" algn="l"/>
              </a:tabLst>
            </a:pPr>
            <a:r>
              <a:rPr sz="3300" spc="-10" dirty="0">
                <a:solidFill>
                  <a:srgbClr val="333333"/>
                </a:solidFill>
                <a:latin typeface="Arial"/>
                <a:cs typeface="Arial"/>
              </a:rPr>
              <a:t>	Select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each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0" dirty="0">
                <a:solidFill>
                  <a:srgbClr val="333333"/>
                </a:solidFill>
                <a:latin typeface="Arial"/>
                <a:cs typeface="Arial"/>
              </a:rPr>
              <a:t>section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33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90" dirty="0">
                <a:solidFill>
                  <a:srgbClr val="333333"/>
                </a:solidFill>
                <a:latin typeface="Arial"/>
                <a:cs typeface="Arial"/>
              </a:rPr>
              <a:t>want,</a:t>
            </a:r>
            <a:r>
              <a:rPr sz="3300" spc="-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333333"/>
                </a:solidFill>
                <a:latin typeface="Arial"/>
                <a:cs typeface="Arial"/>
              </a:rPr>
              <a:t>put </a:t>
            </a:r>
            <a:r>
              <a:rPr sz="3300" spc="170" dirty="0">
                <a:solidFill>
                  <a:srgbClr val="333333"/>
                </a:solidFill>
                <a:latin typeface="Arial"/>
                <a:cs typeface="Arial"/>
              </a:rPr>
              <a:t>it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75" dirty="0">
                <a:solidFill>
                  <a:srgbClr val="333333"/>
                </a:solidFill>
                <a:latin typeface="Arial"/>
                <a:cs typeface="Arial"/>
              </a:rPr>
              <a:t>onto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33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timeline</a:t>
            </a:r>
            <a:endParaRPr sz="3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4044" y="3694965"/>
            <a:ext cx="8905875" cy="6056630"/>
          </a:xfrm>
          <a:prstGeom prst="rect">
            <a:avLst/>
          </a:prstGeom>
          <a:ln w="7853">
            <a:solidFill>
              <a:srgbClr val="151515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5546090" algn="l"/>
              </a:tabLst>
            </a:pP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Required</a:t>
            </a:r>
            <a:r>
              <a:rPr sz="5450" b="1" spc="-3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Action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5450" b="1" spc="-20" dirty="0">
                <a:solidFill>
                  <a:srgbClr val="FDAD00"/>
                </a:solidFill>
                <a:latin typeface="Arial"/>
                <a:cs typeface="Arial"/>
              </a:rPr>
              <a:t>Plan</a:t>
            </a:r>
            <a:endParaRPr sz="5450">
              <a:latin typeface="Arial"/>
              <a:cs typeface="Arial"/>
            </a:endParaRPr>
          </a:p>
          <a:p>
            <a:pPr marL="387350" indent="-361950">
              <a:lnSpc>
                <a:spcPts val="3960"/>
              </a:lnSpc>
              <a:spcBef>
                <a:spcPts val="3915"/>
              </a:spcBef>
              <a:buSzPct val="96969"/>
              <a:buAutoNum type="arabicPeriod"/>
              <a:tabLst>
                <a:tab pos="387350" algn="l"/>
              </a:tabLst>
            </a:pPr>
            <a:r>
              <a:rPr sz="3300" spc="70" dirty="0">
                <a:solidFill>
                  <a:srgbClr val="FDAD00"/>
                </a:solidFill>
                <a:latin typeface="Arial"/>
                <a:cs typeface="Arial"/>
              </a:rPr>
              <a:t>Install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50" dirty="0">
                <a:solidFill>
                  <a:srgbClr val="FDAD00"/>
                </a:solidFill>
                <a:latin typeface="Arial"/>
                <a:cs typeface="Arial"/>
              </a:rPr>
              <a:t>pay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85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300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a</a:t>
            </a:r>
            <a:r>
              <a:rPr sz="33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FDAD00"/>
                </a:solidFill>
                <a:latin typeface="Arial"/>
                <a:cs typeface="Arial"/>
              </a:rPr>
              <a:t>video</a:t>
            </a:r>
            <a:r>
              <a:rPr sz="3300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FDAD00"/>
                </a:solidFill>
                <a:latin typeface="Arial"/>
                <a:cs typeface="Arial"/>
              </a:rPr>
              <a:t>editing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FDAD00"/>
                </a:solidFill>
                <a:latin typeface="Arial"/>
                <a:cs typeface="Arial"/>
              </a:rPr>
              <a:t>app</a:t>
            </a:r>
            <a:endParaRPr sz="3300">
              <a:latin typeface="Arial"/>
              <a:cs typeface="Arial"/>
            </a:endParaRPr>
          </a:p>
          <a:p>
            <a:pPr marL="387350" indent="-361950">
              <a:lnSpc>
                <a:spcPts val="3954"/>
              </a:lnSpc>
              <a:buSzPct val="96969"/>
              <a:buAutoNum type="arabicPeriod"/>
              <a:tabLst>
                <a:tab pos="387350" algn="l"/>
              </a:tabLst>
            </a:pPr>
            <a:r>
              <a:rPr sz="3300" spc="70" dirty="0">
                <a:solidFill>
                  <a:srgbClr val="FDAD00"/>
                </a:solidFill>
                <a:latin typeface="Arial"/>
                <a:cs typeface="Arial"/>
              </a:rPr>
              <a:t>Install</a:t>
            </a:r>
            <a:r>
              <a:rPr sz="3300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a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FDAD00"/>
                </a:solidFill>
                <a:latin typeface="Arial"/>
                <a:cs typeface="Arial"/>
              </a:rPr>
              <a:t>video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FDAD00"/>
                </a:solidFill>
                <a:latin typeface="Arial"/>
                <a:cs typeface="Arial"/>
              </a:rPr>
              <a:t>conversion</a:t>
            </a:r>
            <a:r>
              <a:rPr sz="3300" spc="-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FDAD00"/>
                </a:solidFill>
                <a:latin typeface="Arial"/>
                <a:cs typeface="Arial"/>
              </a:rPr>
              <a:t>program</a:t>
            </a:r>
            <a:endParaRPr sz="3300">
              <a:latin typeface="Arial"/>
              <a:cs typeface="Arial"/>
            </a:endParaRPr>
          </a:p>
          <a:p>
            <a:pPr marL="387350" indent="-361950">
              <a:lnSpc>
                <a:spcPts val="3960"/>
              </a:lnSpc>
              <a:buSzPct val="96969"/>
              <a:buAutoNum type="arabicPeriod"/>
              <a:tabLst>
                <a:tab pos="387350" algn="l"/>
              </a:tabLst>
            </a:pP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Set</a:t>
            </a:r>
            <a:r>
              <a:rPr sz="3300" spc="-8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3300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FDAD00"/>
                </a:solidFill>
                <a:latin typeface="Arial"/>
                <a:cs typeface="Arial"/>
              </a:rPr>
              <a:t>correct</a:t>
            </a:r>
            <a:r>
              <a:rPr sz="3300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00" dirty="0">
                <a:solidFill>
                  <a:srgbClr val="FDAD00"/>
                </a:solidFill>
                <a:latin typeface="Arial"/>
                <a:cs typeface="Arial"/>
              </a:rPr>
              <a:t>parameters</a:t>
            </a:r>
            <a:r>
              <a:rPr sz="3300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85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300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05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endParaRPr sz="3300">
              <a:latin typeface="Arial"/>
              <a:cs typeface="Arial"/>
            </a:endParaRPr>
          </a:p>
          <a:p>
            <a:pPr marL="38100">
              <a:lnSpc>
                <a:spcPts val="3960"/>
              </a:lnSpc>
            </a:pPr>
            <a:r>
              <a:rPr sz="3300" spc="55" dirty="0">
                <a:solidFill>
                  <a:srgbClr val="FDAD00"/>
                </a:solidFill>
                <a:latin typeface="Arial"/>
                <a:cs typeface="Arial"/>
              </a:rPr>
              <a:t>conversion,</a:t>
            </a:r>
            <a:r>
              <a:rPr sz="3300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FDAD00"/>
                </a:solidFill>
                <a:latin typeface="Arial"/>
                <a:cs typeface="Arial"/>
              </a:rPr>
              <a:t>looking</a:t>
            </a:r>
            <a:r>
              <a:rPr sz="3300" spc="-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75" dirty="0">
                <a:solidFill>
                  <a:srgbClr val="FDAD00"/>
                </a:solidFill>
                <a:latin typeface="Arial"/>
                <a:cs typeface="Arial"/>
              </a:rPr>
              <a:t>them</a:t>
            </a:r>
            <a:r>
              <a:rPr sz="3300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FDAD00"/>
                </a:solidFill>
                <a:latin typeface="Arial"/>
                <a:cs typeface="Arial"/>
              </a:rPr>
              <a:t>up</a:t>
            </a:r>
            <a:r>
              <a:rPr sz="3300" spc="-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FDAD00"/>
                </a:solidFill>
                <a:latin typeface="Arial"/>
                <a:cs typeface="Arial"/>
              </a:rPr>
              <a:t>on</a:t>
            </a:r>
            <a:r>
              <a:rPr sz="33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35" dirty="0">
                <a:solidFill>
                  <a:srgbClr val="FDAD00"/>
                </a:solidFill>
                <a:latin typeface="Arial"/>
                <a:cs typeface="Arial"/>
              </a:rPr>
              <a:t>internet</a:t>
            </a:r>
            <a:endParaRPr sz="3300">
              <a:latin typeface="Arial"/>
              <a:cs typeface="Arial"/>
            </a:endParaRPr>
          </a:p>
          <a:p>
            <a:pPr marL="387350" indent="-361950">
              <a:lnSpc>
                <a:spcPts val="3954"/>
              </a:lnSpc>
              <a:buSzPct val="96969"/>
              <a:buAutoNum type="arabicPeriod" startAt="4"/>
              <a:tabLst>
                <a:tab pos="387350" algn="l"/>
              </a:tabLst>
            </a:pP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Run</a:t>
            </a:r>
            <a:r>
              <a:rPr sz="33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33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editing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333333"/>
                </a:solidFill>
                <a:latin typeface="Arial"/>
                <a:cs typeface="Arial"/>
              </a:rPr>
              <a:t>app</a:t>
            </a:r>
            <a:endParaRPr sz="3300">
              <a:latin typeface="Arial"/>
              <a:cs typeface="Arial"/>
            </a:endParaRPr>
          </a:p>
          <a:p>
            <a:pPr marL="387350" indent="-361950">
              <a:lnSpc>
                <a:spcPts val="3954"/>
              </a:lnSpc>
              <a:buSzPct val="96969"/>
              <a:buAutoNum type="arabicPeriod" startAt="4"/>
              <a:tabLst>
                <a:tab pos="387350" algn="l"/>
              </a:tabLst>
            </a:pPr>
            <a:r>
              <a:rPr sz="3300" spc="90" dirty="0">
                <a:solidFill>
                  <a:srgbClr val="333333"/>
                </a:solidFill>
                <a:latin typeface="Arial"/>
                <a:cs typeface="Arial"/>
              </a:rPr>
              <a:t>load</a:t>
            </a:r>
            <a:r>
              <a:rPr sz="33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33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sections</a:t>
            </a:r>
            <a:r>
              <a:rPr sz="33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55" dirty="0">
                <a:solidFill>
                  <a:srgbClr val="333333"/>
                </a:solidFill>
                <a:latin typeface="Arial"/>
                <a:cs typeface="Arial"/>
              </a:rPr>
              <a:t>into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50" dirty="0">
                <a:solidFill>
                  <a:srgbClr val="333333"/>
                </a:solidFill>
                <a:latin typeface="Arial"/>
                <a:cs typeface="Arial"/>
              </a:rPr>
              <a:t>my</a:t>
            </a:r>
            <a:r>
              <a:rPr sz="3300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333333"/>
                </a:solidFill>
                <a:latin typeface="Arial"/>
                <a:cs typeface="Arial"/>
              </a:rPr>
              <a:t>app</a:t>
            </a:r>
            <a:endParaRPr sz="3300">
              <a:latin typeface="Arial"/>
              <a:cs typeface="Arial"/>
            </a:endParaRPr>
          </a:p>
          <a:p>
            <a:pPr marL="38100" marR="121285" indent="-12700">
              <a:lnSpc>
                <a:spcPts val="3979"/>
              </a:lnSpc>
              <a:spcBef>
                <a:spcPts val="114"/>
              </a:spcBef>
              <a:buSzPct val="96969"/>
              <a:buAutoNum type="arabicPeriod" startAt="4"/>
              <a:tabLst>
                <a:tab pos="387350" algn="l"/>
              </a:tabLst>
            </a:pPr>
            <a:r>
              <a:rPr sz="3300" spc="-10" dirty="0">
                <a:solidFill>
                  <a:srgbClr val="333333"/>
                </a:solidFill>
                <a:latin typeface="Arial"/>
                <a:cs typeface="Arial"/>
              </a:rPr>
              <a:t>Select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each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0" dirty="0">
                <a:solidFill>
                  <a:srgbClr val="333333"/>
                </a:solidFill>
                <a:latin typeface="Arial"/>
                <a:cs typeface="Arial"/>
              </a:rPr>
              <a:t>section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33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90" dirty="0">
                <a:solidFill>
                  <a:srgbClr val="333333"/>
                </a:solidFill>
                <a:latin typeface="Arial"/>
                <a:cs typeface="Arial"/>
              </a:rPr>
              <a:t>want,</a:t>
            </a:r>
            <a:r>
              <a:rPr sz="3300" spc="-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333333"/>
                </a:solidFill>
                <a:latin typeface="Arial"/>
                <a:cs typeface="Arial"/>
              </a:rPr>
              <a:t>put</a:t>
            </a:r>
            <a:r>
              <a:rPr sz="3300" spc="8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0" dirty="0">
                <a:solidFill>
                  <a:srgbClr val="333333"/>
                </a:solidFill>
                <a:latin typeface="Arial"/>
                <a:cs typeface="Arial"/>
              </a:rPr>
              <a:t>it</a:t>
            </a:r>
            <a:r>
              <a:rPr sz="33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75" dirty="0">
                <a:solidFill>
                  <a:srgbClr val="333333"/>
                </a:solidFill>
                <a:latin typeface="Arial"/>
                <a:cs typeface="Arial"/>
              </a:rPr>
              <a:t>onto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33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timeline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1486" y="3368644"/>
            <a:ext cx="10048257" cy="55511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0303" y="5609956"/>
            <a:ext cx="218694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System Capabilities</a:t>
            </a:r>
            <a:endParaRPr sz="3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3491" y="5134682"/>
            <a:ext cx="23056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plans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6904970" cy="19813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lang="en-GB" dirty="0"/>
              <a:t>Gulfs of Execution as an </a:t>
            </a:r>
            <a:br>
              <a:rPr lang="en-GB" dirty="0"/>
            </a:br>
            <a:r>
              <a:rPr dirty="0"/>
              <a:t>Information</a:t>
            </a:r>
            <a:r>
              <a:rPr spc="-20" dirty="0"/>
              <a:t> </a:t>
            </a:r>
            <a:r>
              <a:rPr dirty="0"/>
              <a:t>processing</a:t>
            </a:r>
            <a:r>
              <a:rPr spc="-5" dirty="0"/>
              <a:t> </a:t>
            </a:r>
            <a:r>
              <a:rPr dirty="0" err="1"/>
              <a:t>theor</a:t>
            </a:r>
            <a:r>
              <a:rPr lang="en-GB" dirty="0"/>
              <a:t>y?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455" y="6129446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8203" y="3049615"/>
            <a:ext cx="15126335" cy="746229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43355" algn="l"/>
                <a:tab pos="2209165" algn="l"/>
              </a:tabLst>
            </a:pPr>
            <a:r>
              <a:rPr sz="4950" b="1" spc="-20" dirty="0">
                <a:solidFill>
                  <a:srgbClr val="FDAD00"/>
                </a:solidFill>
                <a:latin typeface="Arial"/>
                <a:cs typeface="Arial"/>
              </a:rPr>
              <a:t>Gulf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Execution:</a:t>
            </a:r>
            <a:endParaRPr sz="4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Wrong</a:t>
            </a:r>
            <a:r>
              <a:rPr sz="395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151515"/>
                </a:solidFill>
                <a:latin typeface="Arial"/>
                <a:cs typeface="Arial"/>
              </a:rPr>
              <a:t>method</a:t>
            </a:r>
            <a:r>
              <a:rPr sz="3950" b="1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for</a:t>
            </a:r>
            <a:r>
              <a:rPr sz="395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395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task,</a:t>
            </a:r>
            <a:r>
              <a:rPr sz="395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mismatch</a:t>
            </a:r>
            <a:r>
              <a:rPr sz="395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in</a:t>
            </a:r>
            <a:r>
              <a:rPr sz="395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steps </a:t>
            </a:r>
            <a:r>
              <a:rPr sz="3950" spc="-10" dirty="0">
                <a:solidFill>
                  <a:srgbClr val="151515"/>
                </a:solidFill>
                <a:latin typeface="Arial"/>
                <a:cs typeface="Arial"/>
              </a:rPr>
              <a:t>(</a:t>
            </a:r>
            <a:r>
              <a:rPr sz="3950" b="1" spc="-10" dirty="0">
                <a:solidFill>
                  <a:srgbClr val="151515"/>
                </a:solidFill>
                <a:latin typeface="Arial"/>
                <a:cs typeface="Arial"/>
              </a:rPr>
              <a:t>operators)</a:t>
            </a:r>
            <a:endParaRPr sz="3950" dirty="0">
              <a:latin typeface="Arial"/>
              <a:cs typeface="Arial"/>
            </a:endParaRPr>
          </a:p>
          <a:p>
            <a:pPr marL="3575050">
              <a:lnSpc>
                <a:spcPct val="100000"/>
              </a:lnSpc>
              <a:spcBef>
                <a:spcPts val="4250"/>
              </a:spcBef>
            </a:pPr>
            <a:r>
              <a:rPr sz="4950" b="1" spc="-20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endParaRPr sz="4950" dirty="0">
              <a:latin typeface="Arial"/>
              <a:cs typeface="Arial"/>
            </a:endParaRPr>
          </a:p>
          <a:p>
            <a:pPr marL="3735070" indent="-168275">
              <a:lnSpc>
                <a:spcPct val="100000"/>
              </a:lnSpc>
              <a:spcBef>
                <a:spcPts val="2050"/>
              </a:spcBef>
              <a:buSzPct val="97222"/>
              <a:buFont typeface="Arial"/>
              <a:buChar char="•"/>
              <a:tabLst>
                <a:tab pos="3735704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GOALS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what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the user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wants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 </a:t>
            </a:r>
            <a:r>
              <a:rPr sz="3600" spc="-25" dirty="0">
                <a:solidFill>
                  <a:srgbClr val="2E2E2E"/>
                </a:solidFill>
                <a:latin typeface="Arial"/>
                <a:cs typeface="Arial"/>
              </a:rPr>
              <a:t>do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3735070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3735070" algn="l"/>
              </a:tabLst>
            </a:pPr>
            <a:r>
              <a:rPr sz="3600" b="1" spc="-20" dirty="0">
                <a:solidFill>
                  <a:srgbClr val="FDAD00"/>
                </a:solidFill>
                <a:latin typeface="Arial"/>
                <a:cs typeface="Arial"/>
              </a:rPr>
              <a:t>OPERATORS</a:t>
            </a:r>
            <a:r>
              <a:rPr sz="3600" spc="-2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36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individual</a:t>
            </a:r>
            <a:r>
              <a:rPr sz="360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3735070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3735704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METHODS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combine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r>
              <a:rPr sz="360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60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achieve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20" dirty="0">
                <a:solidFill>
                  <a:srgbClr val="2E2E2E"/>
                </a:solidFill>
                <a:latin typeface="Arial"/>
                <a:cs typeface="Arial"/>
              </a:rPr>
              <a:t>goal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3575050" marR="81280" indent="-8255">
              <a:lnSpc>
                <a:spcPct val="100800"/>
              </a:lnSpc>
              <a:buSzPct val="97222"/>
              <a:buFont typeface="Arial"/>
              <a:buChar char="•"/>
              <a:tabLst>
                <a:tab pos="3735070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SELECTION</a:t>
            </a:r>
            <a:r>
              <a:rPr sz="360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RULES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360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choose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between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lang="en-GB" sz="3600" spc="-10" dirty="0">
                <a:solidFill>
                  <a:srgbClr val="2E2E2E"/>
                </a:solidFill>
                <a:latin typeface="Arial"/>
                <a:cs typeface="Arial"/>
              </a:rPr>
              <a:t> potential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MODELS of the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20" dirty="0">
                <a:solidFill>
                  <a:srgbClr val="2E2E2E"/>
                </a:solidFill>
                <a:latin typeface="Arial"/>
                <a:cs typeface="Arial"/>
              </a:rPr>
              <a:t>task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Information</a:t>
            </a:r>
            <a:r>
              <a:rPr spc="-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processing</a:t>
            </a:r>
            <a:r>
              <a:rPr spc="-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theories</a:t>
            </a:r>
            <a:r>
              <a:rPr spc="-1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</a:t>
            </a:r>
            <a:r>
              <a:rPr spc="-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spc="-1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First </a:t>
            </a:r>
            <a:r>
              <a:rPr spc="-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Wave</a:t>
            </a:r>
            <a:r>
              <a:rPr lang="en-GB" spc="-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GB" spc="-20" dirty="0"/>
              <a:t>Assumptions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337699" y="3247201"/>
            <a:ext cx="16035655" cy="116814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407670" indent="-7620">
              <a:lnSpc>
                <a:spcPct val="100000"/>
              </a:lnSpc>
              <a:spcBef>
                <a:spcPts val="130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ALL</a:t>
            </a:r>
            <a:r>
              <a:rPr sz="3600" b="1" spc="-1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BRAIN:</a:t>
            </a:r>
            <a:r>
              <a:rPr sz="360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all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important</a:t>
            </a:r>
            <a:r>
              <a:rPr spc="-55" dirty="0"/>
              <a:t> </a:t>
            </a:r>
            <a:r>
              <a:rPr dirty="0"/>
              <a:t>stuff</a:t>
            </a:r>
            <a:r>
              <a:rPr spc="-7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happening</a:t>
            </a:r>
            <a:r>
              <a:rPr spc="-45" dirty="0"/>
              <a:t> </a:t>
            </a:r>
            <a:r>
              <a:rPr dirty="0"/>
              <a:t>via</a:t>
            </a:r>
            <a:r>
              <a:rPr spc="-70" dirty="0"/>
              <a:t> </a:t>
            </a:r>
            <a:r>
              <a:rPr dirty="0"/>
              <a:t>symbol</a:t>
            </a:r>
            <a:r>
              <a:rPr spc="-65" dirty="0"/>
              <a:t> </a:t>
            </a:r>
            <a:r>
              <a:rPr dirty="0"/>
              <a:t>processing</a:t>
            </a:r>
            <a:r>
              <a:rPr spc="-60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brain.</a:t>
            </a:r>
            <a:r>
              <a:rPr spc="-12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body</a:t>
            </a:r>
            <a:r>
              <a:rPr spc="-6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controlled</a:t>
            </a:r>
            <a:r>
              <a:rPr spc="-65" dirty="0"/>
              <a:t> </a:t>
            </a:r>
            <a:r>
              <a:rPr dirty="0"/>
              <a:t>by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brain</a:t>
            </a:r>
            <a:r>
              <a:rPr spc="-70" dirty="0"/>
              <a:t> </a:t>
            </a:r>
            <a:r>
              <a:rPr dirty="0"/>
              <a:t>without</a:t>
            </a:r>
            <a:r>
              <a:rPr spc="-75" dirty="0"/>
              <a:t> </a:t>
            </a:r>
            <a:r>
              <a:rPr dirty="0"/>
              <a:t>adding</a:t>
            </a:r>
            <a:r>
              <a:rPr spc="-70" dirty="0"/>
              <a:t> </a:t>
            </a:r>
            <a:r>
              <a:rPr dirty="0"/>
              <a:t>too</a:t>
            </a:r>
            <a:r>
              <a:rPr spc="-80" dirty="0"/>
              <a:t> </a:t>
            </a:r>
            <a:r>
              <a:rPr spc="-10" dirty="0"/>
              <a:t>much.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1002030" indent="-8255">
              <a:lnSpc>
                <a:spcPct val="100000"/>
              </a:lnSpc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	ATEMPORAL</a:t>
            </a:r>
            <a:r>
              <a:rPr sz="3600" spc="-10" dirty="0">
                <a:solidFill>
                  <a:srgbClr val="2E2E2E"/>
                </a:solidFill>
              </a:rPr>
              <a:t>:</a:t>
            </a:r>
            <a:r>
              <a:rPr sz="3600" spc="-14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history</a:t>
            </a:r>
            <a:r>
              <a:rPr spc="-114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and</a:t>
            </a:r>
            <a:r>
              <a:rPr spc="-12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order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considered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minimally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relevant,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other</a:t>
            </a:r>
            <a:r>
              <a:rPr spc="-12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temporal </a:t>
            </a:r>
            <a:r>
              <a:rPr dirty="0">
                <a:solidFill>
                  <a:srgbClr val="2E2E2E"/>
                </a:solidFill>
              </a:rPr>
              <a:t>factors,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synchronisation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etc.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are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not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considered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ACONTEXTUAL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6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context</a:t>
            </a:r>
            <a:r>
              <a:rPr spc="-4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is</a:t>
            </a:r>
            <a:r>
              <a:rPr spc="-4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not</a:t>
            </a:r>
            <a:r>
              <a:rPr spc="-5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modelled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399415" indent="-7620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COMPOSABLE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Cognitive</a:t>
            </a:r>
            <a:r>
              <a:rPr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processes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can</a:t>
            </a:r>
            <a:r>
              <a:rPr spc="-9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be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broken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apart</a:t>
            </a:r>
            <a:r>
              <a:rPr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and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sections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modelled </a:t>
            </a:r>
            <a:r>
              <a:rPr dirty="0">
                <a:solidFill>
                  <a:srgbClr val="2E2E2E"/>
                </a:solidFill>
              </a:rPr>
              <a:t>independently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without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too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much</a:t>
            </a:r>
            <a:r>
              <a:rPr spc="-9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loss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of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accuracy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5080" indent="-8255">
              <a:lnSpc>
                <a:spcPct val="100000"/>
              </a:lnSpc>
              <a:spcBef>
                <a:spcPts val="5"/>
              </a:spcBef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SIGNAL</a:t>
            </a:r>
            <a:r>
              <a:rPr sz="36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+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NOISE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variability</a:t>
            </a:r>
            <a:r>
              <a:rPr spc="-5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in</a:t>
            </a:r>
            <a:r>
              <a:rPr spc="-6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the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process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can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be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treated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as</a:t>
            </a:r>
            <a:r>
              <a:rPr spc="-5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noise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dirty="0"/>
              <a:t>Information</a:t>
            </a:r>
            <a:r>
              <a:rPr spc="-20" dirty="0"/>
              <a:t> </a:t>
            </a:r>
            <a:r>
              <a:rPr dirty="0"/>
              <a:t>processing</a:t>
            </a:r>
            <a:r>
              <a:rPr spc="-5" dirty="0"/>
              <a:t> </a:t>
            </a:r>
            <a:r>
              <a:rPr dirty="0"/>
              <a:t>theories</a:t>
            </a:r>
            <a:r>
              <a:rPr spc="-1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First </a:t>
            </a:r>
            <a:r>
              <a:rPr spc="-20" dirty="0"/>
              <a:t>Wave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407670" indent="-7620">
              <a:lnSpc>
                <a:spcPct val="100000"/>
              </a:lnSpc>
              <a:spcBef>
                <a:spcPts val="130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ALL</a:t>
            </a:r>
            <a:r>
              <a:rPr sz="3600" b="1" spc="-1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BRAIN:</a:t>
            </a:r>
            <a:r>
              <a:rPr sz="360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all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important</a:t>
            </a:r>
            <a:r>
              <a:rPr spc="-55" dirty="0"/>
              <a:t> </a:t>
            </a:r>
            <a:r>
              <a:rPr dirty="0"/>
              <a:t>stuff</a:t>
            </a:r>
            <a:r>
              <a:rPr spc="-7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happening</a:t>
            </a:r>
            <a:r>
              <a:rPr spc="-45" dirty="0"/>
              <a:t> </a:t>
            </a:r>
            <a:r>
              <a:rPr dirty="0"/>
              <a:t>via</a:t>
            </a:r>
            <a:r>
              <a:rPr spc="-70" dirty="0"/>
              <a:t> </a:t>
            </a:r>
            <a:r>
              <a:rPr dirty="0"/>
              <a:t>symbol</a:t>
            </a:r>
            <a:r>
              <a:rPr spc="-65" dirty="0"/>
              <a:t> </a:t>
            </a:r>
            <a:r>
              <a:rPr dirty="0"/>
              <a:t>processing</a:t>
            </a:r>
            <a:r>
              <a:rPr spc="-60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brain.</a:t>
            </a:r>
            <a:r>
              <a:rPr spc="-12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body</a:t>
            </a:r>
            <a:r>
              <a:rPr spc="-6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controlled</a:t>
            </a:r>
            <a:r>
              <a:rPr spc="-65" dirty="0"/>
              <a:t> </a:t>
            </a:r>
            <a:r>
              <a:rPr dirty="0"/>
              <a:t>by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brain</a:t>
            </a:r>
            <a:r>
              <a:rPr spc="-70" dirty="0"/>
              <a:t> </a:t>
            </a:r>
            <a:r>
              <a:rPr dirty="0"/>
              <a:t>without</a:t>
            </a:r>
            <a:r>
              <a:rPr spc="-75" dirty="0"/>
              <a:t> </a:t>
            </a:r>
            <a:r>
              <a:rPr dirty="0"/>
              <a:t>adding</a:t>
            </a:r>
            <a:r>
              <a:rPr spc="-70" dirty="0"/>
              <a:t> </a:t>
            </a:r>
            <a:r>
              <a:rPr dirty="0"/>
              <a:t>too</a:t>
            </a:r>
            <a:r>
              <a:rPr spc="-80" dirty="0"/>
              <a:t> </a:t>
            </a:r>
            <a:r>
              <a:rPr spc="-10" dirty="0"/>
              <a:t>much.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1002030" indent="-8255">
              <a:lnSpc>
                <a:spcPct val="100000"/>
              </a:lnSpc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	ATEMPORAL</a:t>
            </a:r>
            <a:r>
              <a:rPr sz="3600" spc="-10" dirty="0">
                <a:solidFill>
                  <a:srgbClr val="2E2E2E"/>
                </a:solidFill>
              </a:rPr>
              <a:t>:</a:t>
            </a:r>
            <a:r>
              <a:rPr sz="3600" spc="-14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history</a:t>
            </a:r>
            <a:r>
              <a:rPr spc="-114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and</a:t>
            </a:r>
            <a:r>
              <a:rPr spc="-12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order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considered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minimally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relevant,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other</a:t>
            </a:r>
            <a:r>
              <a:rPr spc="-12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temporal </a:t>
            </a:r>
            <a:r>
              <a:rPr dirty="0">
                <a:solidFill>
                  <a:srgbClr val="2E2E2E"/>
                </a:solidFill>
              </a:rPr>
              <a:t>factors,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synchronisation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etc.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are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not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considered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ACONTEXTUAL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6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context</a:t>
            </a:r>
            <a:r>
              <a:rPr spc="-4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is</a:t>
            </a:r>
            <a:r>
              <a:rPr spc="-4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not</a:t>
            </a:r>
            <a:r>
              <a:rPr spc="-5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modelled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399415" indent="-7620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COMPOSABLE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114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Cognitive</a:t>
            </a:r>
            <a:r>
              <a:rPr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processes</a:t>
            </a:r>
            <a:r>
              <a:rPr spc="-9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can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be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broken</a:t>
            </a:r>
            <a:r>
              <a:rPr spc="-8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apart</a:t>
            </a:r>
            <a:r>
              <a:rPr spc="-8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and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sections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modelled </a:t>
            </a:r>
            <a:r>
              <a:rPr dirty="0">
                <a:solidFill>
                  <a:srgbClr val="2E2E2E"/>
                </a:solidFill>
              </a:rPr>
              <a:t>independently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without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too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much</a:t>
            </a:r>
            <a:r>
              <a:rPr spc="-9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loss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of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accuracy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5080" indent="-8255">
              <a:lnSpc>
                <a:spcPct val="100000"/>
              </a:lnSpc>
              <a:spcBef>
                <a:spcPts val="5"/>
              </a:spcBef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SIGNAL</a:t>
            </a:r>
            <a:r>
              <a:rPr sz="36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+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NOISE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variability</a:t>
            </a:r>
            <a:r>
              <a:rPr spc="-5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in</a:t>
            </a:r>
            <a:r>
              <a:rPr spc="-6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the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process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can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be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treated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as</a:t>
            </a:r>
            <a:r>
              <a:rPr spc="-5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noise,</a:t>
            </a:r>
            <a:r>
              <a:rPr spc="-5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distributed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in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spc="-50" dirty="0">
                <a:solidFill>
                  <a:srgbClr val="2E2E2E"/>
                </a:solidFill>
              </a:rPr>
              <a:t>a </a:t>
            </a:r>
            <a:r>
              <a:rPr dirty="0">
                <a:solidFill>
                  <a:srgbClr val="2E2E2E"/>
                </a:solidFill>
              </a:rPr>
              <a:t>roughly</a:t>
            </a:r>
            <a:r>
              <a:rPr spc="-13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Gaussian</a:t>
            </a:r>
            <a:r>
              <a:rPr spc="-12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manner</a:t>
            </a:r>
            <a:endParaRPr sz="36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9062" y="2441006"/>
            <a:ext cx="18162905" cy="6723380"/>
            <a:chOff x="959062" y="2441006"/>
            <a:chExt cx="18162905" cy="6723380"/>
          </a:xfrm>
        </p:grpSpPr>
        <p:sp>
          <p:nvSpPr>
            <p:cNvPr id="5" name="object 5"/>
            <p:cNvSpPr/>
            <p:nvPr/>
          </p:nvSpPr>
          <p:spPr>
            <a:xfrm>
              <a:off x="959062" y="2441006"/>
              <a:ext cx="18162905" cy="6723380"/>
            </a:xfrm>
            <a:custGeom>
              <a:avLst/>
              <a:gdLst/>
              <a:ahLst/>
              <a:cxnLst/>
              <a:rect l="l" t="t" r="r" b="b"/>
              <a:pathLst>
                <a:path w="18162905" h="6723380">
                  <a:moveTo>
                    <a:pt x="17811112" y="0"/>
                  </a:moveTo>
                  <a:lnTo>
                    <a:pt x="0" y="5607577"/>
                  </a:lnTo>
                  <a:lnTo>
                    <a:pt x="351329" y="6723355"/>
                  </a:lnTo>
                  <a:lnTo>
                    <a:pt x="18162410" y="1115882"/>
                  </a:lnTo>
                  <a:lnTo>
                    <a:pt x="17811112" y="0"/>
                  </a:lnTo>
                  <a:close/>
                </a:path>
              </a:pathLst>
            </a:custGeom>
            <a:solidFill>
              <a:srgbClr val="FDA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830" y="2684591"/>
              <a:ext cx="17763215" cy="62292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858" y="756521"/>
            <a:ext cx="14972665" cy="70294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95"/>
              </a:lnSpc>
              <a:tabLst>
                <a:tab pos="1710055" algn="l"/>
                <a:tab pos="8132445" algn="l"/>
                <a:tab pos="8900160" algn="l"/>
              </a:tabLst>
            </a:pPr>
            <a:r>
              <a:rPr sz="4950" spc="-20" dirty="0">
                <a:solidFill>
                  <a:srgbClr val="FFFFFF"/>
                </a:solidFill>
              </a:rPr>
              <a:t>What</a:t>
            </a:r>
            <a:r>
              <a:rPr sz="4950" dirty="0">
                <a:solidFill>
                  <a:srgbClr val="FFFFFF"/>
                </a:solidFill>
              </a:rPr>
              <a:t>	is</a:t>
            </a:r>
            <a:r>
              <a:rPr sz="4950" spc="-105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the</a:t>
            </a:r>
            <a:r>
              <a:rPr sz="4950" spc="-120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practical</a:t>
            </a:r>
            <a:r>
              <a:rPr sz="4950" spc="-100" dirty="0">
                <a:solidFill>
                  <a:srgbClr val="FFFFFF"/>
                </a:solidFill>
              </a:rPr>
              <a:t> </a:t>
            </a:r>
            <a:r>
              <a:rPr sz="4950" spc="-10" dirty="0">
                <a:solidFill>
                  <a:srgbClr val="FFFFFF"/>
                </a:solidFill>
              </a:rPr>
              <a:t>effect</a:t>
            </a:r>
            <a:r>
              <a:rPr sz="4950" dirty="0">
                <a:solidFill>
                  <a:srgbClr val="FFFFFF"/>
                </a:solidFill>
              </a:rPr>
              <a:t>	</a:t>
            </a:r>
            <a:r>
              <a:rPr sz="4950" spc="-25" dirty="0">
                <a:solidFill>
                  <a:srgbClr val="FFFFFF"/>
                </a:solidFill>
              </a:rPr>
              <a:t>of</a:t>
            </a:r>
            <a:r>
              <a:rPr sz="4950" dirty="0">
                <a:solidFill>
                  <a:srgbClr val="FFFFFF"/>
                </a:solidFill>
              </a:rPr>
              <a:t>	these</a:t>
            </a:r>
            <a:r>
              <a:rPr sz="4950" spc="-170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differences</a:t>
            </a:r>
            <a:r>
              <a:rPr sz="4950" spc="-180" dirty="0">
                <a:solidFill>
                  <a:srgbClr val="FFFFFF"/>
                </a:solidFill>
              </a:rPr>
              <a:t> </a:t>
            </a:r>
            <a:r>
              <a:rPr sz="4950" spc="-25" dirty="0">
                <a:solidFill>
                  <a:srgbClr val="FFFFFF"/>
                </a:solidFill>
              </a:rPr>
              <a:t>in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865858" y="1510425"/>
            <a:ext cx="7338695" cy="70294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95"/>
              </a:lnSpc>
            </a:pP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theory?</a:t>
            </a:r>
            <a:r>
              <a:rPr sz="495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495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49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FFFFF"/>
                </a:solidFill>
                <a:latin typeface="Arial"/>
                <a:cs typeface="Arial"/>
              </a:rPr>
              <a:t>choose?</a:t>
            </a:r>
            <a:endParaRPr sz="4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7699" y="3247201"/>
            <a:ext cx="15814675" cy="7012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614045" indent="-7620">
              <a:lnSpc>
                <a:spcPct val="100000"/>
              </a:lnSpc>
              <a:spcBef>
                <a:spcPts val="130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Better</a:t>
            </a:r>
            <a:r>
              <a:rPr sz="3600" b="1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fit</a:t>
            </a:r>
            <a:r>
              <a:rPr sz="360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60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phenomenon?</a:t>
            </a:r>
            <a:r>
              <a:rPr sz="36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Does</a:t>
            </a:r>
            <a:r>
              <a:rPr sz="3300" spc="-5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another</a:t>
            </a:r>
            <a:r>
              <a:rPr sz="3300" spc="-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theory</a:t>
            </a:r>
            <a:r>
              <a:rPr sz="3300" spc="-5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give</a:t>
            </a:r>
            <a:r>
              <a:rPr sz="3300" spc="-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3300" spc="-6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151515"/>
                </a:solidFill>
                <a:latin typeface="Arial"/>
                <a:cs typeface="Arial"/>
              </a:rPr>
              <a:t>better,</a:t>
            </a:r>
            <a:r>
              <a:rPr sz="3300" spc="-6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spc="-20" dirty="0">
                <a:solidFill>
                  <a:srgbClr val="151515"/>
                </a:solidFill>
                <a:latin typeface="Arial"/>
                <a:cs typeface="Arial"/>
              </a:rPr>
              <a:t>more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parsimonious</a:t>
            </a:r>
            <a:r>
              <a:rPr sz="3300" spc="-7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account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of</a:t>
            </a:r>
            <a:r>
              <a:rPr sz="33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interaction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we’re</a:t>
            </a:r>
            <a:r>
              <a:rPr sz="33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observing?</a:t>
            </a:r>
            <a:r>
              <a:rPr sz="3300" spc="-7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Does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it</a:t>
            </a:r>
            <a:r>
              <a:rPr sz="33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explain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it</a:t>
            </a:r>
            <a:r>
              <a:rPr sz="33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151515"/>
                </a:solidFill>
                <a:latin typeface="Arial"/>
                <a:cs typeface="Arial"/>
              </a:rPr>
              <a:t>better?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12700" marR="42545" indent="-8255">
              <a:lnSpc>
                <a:spcPct val="100000"/>
              </a:lnSpc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Supports</a:t>
            </a:r>
            <a:r>
              <a:rPr sz="360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Collaboration?</a:t>
            </a:r>
            <a:r>
              <a:rPr sz="36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helps</a:t>
            </a:r>
            <a:r>
              <a:rPr sz="330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us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understand</a:t>
            </a:r>
            <a:r>
              <a:rPr sz="3300" spc="-5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be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understood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by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2E2E2E"/>
                </a:solidFill>
                <a:latin typeface="Arial"/>
                <a:cs typeface="Arial"/>
              </a:rPr>
              <a:t>colleagues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30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another</a:t>
            </a:r>
            <a:r>
              <a:rPr sz="33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discipline,</a:t>
            </a:r>
            <a:r>
              <a:rPr sz="330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or</a:t>
            </a:r>
            <a:r>
              <a:rPr sz="33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another</a:t>
            </a:r>
            <a:r>
              <a:rPr sz="330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2E2E2E"/>
                </a:solidFill>
                <a:latin typeface="Arial"/>
                <a:cs typeface="Arial"/>
              </a:rPr>
              <a:t>team?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12700" marR="5080" indent="-7620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Easy</a:t>
            </a:r>
            <a:r>
              <a:rPr sz="360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36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convert</a:t>
            </a:r>
            <a:r>
              <a:rPr sz="360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into</a:t>
            </a:r>
            <a:r>
              <a:rPr sz="36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design?</a:t>
            </a:r>
            <a:r>
              <a:rPr sz="360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designers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can</a:t>
            </a:r>
            <a:r>
              <a:rPr sz="3300" spc="-6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understand</a:t>
            </a:r>
            <a:r>
              <a:rPr sz="330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3300" spc="-6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apply</a:t>
            </a:r>
            <a:r>
              <a:rPr sz="330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theory</a:t>
            </a:r>
            <a:r>
              <a:rPr sz="330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25" dirty="0">
                <a:solidFill>
                  <a:srgbClr val="2E2E2E"/>
                </a:solidFill>
                <a:latin typeface="Arial"/>
                <a:cs typeface="Arial"/>
              </a:rPr>
              <a:t>to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their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own</a:t>
            </a:r>
            <a:r>
              <a:rPr sz="33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2E2E2E"/>
                </a:solidFill>
                <a:latin typeface="Arial"/>
                <a:cs typeface="Arial"/>
              </a:rPr>
              <a:t>practice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12700" marR="861694" indent="-7620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Computable,</a:t>
            </a:r>
            <a:r>
              <a:rPr sz="360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formal?</a:t>
            </a:r>
            <a:r>
              <a:rPr sz="360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Can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we</a:t>
            </a:r>
            <a:r>
              <a:rPr sz="330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formalise</a:t>
            </a:r>
            <a:r>
              <a:rPr sz="330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theory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</a:t>
            </a:r>
            <a:r>
              <a:rPr sz="3300" spc="-6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model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or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code,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20" dirty="0">
                <a:solidFill>
                  <a:srgbClr val="2E2E2E"/>
                </a:solidFill>
                <a:latin typeface="Arial"/>
                <a:cs typeface="Arial"/>
              </a:rPr>
              <a:t>make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quantitative</a:t>
            </a:r>
            <a:r>
              <a:rPr sz="330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predictions,</a:t>
            </a:r>
            <a:r>
              <a:rPr sz="3300" spc="-8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can</a:t>
            </a:r>
            <a:r>
              <a:rPr sz="3300" spc="-10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we</a:t>
            </a:r>
            <a:r>
              <a:rPr sz="330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use</a:t>
            </a:r>
            <a:r>
              <a:rPr sz="3300" spc="-10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it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300" spc="-10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build</a:t>
            </a:r>
            <a:r>
              <a:rPr sz="330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adaptive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computer</a:t>
            </a:r>
            <a:r>
              <a:rPr sz="33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2E2E2E"/>
                </a:solidFill>
                <a:latin typeface="Arial"/>
                <a:cs typeface="Arial"/>
              </a:rPr>
              <a:t>systems?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spcBef>
                <a:spcPts val="5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Other</a:t>
            </a:r>
            <a:r>
              <a:rPr sz="36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properties?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FDAD00"/>
                </a:solidFill>
                <a:latin typeface="Arial"/>
                <a:cs typeface="Arial"/>
              </a:rPr>
              <a:t>…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858" y="756521"/>
            <a:ext cx="8295640" cy="70294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95"/>
              </a:lnSpc>
              <a:tabLst>
                <a:tab pos="6282690" algn="l"/>
              </a:tabLst>
            </a:pPr>
            <a:r>
              <a:rPr sz="4950" dirty="0">
                <a:solidFill>
                  <a:srgbClr val="FFFFFF"/>
                </a:solidFill>
              </a:rPr>
              <a:t>Where</a:t>
            </a:r>
            <a:r>
              <a:rPr sz="4950" spc="-135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after</a:t>
            </a:r>
            <a:r>
              <a:rPr sz="4950" spc="-135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the</a:t>
            </a:r>
            <a:r>
              <a:rPr sz="4950" spc="-130" dirty="0">
                <a:solidFill>
                  <a:srgbClr val="FFFFFF"/>
                </a:solidFill>
              </a:rPr>
              <a:t> </a:t>
            </a:r>
            <a:r>
              <a:rPr sz="4950" spc="-10" dirty="0">
                <a:solidFill>
                  <a:srgbClr val="FFFFFF"/>
                </a:solidFill>
              </a:rPr>
              <a:t>First</a:t>
            </a:r>
            <a:r>
              <a:rPr sz="4950" dirty="0">
                <a:solidFill>
                  <a:srgbClr val="FFFFFF"/>
                </a:solidFill>
              </a:rPr>
              <a:t>	</a:t>
            </a:r>
            <a:r>
              <a:rPr sz="4950" spc="-35" dirty="0">
                <a:solidFill>
                  <a:srgbClr val="FFFFFF"/>
                </a:solidFill>
              </a:rPr>
              <a:t>Wave?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2337699" y="3247201"/>
            <a:ext cx="13199110" cy="3896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3355" indent="-168275">
              <a:lnSpc>
                <a:spcPct val="100000"/>
              </a:lnSpc>
              <a:spcBef>
                <a:spcPts val="130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Capturing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real</a:t>
            </a:r>
            <a:r>
              <a:rPr sz="3600" b="1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world</a:t>
            </a:r>
            <a:r>
              <a:rPr sz="3600" b="1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behaviour?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FDAD00"/>
              </a:buClr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Accounts</a:t>
            </a:r>
            <a:r>
              <a:rPr sz="36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interaction</a:t>
            </a:r>
            <a:r>
              <a:rPr sz="36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real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spaces?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DAD00"/>
              </a:buClr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Accounts</a:t>
            </a:r>
            <a:r>
              <a:rPr sz="36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social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cultural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contexts,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constraints?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FDAD00"/>
              </a:buClr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Accessible</a:t>
            </a:r>
            <a:r>
              <a:rPr sz="36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 observation?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9122" y="5425417"/>
            <a:ext cx="15083155" cy="1961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3: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635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Second</a:t>
            </a:r>
            <a:r>
              <a:rPr sz="635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Wave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part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spc="-20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cognition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63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635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experiences</a:t>
            </a:r>
            <a:r>
              <a:rPr sz="635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635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spc="-10" dirty="0">
                <a:solidFill>
                  <a:srgbClr val="FFFFFF"/>
                </a:solidFill>
                <a:latin typeface="Arial"/>
                <a:cs typeface="Arial"/>
              </a:rPr>
              <a:t>bodies</a:t>
            </a:r>
            <a:endParaRPr sz="63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950" dirty="0">
                <a:solidFill>
                  <a:srgbClr val="FFFFFF"/>
                </a:solidFill>
              </a:rPr>
              <a:t>Next</a:t>
            </a:r>
            <a:r>
              <a:rPr sz="9950" spc="-10" dirty="0">
                <a:solidFill>
                  <a:srgbClr val="FFFFFF"/>
                </a:solidFill>
              </a:rPr>
              <a:t> week…</a:t>
            </a:r>
            <a:endParaRPr sz="99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1ABD4-A6E6-3138-077C-56E39A146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CF5EF4-60B1-C7BE-89ED-491BEC5B3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9383" y="647585"/>
            <a:ext cx="4769899" cy="195887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66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Reading</a:t>
            </a:r>
            <a:endParaRPr sz="64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760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Chapter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4:</a:t>
            </a:r>
            <a:endParaRPr sz="4450" dirty="0">
              <a:latin typeface="Arial"/>
              <a:cs typeface="Arial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F5FAD23-A42B-DEAF-DE81-BAEAE39030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710" y="3102313"/>
            <a:ext cx="3676537" cy="4552322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DEEAC4E-3CD7-1925-C1D3-93017E4B5DFD}"/>
              </a:ext>
            </a:extLst>
          </p:cNvPr>
          <p:cNvSpPr txBox="1"/>
          <p:nvPr/>
        </p:nvSpPr>
        <p:spPr>
          <a:xfrm>
            <a:off x="912842" y="8037945"/>
            <a:ext cx="4536440" cy="258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7094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212121"/>
                </a:solidFill>
                <a:latin typeface="Arial"/>
                <a:cs typeface="Arial"/>
              </a:rPr>
              <a:t>Rogers,</a:t>
            </a:r>
            <a:r>
              <a:rPr sz="2800" spc="-1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212121"/>
                </a:solidFill>
                <a:latin typeface="Arial"/>
                <a:cs typeface="Arial"/>
              </a:rPr>
              <a:t>Y.</a:t>
            </a:r>
            <a:r>
              <a:rPr sz="28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(2012).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r>
              <a:rPr sz="28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theory:</a:t>
            </a:r>
            <a:r>
              <a:rPr sz="2800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DAD00"/>
                </a:solidFill>
                <a:latin typeface="Arial"/>
                <a:cs typeface="Arial"/>
              </a:rPr>
              <a:t>classical,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modern,</a:t>
            </a:r>
            <a:r>
              <a:rPr sz="28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2800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DAD00"/>
                </a:solidFill>
                <a:latin typeface="Arial"/>
                <a:cs typeface="Arial"/>
              </a:rPr>
              <a:t>contemporary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.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Synthesis</a:t>
            </a:r>
            <a:r>
              <a:rPr sz="2800" i="1" spc="-1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lectures</a:t>
            </a:r>
            <a:r>
              <a:rPr sz="2800" i="1" spc="-114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solidFill>
                  <a:srgbClr val="212121"/>
                </a:solidFill>
                <a:latin typeface="Arial"/>
                <a:cs typeface="Arial"/>
              </a:rPr>
              <a:t>on </a:t>
            </a:r>
            <a:r>
              <a:rPr sz="2800" i="1" spc="-30" dirty="0">
                <a:solidFill>
                  <a:srgbClr val="212121"/>
                </a:solidFill>
                <a:latin typeface="Arial"/>
                <a:cs typeface="Arial"/>
              </a:rPr>
              <a:t>human-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centered</a:t>
            </a:r>
            <a:r>
              <a:rPr sz="2800" i="1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212121"/>
                </a:solidFill>
                <a:latin typeface="Arial"/>
                <a:cs typeface="Arial"/>
              </a:rPr>
              <a:t>informatics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,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5</a:t>
            </a:r>
            <a:r>
              <a:rPr sz="2800" dirty="0">
                <a:solidFill>
                  <a:srgbClr val="212121"/>
                </a:solidFill>
                <a:latin typeface="Arial"/>
                <a:cs typeface="Arial"/>
              </a:rPr>
              <a:t>(2),</a:t>
            </a:r>
            <a:r>
              <a:rPr sz="2800" spc="-5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212121"/>
                </a:solidFill>
                <a:latin typeface="Arial"/>
                <a:cs typeface="Arial"/>
              </a:rPr>
              <a:t>1-</a:t>
            </a:r>
            <a:r>
              <a:rPr sz="2800" spc="-20" dirty="0">
                <a:solidFill>
                  <a:srgbClr val="212121"/>
                </a:solidFill>
                <a:latin typeface="Arial"/>
                <a:cs typeface="Arial"/>
              </a:rPr>
              <a:t>129.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E17BA9B-F67A-E5CE-2FF8-0DF9A03B8886}"/>
              </a:ext>
            </a:extLst>
          </p:cNvPr>
          <p:cNvSpPr txBox="1"/>
          <p:nvPr/>
        </p:nvSpPr>
        <p:spPr>
          <a:xfrm>
            <a:off x="5100223" y="2177523"/>
            <a:ext cx="9206230" cy="63119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 marL="213360">
              <a:lnSpc>
                <a:spcPts val="4935"/>
              </a:lnSpc>
            </a:pP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PLUS: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Choose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least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spc="-25" dirty="0">
                <a:solidFill>
                  <a:srgbClr val="FFFFFF"/>
                </a:solidFill>
                <a:latin typeface="Arial"/>
                <a:cs typeface="Arial"/>
              </a:rPr>
              <a:t>of…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F39BA49-6ECF-F308-31C4-91D456A3E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68332" y="3199261"/>
            <a:ext cx="13477142" cy="412792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 marR="2257425"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</a:rPr>
              <a:t>A more in-depth look at Fitts’ Law</a:t>
            </a:r>
          </a:p>
          <a:p>
            <a:pPr marL="1615440" marR="274955">
              <a:lnSpc>
                <a:spcPct val="100699"/>
              </a:lnSpc>
              <a:spcBef>
                <a:spcPts val="1190"/>
              </a:spcBef>
              <a:tabLst>
                <a:tab pos="8803640" algn="l"/>
              </a:tabLst>
            </a:pPr>
            <a:r>
              <a:rPr sz="2950" dirty="0">
                <a:solidFill>
                  <a:srgbClr val="7E7E7E"/>
                </a:solidFill>
              </a:rPr>
              <a:t>A nice interactive explanation of Fitts’ Law	and why it matters </a:t>
            </a:r>
            <a:r>
              <a:rPr sz="28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https://timmarco.com/fitts/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29"/>
              </a:spcBef>
            </a:pPr>
            <a:endParaRPr sz="2800" dirty="0">
              <a:latin typeface="Arial"/>
              <a:cs typeface="Arial"/>
            </a:endParaRPr>
          </a:p>
          <a:p>
            <a:pPr marL="12700" marR="2257425"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</a:rPr>
              <a:t>Meta theory: discussion of theory use in design</a:t>
            </a:r>
          </a:p>
          <a:p>
            <a:pPr marL="1661160" marR="5080">
              <a:lnSpc>
                <a:spcPct val="100400"/>
              </a:lnSpc>
              <a:spcBef>
                <a:spcPts val="1215"/>
              </a:spcBef>
            </a:pP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Beck</a:t>
            </a:r>
            <a:r>
              <a:rPr sz="2800" b="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&amp;</a:t>
            </a:r>
            <a:r>
              <a:rPr sz="2800" b="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Stolterman:</a:t>
            </a:r>
            <a:r>
              <a:rPr sz="2800" b="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Examining</a:t>
            </a:r>
            <a:r>
              <a:rPr sz="2800" b="0" i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Practical, Everyday Theory </a:t>
            </a:r>
            <a:r>
              <a:rPr sz="2800" b="0" i="1" spc="-25" dirty="0">
                <a:solidFill>
                  <a:srgbClr val="5E5E5E"/>
                </a:solidFill>
                <a:latin typeface="Arial"/>
                <a:cs typeface="Arial"/>
              </a:rPr>
              <a:t>Use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in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Design</a:t>
            </a:r>
            <a:r>
              <a:rPr sz="2800" b="0" i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Research</a:t>
            </a:r>
            <a:r>
              <a:rPr sz="2800" b="0" i="1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(2016)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–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in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reading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folder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920E038-60AC-50F7-C2FC-5138EAFE8545}"/>
              </a:ext>
            </a:extLst>
          </p:cNvPr>
          <p:cNvSpPr txBox="1"/>
          <p:nvPr/>
        </p:nvSpPr>
        <p:spPr>
          <a:xfrm>
            <a:off x="6065470" y="8110089"/>
            <a:ext cx="12258040" cy="211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57425">
              <a:lnSpc>
                <a:spcPct val="100000"/>
              </a:lnSpc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Seminal</a:t>
            </a:r>
            <a:r>
              <a:rPr sz="33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account</a:t>
            </a:r>
            <a:r>
              <a:rPr sz="33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330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why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should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move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20" dirty="0">
                <a:solidFill>
                  <a:srgbClr val="FDAD00"/>
                </a:solidFill>
                <a:latin typeface="Arial"/>
                <a:cs typeface="Arial"/>
              </a:rPr>
              <a:t>past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purely</a:t>
            </a:r>
            <a:r>
              <a:rPr sz="330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“hard”</a:t>
            </a:r>
            <a:r>
              <a:rPr sz="33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science</a:t>
            </a:r>
            <a:r>
              <a:rPr sz="33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FDAD00"/>
                </a:solidFill>
                <a:latin typeface="Arial"/>
                <a:cs typeface="Arial"/>
              </a:rPr>
              <a:t>perspectives</a:t>
            </a:r>
            <a:r>
              <a:rPr sz="3300" b="1" spc="-11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(tougher</a:t>
            </a:r>
            <a:r>
              <a:rPr sz="3300" b="1" spc="-1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FDAD00"/>
                </a:solidFill>
                <a:latin typeface="Arial"/>
                <a:cs typeface="Arial"/>
              </a:rPr>
              <a:t>read)</a:t>
            </a:r>
            <a:endParaRPr sz="3300" dirty="0">
              <a:latin typeface="Arial"/>
              <a:cs typeface="Arial"/>
            </a:endParaRPr>
          </a:p>
          <a:p>
            <a:pPr marL="1650364" marR="5080">
              <a:lnSpc>
                <a:spcPct val="100400"/>
              </a:lnSpc>
              <a:spcBef>
                <a:spcPts val="1400"/>
              </a:spcBef>
            </a:pP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Carroll</a:t>
            </a:r>
            <a:r>
              <a:rPr sz="295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&amp;</a:t>
            </a:r>
            <a:r>
              <a:rPr sz="2950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Campbell:</a:t>
            </a:r>
            <a:r>
              <a:rPr sz="29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Softening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Up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Hard</a:t>
            </a:r>
            <a:r>
              <a:rPr sz="2950" i="1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Science: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reply</a:t>
            </a:r>
            <a:r>
              <a:rPr sz="2950" i="1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to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spc="-10" dirty="0">
                <a:solidFill>
                  <a:srgbClr val="7E7E7E"/>
                </a:solidFill>
                <a:latin typeface="Arial"/>
                <a:cs typeface="Arial"/>
              </a:rPr>
              <a:t>Newell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Card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(1986)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–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in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reading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spc="-10" dirty="0">
                <a:solidFill>
                  <a:srgbClr val="7E7E7E"/>
                </a:solidFill>
                <a:latin typeface="Arial"/>
                <a:cs typeface="Arial"/>
              </a:rPr>
              <a:t>folder</a:t>
            </a:r>
            <a:endParaRPr sz="2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46053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72060" y="2645155"/>
            <a:ext cx="7559040" cy="6017260"/>
          </a:xfrm>
          <a:custGeom>
            <a:avLst/>
            <a:gdLst/>
            <a:ahLst/>
            <a:cxnLst/>
            <a:rect l="l" t="t" r="r" b="b"/>
            <a:pathLst>
              <a:path w="7559040" h="6017259">
                <a:moveTo>
                  <a:pt x="7558722" y="0"/>
                </a:moveTo>
                <a:lnTo>
                  <a:pt x="0" y="0"/>
                </a:lnTo>
                <a:lnTo>
                  <a:pt x="0" y="6016884"/>
                </a:lnTo>
                <a:lnTo>
                  <a:pt x="7558722" y="6016884"/>
                </a:lnTo>
                <a:lnTo>
                  <a:pt x="75587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64155" y="3701323"/>
            <a:ext cx="6174105" cy="382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2450" spc="-20" dirty="0">
                <a:solidFill>
                  <a:srgbClr val="FFFFFF"/>
                </a:solidFill>
              </a:rPr>
              <a:t>#HCI</a:t>
            </a:r>
            <a:endParaRPr sz="12450"/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450" spc="-10" dirty="0">
                <a:solidFill>
                  <a:srgbClr val="FFFFFF"/>
                </a:solidFill>
              </a:rPr>
              <a:t>_Theory</a:t>
            </a:r>
            <a:endParaRPr sz="12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f2330e-d694-46a5-9daf-2b725ce5ebb5" xsi:nil="true"/>
    <lcf76f155ced4ddcb4097134ff3c332f xmlns="a795dd7b-fd44-42a5-a049-a0c17ac4107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87003BE9ECEA4F94D7C6688CFB6DB4" ma:contentTypeVersion="11" ma:contentTypeDescription="Create a new document." ma:contentTypeScope="" ma:versionID="3904f91b9d797a0fab8a429fcd2f54f3">
  <xsd:schema xmlns:xsd="http://www.w3.org/2001/XMLSchema" xmlns:xs="http://www.w3.org/2001/XMLSchema" xmlns:p="http://schemas.microsoft.com/office/2006/metadata/properties" xmlns:ns2="a795dd7b-fd44-42a5-a049-a0c17ac41070" xmlns:ns3="fcf2330e-d694-46a5-9daf-2b725ce5ebb5" targetNamespace="http://schemas.microsoft.com/office/2006/metadata/properties" ma:root="true" ma:fieldsID="2104b76c6b8208fc738f5b2833970cae" ns2:_="" ns3:_="">
    <xsd:import namespace="a795dd7b-fd44-42a5-a049-a0c17ac41070"/>
    <xsd:import namespace="fcf2330e-d694-46a5-9daf-2b725ce5eb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5dd7b-fd44-42a5-a049-a0c17ac410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2330e-d694-46a5-9daf-2b725ce5ebb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f1e03c-9421-4877-b6e7-3e04a6047738}" ma:internalName="TaxCatchAll" ma:showField="CatchAllData" ma:web="fcf2330e-d694-46a5-9daf-2b725ce5eb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879E60-CBB0-4E26-8908-947CFC9097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242FED-B307-48C8-AF2D-B2A97CD6F17D}">
  <ds:schemaRefs>
    <ds:schemaRef ds:uri="http://schemas.microsoft.com/office/2006/metadata/properties"/>
    <ds:schemaRef ds:uri="http://schemas.microsoft.com/office/infopath/2007/PartnerControls"/>
    <ds:schemaRef ds:uri="fcf2330e-d694-46a5-9daf-2b725ce5ebb5"/>
    <ds:schemaRef ds:uri="a795dd7b-fd44-42a5-a049-a0c17ac41070"/>
  </ds:schemaRefs>
</ds:datastoreItem>
</file>

<file path=customXml/itemProps3.xml><?xml version="1.0" encoding="utf-8"?>
<ds:datastoreItem xmlns:ds="http://schemas.openxmlformats.org/officeDocument/2006/customXml" ds:itemID="{26020E83-4ADF-4DDA-BCF0-025C22333A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95dd7b-fd44-42a5-a049-a0c17ac41070"/>
    <ds:schemaRef ds:uri="fcf2330e-d694-46a5-9daf-2b725ce5e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2235</Words>
  <Application>Microsoft Office PowerPoint</Application>
  <PresentationFormat>Custom</PresentationFormat>
  <Paragraphs>360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Human-Computer Interaction</vt:lpstr>
      <vt:lpstr>Week 2: First Wave</vt:lpstr>
      <vt:lpstr>Reading Chapter 4:</vt:lpstr>
      <vt:lpstr>First wave of HCI</vt:lpstr>
      <vt:lpstr>Broad theoretical approaches in the first era</vt:lpstr>
      <vt:lpstr>PowerPoint Presentation</vt:lpstr>
      <vt:lpstr>1. Using Isolated Ideas from basic science disciplines</vt:lpstr>
      <vt:lpstr>2. Applying theories from basic science disciplines</vt:lpstr>
      <vt:lpstr>2. Applying theories from basic science disciplines</vt:lpstr>
      <vt:lpstr>3. Developing new HCI-specific theory, grounded in</vt:lpstr>
      <vt:lpstr>Week 2: First Wave</vt:lpstr>
      <vt:lpstr>GOMS and Fitts’ Law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READING:</vt:lpstr>
      <vt:lpstr>GOMS: Goals Operators Methods and Selection rules</vt:lpstr>
      <vt:lpstr>PowerPoint Presentation</vt:lpstr>
      <vt:lpstr>PowerPoint Presentation</vt:lpstr>
      <vt:lpstr>PowerPoint Presentation</vt:lpstr>
      <vt:lpstr>PowerPoint Presentation</vt:lpstr>
      <vt:lpstr>Week 2: First Wave</vt:lpstr>
      <vt:lpstr>GOMS and Fitts’ Law</vt:lpstr>
      <vt:lpstr>Direct Manipulation: a foundational GUI theory</vt:lpstr>
      <vt:lpstr>Direct Manipulation: a foundational GUI theory</vt:lpstr>
      <vt:lpstr>Direct Manipulation: a foundational GUI theory</vt:lpstr>
      <vt:lpstr>Gulfs of Execution and Evaluation: interaction problems and how to solve them</vt:lpstr>
      <vt:lpstr>Gulfs of Execution and Evaluation: interaction problems and how to solve them</vt:lpstr>
      <vt:lpstr>Gulfs of Execution and Evaluation: interaction problems and how to solve them</vt:lpstr>
      <vt:lpstr>Gulfs of Execution and Evaluation:</vt:lpstr>
      <vt:lpstr>Gulfs of Execution and Evaluation: interaction problems and how to solve them</vt:lpstr>
      <vt:lpstr>Gulfs of Execution and Evaluation:</vt:lpstr>
      <vt:lpstr>Gulfs of Execution and Evaluation: interaction problems and how to solve them</vt:lpstr>
      <vt:lpstr>Gulfs of Execution as an  Information processing theory?</vt:lpstr>
      <vt:lpstr>Information processing theories in the First Wave: Assumptions</vt:lpstr>
      <vt:lpstr>Information processing theories in the First Wave</vt:lpstr>
      <vt:lpstr>What is the practical effect of these differences in</vt:lpstr>
      <vt:lpstr>Where after the First Wave?</vt:lpstr>
      <vt:lpstr>Next week…</vt:lpstr>
      <vt:lpstr>Reading Chapter 4:</vt:lpstr>
      <vt:lpstr>#HCI _Theory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Human-Computer Interaction</dc:title>
  <dc:creator>dan bennett</dc:creator>
  <cp:lastModifiedBy>Daniel Bennett</cp:lastModifiedBy>
  <cp:revision>24</cp:revision>
  <dcterms:created xsi:type="dcterms:W3CDTF">2025-09-21T20:31:10Z</dcterms:created>
  <dcterms:modified xsi:type="dcterms:W3CDTF">2025-12-10T15:16:30Z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2021-10-01T00:00:00Z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2025-09-21T00:00:00Z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0x0101005287003BE9ECEA4F94D7C6688CFB6DB4</vt:lpwstr>
  </property>
  <property fmtid="{D5CDD505-2E9C-101B-9397-08002B2CF9AE}" pid="7" name="MediaServiceImageTags">
    <vt:lpwstr/>
  </property>
</Properties>
</file>