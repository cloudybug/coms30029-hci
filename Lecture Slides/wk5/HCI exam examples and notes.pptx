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58" r:id="rId7"/>
    <p:sldId id="259" r:id="rId8"/>
    <p:sldId id="260" r:id="rId9"/>
    <p:sldId id="262" r:id="rId10"/>
    <p:sldId id="263" r:id="rId11"/>
    <p:sldId id="264" r:id="rId12"/>
    <p:sldId id="265" r:id="rId13"/>
    <p:sldId id="266"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27B991-545B-9251-3131-3CF63D49228F}" v="15" dt="2025-10-24T14:23:23.15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73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jun Ding" userId="S::bu22327@bristol.ac.uk::4c8bd310-6e36-4ad3-a145-890e6813c4a0" providerId="AD" clId="Web-{6827B991-545B-9251-3131-3CF63D49228F}"/>
    <pc:docChg chg="modSld">
      <pc:chgData name="Jiajun Ding" userId="S::bu22327@bristol.ac.uk::4c8bd310-6e36-4ad3-a145-890e6813c4a0" providerId="AD" clId="Web-{6827B991-545B-9251-3131-3CF63D49228F}" dt="2025-10-24T14:23:23.151" v="8" actId="1076"/>
      <pc:docMkLst>
        <pc:docMk/>
      </pc:docMkLst>
      <pc:sldChg chg="modSp">
        <pc:chgData name="Jiajun Ding" userId="S::bu22327@bristol.ac.uk::4c8bd310-6e36-4ad3-a145-890e6813c4a0" providerId="AD" clId="Web-{6827B991-545B-9251-3131-3CF63D49228F}" dt="2025-10-23T19:32:57.445" v="5" actId="20577"/>
        <pc:sldMkLst>
          <pc:docMk/>
          <pc:sldMk cId="0" sldId="264"/>
        </pc:sldMkLst>
        <pc:spChg chg="mod">
          <ac:chgData name="Jiajun Ding" userId="S::bu22327@bristol.ac.uk::4c8bd310-6e36-4ad3-a145-890e6813c4a0" providerId="AD" clId="Web-{6827B991-545B-9251-3131-3CF63D49228F}" dt="2025-10-23T19:32:57.445" v="5" actId="20577"/>
          <ac:spMkLst>
            <pc:docMk/>
            <pc:sldMk cId="0" sldId="264"/>
            <ac:spMk id="3" creationId="{00000000-0000-0000-0000-000000000000}"/>
          </ac:spMkLst>
        </pc:spChg>
      </pc:sldChg>
      <pc:sldChg chg="modSp">
        <pc:chgData name="Jiajun Ding" userId="S::bu22327@bristol.ac.uk::4c8bd310-6e36-4ad3-a145-890e6813c4a0" providerId="AD" clId="Web-{6827B991-545B-9251-3131-3CF63D49228F}" dt="2025-10-24T14:23:23.151" v="8" actId="1076"/>
        <pc:sldMkLst>
          <pc:docMk/>
          <pc:sldMk cId="0" sldId="265"/>
        </pc:sldMkLst>
        <pc:spChg chg="mod">
          <ac:chgData name="Jiajun Ding" userId="S::bu22327@bristol.ac.uk::4c8bd310-6e36-4ad3-a145-890e6813c4a0" providerId="AD" clId="Web-{6827B991-545B-9251-3131-3CF63D49228F}" dt="2025-10-24T14:20:00.768" v="7" actId="20577"/>
          <ac:spMkLst>
            <pc:docMk/>
            <pc:sldMk cId="0" sldId="265"/>
            <ac:spMk id="3" creationId="{00000000-0000-0000-0000-000000000000}"/>
          </ac:spMkLst>
        </pc:spChg>
        <pc:spChg chg="mod">
          <ac:chgData name="Jiajun Ding" userId="S::bu22327@bristol.ac.uk::4c8bd310-6e36-4ad3-a145-890e6813c4a0" providerId="AD" clId="Web-{6827B991-545B-9251-3131-3CF63D49228F}" dt="2025-10-24T14:23:23.151" v="8" actId="1076"/>
          <ac:spMkLst>
            <pc:docMk/>
            <pc:sldMk cId="0" sldId="265"/>
            <ac:spMk id="5" creationId="{643B6FB4-B297-AAD5-5671-1F5D9A37E0F0}"/>
          </ac:spMkLst>
        </pc:spChg>
      </pc:sldChg>
    </pc:docChg>
  </pc:docChgLst>
  <pc:docChgLst>
    <pc:chgData name="Daniel Bennett" userId="6ce6a2ea-00ce-4296-a45e-b1bdc5833c93" providerId="ADAL" clId="{59B7D72D-1180-4F92-A666-0DE1C3926E10}"/>
    <pc:docChg chg="undo custSel modSld">
      <pc:chgData name="Daniel Bennett" userId="6ce6a2ea-00ce-4296-a45e-b1bdc5833c93" providerId="ADAL" clId="{59B7D72D-1180-4F92-A666-0DE1C3926E10}" dt="2025-10-19T20:10:27.542" v="1934" actId="1076"/>
      <pc:docMkLst>
        <pc:docMk/>
      </pc:docMkLst>
      <pc:sldChg chg="modSp mod">
        <pc:chgData name="Daniel Bennett" userId="6ce6a2ea-00ce-4296-a45e-b1bdc5833c93" providerId="ADAL" clId="{59B7D72D-1180-4F92-A666-0DE1C3926E10}" dt="2025-10-19T20:10:27.542" v="1934" actId="1076"/>
        <pc:sldMkLst>
          <pc:docMk/>
          <pc:sldMk cId="0" sldId="256"/>
        </pc:sldMkLst>
        <pc:spChg chg="mod">
          <ac:chgData name="Daniel Bennett" userId="6ce6a2ea-00ce-4296-a45e-b1bdc5833c93" providerId="ADAL" clId="{59B7D72D-1180-4F92-A666-0DE1C3926E10}" dt="2025-10-19T20:10:27.542" v="1934" actId="1076"/>
          <ac:spMkLst>
            <pc:docMk/>
            <pc:sldMk cId="0" sldId="256"/>
            <ac:spMk id="3" creationId="{00000000-0000-0000-0000-000000000000}"/>
          </ac:spMkLst>
        </pc:spChg>
      </pc:sldChg>
      <pc:sldChg chg="modSp mod">
        <pc:chgData name="Daniel Bennett" userId="6ce6a2ea-00ce-4296-a45e-b1bdc5833c93" providerId="ADAL" clId="{59B7D72D-1180-4F92-A666-0DE1C3926E10}" dt="2025-10-19T19:41:36.420" v="33" actId="20577"/>
        <pc:sldMkLst>
          <pc:docMk/>
          <pc:sldMk cId="0" sldId="258"/>
        </pc:sldMkLst>
        <pc:spChg chg="mod">
          <ac:chgData name="Daniel Bennett" userId="6ce6a2ea-00ce-4296-a45e-b1bdc5833c93" providerId="ADAL" clId="{59B7D72D-1180-4F92-A666-0DE1C3926E10}" dt="2025-10-19T19:41:36.420" v="33" actId="20577"/>
          <ac:spMkLst>
            <pc:docMk/>
            <pc:sldMk cId="0" sldId="258"/>
            <ac:spMk id="3" creationId="{00000000-0000-0000-0000-000000000000}"/>
          </ac:spMkLst>
        </pc:spChg>
      </pc:sldChg>
      <pc:sldChg chg="modSp mod">
        <pc:chgData name="Daniel Bennett" userId="6ce6a2ea-00ce-4296-a45e-b1bdc5833c93" providerId="ADAL" clId="{59B7D72D-1180-4F92-A666-0DE1C3926E10}" dt="2025-10-19T19:45:18.297" v="377" actId="20577"/>
        <pc:sldMkLst>
          <pc:docMk/>
          <pc:sldMk cId="0" sldId="259"/>
        </pc:sldMkLst>
        <pc:spChg chg="mod">
          <ac:chgData name="Daniel Bennett" userId="6ce6a2ea-00ce-4296-a45e-b1bdc5833c93" providerId="ADAL" clId="{59B7D72D-1180-4F92-A666-0DE1C3926E10}" dt="2025-10-19T19:45:18.297" v="377" actId="20577"/>
          <ac:spMkLst>
            <pc:docMk/>
            <pc:sldMk cId="0" sldId="259"/>
            <ac:spMk id="3" creationId="{00000000-0000-0000-0000-000000000000}"/>
          </ac:spMkLst>
        </pc:spChg>
      </pc:sldChg>
      <pc:sldChg chg="modSp mod">
        <pc:chgData name="Daniel Bennett" userId="6ce6a2ea-00ce-4296-a45e-b1bdc5833c93" providerId="ADAL" clId="{59B7D72D-1180-4F92-A666-0DE1C3926E10}" dt="2025-10-19T19:46:05.423" v="421" actId="20577"/>
        <pc:sldMkLst>
          <pc:docMk/>
          <pc:sldMk cId="0" sldId="260"/>
        </pc:sldMkLst>
        <pc:spChg chg="mod">
          <ac:chgData name="Daniel Bennett" userId="6ce6a2ea-00ce-4296-a45e-b1bdc5833c93" providerId="ADAL" clId="{59B7D72D-1180-4F92-A666-0DE1C3926E10}" dt="2025-10-19T19:46:05.423" v="421" actId="20577"/>
          <ac:spMkLst>
            <pc:docMk/>
            <pc:sldMk cId="0" sldId="260"/>
            <ac:spMk id="3" creationId="{00000000-0000-0000-0000-000000000000}"/>
          </ac:spMkLst>
        </pc:spChg>
      </pc:sldChg>
      <pc:sldChg chg="modSp mod">
        <pc:chgData name="Daniel Bennett" userId="6ce6a2ea-00ce-4296-a45e-b1bdc5833c93" providerId="ADAL" clId="{59B7D72D-1180-4F92-A666-0DE1C3926E10}" dt="2025-10-19T20:07:00.596" v="1489" actId="1076"/>
        <pc:sldMkLst>
          <pc:docMk/>
          <pc:sldMk cId="0" sldId="262"/>
        </pc:sldMkLst>
        <pc:spChg chg="mod">
          <ac:chgData name="Daniel Bennett" userId="6ce6a2ea-00ce-4296-a45e-b1bdc5833c93" providerId="ADAL" clId="{59B7D72D-1180-4F92-A666-0DE1C3926E10}" dt="2025-10-19T20:07:00.596" v="1489" actId="1076"/>
          <ac:spMkLst>
            <pc:docMk/>
            <pc:sldMk cId="0" sldId="262"/>
            <ac:spMk id="3" creationId="{00000000-0000-0000-0000-000000000000}"/>
          </ac:spMkLst>
        </pc:spChg>
      </pc:sldChg>
      <pc:sldChg chg="addSp modSp mod modAnim">
        <pc:chgData name="Daniel Bennett" userId="6ce6a2ea-00ce-4296-a45e-b1bdc5833c93" providerId="ADAL" clId="{59B7D72D-1180-4F92-A666-0DE1C3926E10}" dt="2025-10-19T20:09:15.850" v="1835" actId="1076"/>
        <pc:sldMkLst>
          <pc:docMk/>
          <pc:sldMk cId="0" sldId="263"/>
        </pc:sldMkLst>
        <pc:spChg chg="mod">
          <ac:chgData name="Daniel Bennett" userId="6ce6a2ea-00ce-4296-a45e-b1bdc5833c93" providerId="ADAL" clId="{59B7D72D-1180-4F92-A666-0DE1C3926E10}" dt="2025-10-19T20:06:10.073" v="1486" actId="20577"/>
          <ac:spMkLst>
            <pc:docMk/>
            <pc:sldMk cId="0" sldId="263"/>
            <ac:spMk id="3" creationId="{00000000-0000-0000-0000-000000000000}"/>
          </ac:spMkLst>
        </pc:spChg>
        <pc:spChg chg="mod">
          <ac:chgData name="Daniel Bennett" userId="6ce6a2ea-00ce-4296-a45e-b1bdc5833c93" providerId="ADAL" clId="{59B7D72D-1180-4F92-A666-0DE1C3926E10}" dt="2025-10-19T20:06:49.464" v="1488" actId="207"/>
          <ac:spMkLst>
            <pc:docMk/>
            <pc:sldMk cId="0" sldId="263"/>
            <ac:spMk id="4" creationId="{00000000-0000-0000-0000-000000000000}"/>
          </ac:spMkLst>
        </pc:spChg>
        <pc:spChg chg="add mod">
          <ac:chgData name="Daniel Bennett" userId="6ce6a2ea-00ce-4296-a45e-b1bdc5833c93" providerId="ADAL" clId="{59B7D72D-1180-4F92-A666-0DE1C3926E10}" dt="2025-10-19T20:09:15.850" v="1835" actId="1076"/>
          <ac:spMkLst>
            <pc:docMk/>
            <pc:sldMk cId="0" sldId="263"/>
            <ac:spMk id="5" creationId="{DF2348EC-A235-FDBA-3368-108896B7FC28}"/>
          </ac:spMkLst>
        </pc:spChg>
      </pc:sldChg>
      <pc:sldChg chg="modSp mod">
        <pc:chgData name="Daniel Bennett" userId="6ce6a2ea-00ce-4296-a45e-b1bdc5833c93" providerId="ADAL" clId="{59B7D72D-1180-4F92-A666-0DE1C3926E10}" dt="2025-10-19T20:08:02.683" v="1689" actId="20577"/>
        <pc:sldMkLst>
          <pc:docMk/>
          <pc:sldMk cId="0" sldId="264"/>
        </pc:sldMkLst>
        <pc:spChg chg="mod">
          <ac:chgData name="Daniel Bennett" userId="6ce6a2ea-00ce-4296-a45e-b1bdc5833c93" providerId="ADAL" clId="{59B7D72D-1180-4F92-A666-0DE1C3926E10}" dt="2025-10-19T20:08:02.683" v="1689" actId="20577"/>
          <ac:spMkLst>
            <pc:docMk/>
            <pc:sldMk cId="0" sldId="264"/>
            <ac:spMk id="3" creationId="{00000000-0000-0000-0000-000000000000}"/>
          </ac:spMkLst>
        </pc:spChg>
      </pc:sldChg>
      <pc:sldChg chg="modSp mod">
        <pc:chgData name="Daniel Bennett" userId="6ce6a2ea-00ce-4296-a45e-b1bdc5833c93" providerId="ADAL" clId="{59B7D72D-1180-4F92-A666-0DE1C3926E10}" dt="2025-10-19T20:10:02.814" v="1930" actId="20577"/>
        <pc:sldMkLst>
          <pc:docMk/>
          <pc:sldMk cId="0" sldId="266"/>
        </pc:sldMkLst>
        <pc:spChg chg="mod">
          <ac:chgData name="Daniel Bennett" userId="6ce6a2ea-00ce-4296-a45e-b1bdc5833c93" providerId="ADAL" clId="{59B7D72D-1180-4F92-A666-0DE1C3926E10}" dt="2025-10-19T20:10:02.814" v="1930" actId="20577"/>
          <ac:spMkLst>
            <pc:docMk/>
            <pc:sldMk cId="0" sldId="26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645278" y="2137538"/>
            <a:ext cx="2897504" cy="939800"/>
          </a:xfrm>
          <a:prstGeom prst="rect">
            <a:avLst/>
          </a:prstGeom>
        </p:spPr>
        <p:txBody>
          <a:bodyPr wrap="square" lIns="0" tIns="0" rIns="0" bIns="0">
            <a:spAutoFit/>
          </a:bodyPr>
          <a:lstStyle>
            <a:lvl1pPr>
              <a:defRPr sz="37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458986" y="1836393"/>
            <a:ext cx="4712335" cy="4269740"/>
          </a:xfrm>
          <a:prstGeom prst="rect">
            <a:avLst/>
          </a:prstGeom>
        </p:spPr>
        <p:txBody>
          <a:bodyPr wrap="square" lIns="0" tIns="0" rIns="0" bIns="0">
            <a:spAutoFit/>
          </a:bodyPr>
          <a:lstStyle>
            <a:lvl1pPr>
              <a:defRPr sz="1700" b="0" i="0">
                <a:solidFill>
                  <a:schemeClr val="tx1"/>
                </a:solidFill>
                <a:latin typeface="Arial"/>
                <a:cs typeface="Aria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38596"/>
            <a:ext cx="4851400" cy="696594"/>
          </a:xfrm>
          <a:prstGeom prst="rect">
            <a:avLst/>
          </a:prstGeom>
        </p:spPr>
        <p:txBody>
          <a:bodyPr wrap="square" lIns="0" tIns="0" rIns="0" bIns="0">
            <a:spAutoFit/>
          </a:bodyPr>
          <a:lstStyle>
            <a:lvl1pPr>
              <a:defRPr sz="37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41" y="2008695"/>
            <a:ext cx="8460105" cy="170815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10/24/2025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6000" dirty="0"/>
              <a:t>HCI</a:t>
            </a:r>
            <a:r>
              <a:rPr sz="6000" spc="-40" dirty="0"/>
              <a:t> </a:t>
            </a:r>
            <a:r>
              <a:rPr sz="6000" spc="-25" dirty="0"/>
              <a:t>Exam</a:t>
            </a:r>
            <a:endParaRPr sz="6000"/>
          </a:p>
        </p:txBody>
      </p:sp>
      <p:sp>
        <p:nvSpPr>
          <p:cNvPr id="3" name="object 3"/>
          <p:cNvSpPr txBox="1"/>
          <p:nvPr/>
        </p:nvSpPr>
        <p:spPr>
          <a:xfrm>
            <a:off x="4495800" y="3429000"/>
            <a:ext cx="4267200" cy="440313"/>
          </a:xfrm>
          <a:prstGeom prst="rect">
            <a:avLst/>
          </a:prstGeom>
        </p:spPr>
        <p:txBody>
          <a:bodyPr vert="horz" wrap="square" lIns="0" tIns="12700" rIns="0" bIns="0" rtlCol="0">
            <a:spAutoFit/>
          </a:bodyPr>
          <a:lstStyle/>
          <a:p>
            <a:pPr marL="12700" marR="5080" indent="699135" algn="l">
              <a:lnSpc>
                <a:spcPct val="124600"/>
              </a:lnSpc>
              <a:spcBef>
                <a:spcPts val="100"/>
              </a:spcBef>
            </a:pPr>
            <a:r>
              <a:rPr lang="en-GB" sz="2400" dirty="0">
                <a:latin typeface="Calibri"/>
                <a:cs typeface="Calibri"/>
              </a:rPr>
              <a:t>Dan Bennett</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3970">
              <a:lnSpc>
                <a:spcPct val="100000"/>
              </a:lnSpc>
              <a:spcBef>
                <a:spcPts val="105"/>
              </a:spcBef>
            </a:pPr>
            <a:r>
              <a:rPr sz="4400" spc="-395" dirty="0">
                <a:solidFill>
                  <a:srgbClr val="6AA84F"/>
                </a:solidFill>
              </a:rPr>
              <a:t>T</a:t>
            </a:r>
            <a:r>
              <a:rPr sz="4400" dirty="0">
                <a:solidFill>
                  <a:srgbClr val="6AA84F"/>
                </a:solidFill>
              </a:rPr>
              <a:t>o</a:t>
            </a:r>
            <a:r>
              <a:rPr sz="4400" spc="10" dirty="0">
                <a:solidFill>
                  <a:srgbClr val="6AA84F"/>
                </a:solidFill>
              </a:rPr>
              <a:t>d</a:t>
            </a:r>
            <a:r>
              <a:rPr sz="4400" spc="-80" dirty="0">
                <a:solidFill>
                  <a:srgbClr val="6AA84F"/>
                </a:solidFill>
              </a:rPr>
              <a:t>a</a:t>
            </a:r>
            <a:r>
              <a:rPr sz="4400" spc="140" dirty="0">
                <a:solidFill>
                  <a:srgbClr val="6AA84F"/>
                </a:solidFill>
              </a:rPr>
              <a:t>y</a:t>
            </a:r>
            <a:r>
              <a:rPr sz="4400" spc="-265" dirty="0">
                <a:solidFill>
                  <a:srgbClr val="6AA84F"/>
                </a:solidFill>
              </a:rPr>
              <a:t>’</a:t>
            </a:r>
            <a:r>
              <a:rPr sz="4400" spc="10" dirty="0">
                <a:solidFill>
                  <a:srgbClr val="6AA84F"/>
                </a:solidFill>
              </a:rPr>
              <a:t>s</a:t>
            </a:r>
            <a:r>
              <a:rPr sz="4400" spc="-120" dirty="0">
                <a:solidFill>
                  <a:srgbClr val="6AA84F"/>
                </a:solidFill>
              </a:rPr>
              <a:t> </a:t>
            </a:r>
            <a:r>
              <a:rPr sz="4400" spc="-10" dirty="0">
                <a:solidFill>
                  <a:srgbClr val="6AA84F"/>
                </a:solidFill>
              </a:rPr>
              <a:t>Lecture</a:t>
            </a:r>
            <a:endParaRPr sz="4400"/>
          </a:p>
        </p:txBody>
      </p:sp>
      <p:sp>
        <p:nvSpPr>
          <p:cNvPr id="3" name="object 3"/>
          <p:cNvSpPr txBox="1"/>
          <p:nvPr/>
        </p:nvSpPr>
        <p:spPr>
          <a:xfrm>
            <a:off x="697017" y="1854569"/>
            <a:ext cx="4363720" cy="1049655"/>
          </a:xfrm>
          <a:prstGeom prst="rect">
            <a:avLst/>
          </a:prstGeom>
        </p:spPr>
        <p:txBody>
          <a:bodyPr vert="horz" wrap="square" lIns="0" tIns="12700" rIns="0" bIns="0" rtlCol="0">
            <a:spAutoFit/>
          </a:bodyPr>
          <a:lstStyle/>
          <a:p>
            <a:pPr marL="419100" indent="-406400">
              <a:lnSpc>
                <a:spcPts val="2735"/>
              </a:lnSpc>
              <a:spcBef>
                <a:spcPts val="100"/>
              </a:spcBef>
              <a:buSzPct val="50000"/>
              <a:buFont typeface="Arial"/>
              <a:buChar char="●"/>
              <a:tabLst>
                <a:tab pos="419100" algn="l"/>
              </a:tabLst>
            </a:pPr>
            <a:r>
              <a:rPr sz="2400" dirty="0">
                <a:latin typeface="Calibri"/>
                <a:cs typeface="Calibri"/>
              </a:rPr>
              <a:t>HCI</a:t>
            </a:r>
            <a:r>
              <a:rPr sz="2400" spc="-75" dirty="0">
                <a:latin typeface="Calibri"/>
                <a:cs typeface="Calibri"/>
              </a:rPr>
              <a:t> </a:t>
            </a:r>
            <a:r>
              <a:rPr sz="2400" dirty="0">
                <a:latin typeface="Calibri"/>
                <a:cs typeface="Calibri"/>
              </a:rPr>
              <a:t>exam</a:t>
            </a:r>
            <a:r>
              <a:rPr sz="2400" spc="-70" dirty="0">
                <a:latin typeface="Calibri"/>
                <a:cs typeface="Calibri"/>
              </a:rPr>
              <a:t> </a:t>
            </a:r>
            <a:r>
              <a:rPr sz="2400" spc="-10" dirty="0">
                <a:latin typeface="Calibri"/>
                <a:cs typeface="Calibri"/>
              </a:rPr>
              <a:t>format</a:t>
            </a:r>
            <a:endParaRPr sz="2400">
              <a:latin typeface="Calibri"/>
              <a:cs typeface="Calibri"/>
            </a:endParaRPr>
          </a:p>
          <a:p>
            <a:pPr marL="419100" indent="-406400">
              <a:lnSpc>
                <a:spcPts val="2590"/>
              </a:lnSpc>
              <a:buSzPct val="50000"/>
              <a:buFont typeface="Arial"/>
              <a:buChar char="●"/>
              <a:tabLst>
                <a:tab pos="419100" algn="l"/>
              </a:tabLst>
            </a:pPr>
            <a:r>
              <a:rPr sz="2400" dirty="0">
                <a:latin typeface="Calibri"/>
                <a:cs typeface="Calibri"/>
              </a:rPr>
              <a:t>What</a:t>
            </a:r>
            <a:r>
              <a:rPr sz="2400" spc="-35" dirty="0">
                <a:latin typeface="Calibri"/>
                <a:cs typeface="Calibri"/>
              </a:rPr>
              <a:t> </a:t>
            </a:r>
            <a:r>
              <a:rPr sz="2400" dirty="0">
                <a:latin typeface="Calibri"/>
                <a:cs typeface="Calibri"/>
              </a:rPr>
              <a:t>do</a:t>
            </a:r>
            <a:r>
              <a:rPr sz="2400" spc="-40" dirty="0">
                <a:latin typeface="Calibri"/>
                <a:cs typeface="Calibri"/>
              </a:rPr>
              <a:t> </a:t>
            </a:r>
            <a:r>
              <a:rPr sz="2400" dirty="0">
                <a:latin typeface="Calibri"/>
                <a:cs typeface="Calibri"/>
              </a:rPr>
              <a:t>I</a:t>
            </a:r>
            <a:r>
              <a:rPr sz="2400" spc="-35" dirty="0">
                <a:latin typeface="Calibri"/>
                <a:cs typeface="Calibri"/>
              </a:rPr>
              <a:t> </a:t>
            </a:r>
            <a:r>
              <a:rPr sz="2400" dirty="0">
                <a:latin typeface="Calibri"/>
                <a:cs typeface="Calibri"/>
              </a:rPr>
              <a:t>need</a:t>
            </a:r>
            <a:r>
              <a:rPr sz="2400" spc="-35" dirty="0">
                <a:latin typeface="Calibri"/>
                <a:cs typeface="Calibri"/>
              </a:rPr>
              <a:t> </a:t>
            </a:r>
            <a:r>
              <a:rPr sz="2400" dirty="0">
                <a:latin typeface="Calibri"/>
                <a:cs typeface="Calibri"/>
              </a:rPr>
              <a:t>to</a:t>
            </a:r>
            <a:r>
              <a:rPr sz="2400" spc="-35" dirty="0">
                <a:latin typeface="Calibri"/>
                <a:cs typeface="Calibri"/>
              </a:rPr>
              <a:t> </a:t>
            </a:r>
            <a:r>
              <a:rPr sz="2400" spc="-10" dirty="0">
                <a:latin typeface="Calibri"/>
                <a:cs typeface="Calibri"/>
              </a:rPr>
              <a:t>revise?</a:t>
            </a:r>
            <a:endParaRPr sz="2400">
              <a:latin typeface="Calibri"/>
              <a:cs typeface="Calibri"/>
            </a:endParaRPr>
          </a:p>
          <a:p>
            <a:pPr marL="419100" indent="-406400">
              <a:lnSpc>
                <a:spcPts val="2735"/>
              </a:lnSpc>
              <a:buSzPct val="50000"/>
              <a:buFont typeface="Arial"/>
              <a:buChar char="●"/>
              <a:tabLst>
                <a:tab pos="419100" algn="l"/>
              </a:tabLst>
            </a:pPr>
            <a:r>
              <a:rPr sz="2400" dirty="0">
                <a:latin typeface="Calibri"/>
                <a:cs typeface="Calibri"/>
              </a:rPr>
              <a:t>Example</a:t>
            </a:r>
            <a:r>
              <a:rPr sz="2400" spc="-95" dirty="0">
                <a:latin typeface="Calibri"/>
                <a:cs typeface="Calibri"/>
              </a:rPr>
              <a:t> </a:t>
            </a:r>
            <a:r>
              <a:rPr sz="2400" dirty="0">
                <a:latin typeface="Calibri"/>
                <a:cs typeface="Calibri"/>
              </a:rPr>
              <a:t>questions</a:t>
            </a:r>
            <a:r>
              <a:rPr sz="2400" spc="-95" dirty="0">
                <a:latin typeface="Calibri"/>
                <a:cs typeface="Calibri"/>
              </a:rPr>
              <a:t> </a:t>
            </a:r>
            <a:r>
              <a:rPr sz="2400" dirty="0">
                <a:latin typeface="Calibri"/>
                <a:cs typeface="Calibri"/>
              </a:rPr>
              <a:t>and</a:t>
            </a:r>
            <a:r>
              <a:rPr sz="2400" spc="-85" dirty="0">
                <a:latin typeface="Calibri"/>
                <a:cs typeface="Calibri"/>
              </a:rPr>
              <a:t> </a:t>
            </a:r>
            <a:r>
              <a:rPr sz="2400" spc="-10" dirty="0">
                <a:latin typeface="Calibri"/>
                <a:cs typeface="Calibri"/>
              </a:rPr>
              <a:t>answers</a:t>
            </a:r>
            <a:endParaRPr sz="2400">
              <a:latin typeface="Calibri"/>
              <a:cs typeface="Calibri"/>
            </a:endParaRPr>
          </a:p>
        </p:txBody>
      </p:sp>
      <p:grpSp>
        <p:nvGrpSpPr>
          <p:cNvPr id="4" name="object 4"/>
          <p:cNvGrpSpPr/>
          <p:nvPr/>
        </p:nvGrpSpPr>
        <p:grpSpPr>
          <a:xfrm>
            <a:off x="8031542" y="1858608"/>
            <a:ext cx="3662045" cy="3424554"/>
            <a:chOff x="8031542" y="1858608"/>
            <a:chExt cx="3662045" cy="3424554"/>
          </a:xfrm>
        </p:grpSpPr>
        <p:sp>
          <p:nvSpPr>
            <p:cNvPr id="5" name="object 5"/>
            <p:cNvSpPr/>
            <p:nvPr/>
          </p:nvSpPr>
          <p:spPr>
            <a:xfrm>
              <a:off x="10970412" y="3906583"/>
              <a:ext cx="721995" cy="790575"/>
            </a:xfrm>
            <a:custGeom>
              <a:avLst/>
              <a:gdLst/>
              <a:ahLst/>
              <a:cxnLst/>
              <a:rect l="l" t="t" r="r" b="b"/>
              <a:pathLst>
                <a:path w="721995" h="790575">
                  <a:moveTo>
                    <a:pt x="721690" y="363880"/>
                  </a:moveTo>
                  <a:lnTo>
                    <a:pt x="683869" y="389102"/>
                  </a:lnTo>
                  <a:lnTo>
                    <a:pt x="642912" y="406831"/>
                  </a:lnTo>
                  <a:lnTo>
                    <a:pt x="599389" y="418604"/>
                  </a:lnTo>
                  <a:lnTo>
                    <a:pt x="553910" y="425970"/>
                  </a:lnTo>
                  <a:lnTo>
                    <a:pt x="507060" y="430453"/>
                  </a:lnTo>
                  <a:lnTo>
                    <a:pt x="471182" y="432828"/>
                  </a:lnTo>
                  <a:lnTo>
                    <a:pt x="480872" y="418058"/>
                  </a:lnTo>
                  <a:lnTo>
                    <a:pt x="497103" y="389547"/>
                  </a:lnTo>
                  <a:lnTo>
                    <a:pt x="511505" y="360070"/>
                  </a:lnTo>
                  <a:lnTo>
                    <a:pt x="524052" y="329717"/>
                  </a:lnTo>
                  <a:lnTo>
                    <a:pt x="474192" y="323507"/>
                  </a:lnTo>
                  <a:lnTo>
                    <a:pt x="430415" y="316433"/>
                  </a:lnTo>
                  <a:lnTo>
                    <a:pt x="399300" y="310629"/>
                  </a:lnTo>
                  <a:lnTo>
                    <a:pt x="387464" y="308216"/>
                  </a:lnTo>
                  <a:lnTo>
                    <a:pt x="545922" y="257962"/>
                  </a:lnTo>
                  <a:lnTo>
                    <a:pt x="555244" y="206590"/>
                  </a:lnTo>
                  <a:lnTo>
                    <a:pt x="559511" y="154736"/>
                  </a:lnTo>
                  <a:lnTo>
                    <a:pt x="558749" y="102781"/>
                  </a:lnTo>
                  <a:lnTo>
                    <a:pt x="552932" y="51079"/>
                  </a:lnTo>
                  <a:lnTo>
                    <a:pt x="542086" y="0"/>
                  </a:lnTo>
                  <a:lnTo>
                    <a:pt x="519506" y="39433"/>
                  </a:lnTo>
                  <a:lnTo>
                    <a:pt x="490753" y="73571"/>
                  </a:lnTo>
                  <a:lnTo>
                    <a:pt x="457047" y="103517"/>
                  </a:lnTo>
                  <a:lnTo>
                    <a:pt x="419633" y="130378"/>
                  </a:lnTo>
                  <a:lnTo>
                    <a:pt x="379704" y="155282"/>
                  </a:lnTo>
                  <a:lnTo>
                    <a:pt x="338493" y="179324"/>
                  </a:lnTo>
                  <a:lnTo>
                    <a:pt x="297218" y="203619"/>
                  </a:lnTo>
                  <a:lnTo>
                    <a:pt x="257111" y="229285"/>
                  </a:lnTo>
                  <a:lnTo>
                    <a:pt x="219379" y="257416"/>
                  </a:lnTo>
                  <a:lnTo>
                    <a:pt x="185242" y="289140"/>
                  </a:lnTo>
                  <a:lnTo>
                    <a:pt x="154965" y="327139"/>
                  </a:lnTo>
                  <a:lnTo>
                    <a:pt x="130987" y="368782"/>
                  </a:lnTo>
                  <a:lnTo>
                    <a:pt x="113525" y="413283"/>
                  </a:lnTo>
                  <a:lnTo>
                    <a:pt x="102844" y="459879"/>
                  </a:lnTo>
                  <a:lnTo>
                    <a:pt x="99161" y="507784"/>
                  </a:lnTo>
                  <a:lnTo>
                    <a:pt x="102730" y="556234"/>
                  </a:lnTo>
                  <a:lnTo>
                    <a:pt x="69405" y="669290"/>
                  </a:lnTo>
                  <a:lnTo>
                    <a:pt x="78168" y="668121"/>
                  </a:lnTo>
                  <a:lnTo>
                    <a:pt x="0" y="752195"/>
                  </a:lnTo>
                  <a:lnTo>
                    <a:pt x="49618" y="769099"/>
                  </a:lnTo>
                  <a:lnTo>
                    <a:pt x="100241" y="781050"/>
                  </a:lnTo>
                  <a:lnTo>
                    <a:pt x="151472" y="788047"/>
                  </a:lnTo>
                  <a:lnTo>
                    <a:pt x="202984" y="790117"/>
                  </a:lnTo>
                  <a:lnTo>
                    <a:pt x="254393" y="787285"/>
                  </a:lnTo>
                  <a:lnTo>
                    <a:pt x="305371" y="779576"/>
                  </a:lnTo>
                  <a:lnTo>
                    <a:pt x="355523" y="766991"/>
                  </a:lnTo>
                  <a:lnTo>
                    <a:pt x="404520" y="749566"/>
                  </a:lnTo>
                  <a:lnTo>
                    <a:pt x="451993" y="727316"/>
                  </a:lnTo>
                  <a:lnTo>
                    <a:pt x="507619" y="692480"/>
                  </a:lnTo>
                  <a:lnTo>
                    <a:pt x="558431" y="650951"/>
                  </a:lnTo>
                  <a:lnTo>
                    <a:pt x="516572" y="623163"/>
                  </a:lnTo>
                  <a:lnTo>
                    <a:pt x="480542" y="597306"/>
                  </a:lnTo>
                  <a:lnTo>
                    <a:pt x="455295" y="578243"/>
                  </a:lnTo>
                  <a:lnTo>
                    <a:pt x="445782" y="570801"/>
                  </a:lnTo>
                  <a:lnTo>
                    <a:pt x="610031" y="596468"/>
                  </a:lnTo>
                  <a:lnTo>
                    <a:pt x="641286" y="554634"/>
                  </a:lnTo>
                  <a:lnTo>
                    <a:pt x="668248" y="510133"/>
                  </a:lnTo>
                  <a:lnTo>
                    <a:pt x="690740" y="463283"/>
                  </a:lnTo>
                  <a:lnTo>
                    <a:pt x="708609" y="414426"/>
                  </a:lnTo>
                  <a:lnTo>
                    <a:pt x="721690" y="363880"/>
                  </a:lnTo>
                  <a:close/>
                </a:path>
              </a:pathLst>
            </a:custGeom>
            <a:solidFill>
              <a:srgbClr val="F1F1F1"/>
            </a:solidFill>
          </p:spPr>
          <p:txBody>
            <a:bodyPr wrap="square" lIns="0" tIns="0" rIns="0" bIns="0" rtlCol="0"/>
            <a:lstStyle/>
            <a:p>
              <a:endParaRPr/>
            </a:p>
          </p:txBody>
        </p:sp>
        <p:sp>
          <p:nvSpPr>
            <p:cNvPr id="6" name="object 6"/>
            <p:cNvSpPr/>
            <p:nvPr/>
          </p:nvSpPr>
          <p:spPr>
            <a:xfrm>
              <a:off x="8031542" y="4704609"/>
              <a:ext cx="3662045" cy="13335"/>
            </a:xfrm>
            <a:custGeom>
              <a:avLst/>
              <a:gdLst/>
              <a:ahLst/>
              <a:cxnLst/>
              <a:rect l="l" t="t" r="r" b="b"/>
              <a:pathLst>
                <a:path w="3662045" h="13335">
                  <a:moveTo>
                    <a:pt x="3658582" y="12891"/>
                  </a:moveTo>
                  <a:lnTo>
                    <a:pt x="2888" y="12902"/>
                  </a:lnTo>
                  <a:lnTo>
                    <a:pt x="0" y="10015"/>
                  </a:lnTo>
                  <a:lnTo>
                    <a:pt x="0" y="2897"/>
                  </a:lnTo>
                  <a:lnTo>
                    <a:pt x="2888" y="10"/>
                  </a:lnTo>
                  <a:lnTo>
                    <a:pt x="3658544" y="0"/>
                  </a:lnTo>
                  <a:lnTo>
                    <a:pt x="3661432" y="2865"/>
                  </a:lnTo>
                  <a:lnTo>
                    <a:pt x="3661443" y="6456"/>
                  </a:lnTo>
                  <a:lnTo>
                    <a:pt x="3661454" y="10004"/>
                  </a:lnTo>
                  <a:lnTo>
                    <a:pt x="3658582" y="12891"/>
                  </a:lnTo>
                  <a:close/>
                </a:path>
              </a:pathLst>
            </a:custGeom>
            <a:solidFill>
              <a:srgbClr val="CCCCCC"/>
            </a:solidFill>
          </p:spPr>
          <p:txBody>
            <a:bodyPr wrap="square" lIns="0" tIns="0" rIns="0" bIns="0" rtlCol="0"/>
            <a:lstStyle/>
            <a:p>
              <a:endParaRPr/>
            </a:p>
          </p:txBody>
        </p:sp>
        <p:pic>
          <p:nvPicPr>
            <p:cNvPr id="7" name="object 7"/>
            <p:cNvPicPr/>
            <p:nvPr/>
          </p:nvPicPr>
          <p:blipFill>
            <a:blip r:embed="rId2" cstate="print"/>
            <a:stretch>
              <a:fillRect/>
            </a:stretch>
          </p:blipFill>
          <p:spPr>
            <a:xfrm>
              <a:off x="8378345" y="1858608"/>
              <a:ext cx="2768355" cy="3424389"/>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HCI</a:t>
            </a:r>
            <a:r>
              <a:rPr spc="5" dirty="0"/>
              <a:t> </a:t>
            </a:r>
            <a:r>
              <a:rPr dirty="0"/>
              <a:t>Exam</a:t>
            </a:r>
            <a:r>
              <a:rPr spc="20" dirty="0"/>
              <a:t> </a:t>
            </a:r>
            <a:r>
              <a:rPr spc="-10" dirty="0"/>
              <a:t>Format</a:t>
            </a:r>
          </a:p>
        </p:txBody>
      </p:sp>
      <p:sp>
        <p:nvSpPr>
          <p:cNvPr id="3" name="object 3"/>
          <p:cNvSpPr txBox="1"/>
          <p:nvPr/>
        </p:nvSpPr>
        <p:spPr>
          <a:xfrm>
            <a:off x="916941" y="1924875"/>
            <a:ext cx="8722995" cy="2910412"/>
          </a:xfrm>
          <a:prstGeom prst="rect">
            <a:avLst/>
          </a:prstGeom>
        </p:spPr>
        <p:txBody>
          <a:bodyPr vert="horz" wrap="square" lIns="0" tIns="12065" rIns="0" bIns="0" rtlCol="0">
            <a:spAutoFit/>
          </a:bodyPr>
          <a:lstStyle/>
          <a:p>
            <a:pPr marL="240665" indent="-227965">
              <a:lnSpc>
                <a:spcPts val="2575"/>
              </a:lnSpc>
              <a:spcBef>
                <a:spcPts val="95"/>
              </a:spcBef>
              <a:buClr>
                <a:srgbClr val="44536A"/>
              </a:buClr>
              <a:buFont typeface="Arial"/>
              <a:buChar char="•"/>
              <a:tabLst>
                <a:tab pos="240665" algn="l"/>
              </a:tabLst>
            </a:pPr>
            <a:r>
              <a:rPr sz="2200" dirty="0">
                <a:latin typeface="Calibri"/>
                <a:cs typeface="Calibri"/>
              </a:rPr>
              <a:t>The</a:t>
            </a:r>
            <a:r>
              <a:rPr sz="2200" spc="-55" dirty="0">
                <a:latin typeface="Calibri"/>
                <a:cs typeface="Calibri"/>
              </a:rPr>
              <a:t> </a:t>
            </a:r>
            <a:r>
              <a:rPr lang="en-GB" sz="2200" dirty="0">
                <a:latin typeface="Calibri"/>
                <a:cs typeface="Calibri"/>
              </a:rPr>
              <a:t>midterm</a:t>
            </a:r>
            <a:r>
              <a:rPr sz="2200" spc="-50" dirty="0">
                <a:latin typeface="Calibri"/>
                <a:cs typeface="Calibri"/>
              </a:rPr>
              <a:t> </a:t>
            </a:r>
            <a:r>
              <a:rPr sz="2200" dirty="0">
                <a:latin typeface="Calibri"/>
                <a:cs typeface="Calibri"/>
              </a:rPr>
              <a:t>lasts</a:t>
            </a:r>
            <a:r>
              <a:rPr sz="2200" spc="-70" dirty="0">
                <a:latin typeface="Calibri"/>
                <a:cs typeface="Calibri"/>
              </a:rPr>
              <a:t> </a:t>
            </a:r>
            <a:r>
              <a:rPr sz="2200" dirty="0">
                <a:latin typeface="Calibri"/>
                <a:cs typeface="Calibri"/>
              </a:rPr>
              <a:t>for</a:t>
            </a:r>
            <a:r>
              <a:rPr sz="2200" spc="-70" dirty="0">
                <a:latin typeface="Calibri"/>
                <a:cs typeface="Calibri"/>
              </a:rPr>
              <a:t> </a:t>
            </a:r>
            <a:r>
              <a:rPr lang="en-GB" sz="2200" dirty="0">
                <a:latin typeface="Calibri"/>
                <a:cs typeface="Calibri"/>
              </a:rPr>
              <a:t>50 mins</a:t>
            </a:r>
          </a:p>
          <a:p>
            <a:pPr marL="240665" indent="-227965">
              <a:lnSpc>
                <a:spcPts val="2575"/>
              </a:lnSpc>
              <a:spcBef>
                <a:spcPts val="95"/>
              </a:spcBef>
              <a:buClr>
                <a:srgbClr val="44536A"/>
              </a:buClr>
              <a:buFont typeface="Arial"/>
              <a:buChar char="•"/>
              <a:tabLst>
                <a:tab pos="240665" algn="l"/>
              </a:tabLst>
            </a:pPr>
            <a:r>
              <a:rPr lang="en-GB" sz="2200" dirty="0">
                <a:latin typeface="Calibri"/>
                <a:cs typeface="Calibri"/>
              </a:rPr>
              <a:t>The final exam lasts for 1 hour</a:t>
            </a:r>
            <a:endParaRPr sz="2200" dirty="0">
              <a:latin typeface="Calibri"/>
              <a:cs typeface="Calibri"/>
            </a:endParaRPr>
          </a:p>
          <a:p>
            <a:pPr marL="240665" marR="57150" indent="-228600">
              <a:lnSpc>
                <a:spcPts val="2510"/>
              </a:lnSpc>
              <a:spcBef>
                <a:spcPts val="125"/>
              </a:spcBef>
              <a:buClr>
                <a:srgbClr val="44536A"/>
              </a:buClr>
              <a:buFont typeface="Arial"/>
              <a:buChar char="•"/>
              <a:tabLst>
                <a:tab pos="240665" algn="l"/>
              </a:tabLst>
            </a:pPr>
            <a:r>
              <a:rPr sz="2200" dirty="0">
                <a:latin typeface="Calibri"/>
                <a:cs typeface="Calibri"/>
              </a:rPr>
              <a:t>The</a:t>
            </a:r>
            <a:r>
              <a:rPr sz="2200" spc="-35" dirty="0">
                <a:latin typeface="Calibri"/>
                <a:cs typeface="Calibri"/>
              </a:rPr>
              <a:t> </a:t>
            </a:r>
            <a:r>
              <a:rPr sz="2200" dirty="0">
                <a:latin typeface="Calibri"/>
                <a:cs typeface="Calibri"/>
              </a:rPr>
              <a:t>exam</a:t>
            </a:r>
            <a:r>
              <a:rPr sz="2200" spc="-30" dirty="0">
                <a:latin typeface="Calibri"/>
                <a:cs typeface="Calibri"/>
              </a:rPr>
              <a:t> </a:t>
            </a:r>
            <a:r>
              <a:rPr sz="2200" dirty="0">
                <a:latin typeface="Calibri"/>
                <a:cs typeface="Calibri"/>
              </a:rPr>
              <a:t>is</a:t>
            </a:r>
            <a:r>
              <a:rPr sz="2200" spc="-50" dirty="0">
                <a:latin typeface="Calibri"/>
                <a:cs typeface="Calibri"/>
              </a:rPr>
              <a:t> </a:t>
            </a:r>
            <a:r>
              <a:rPr sz="2200" dirty="0">
                <a:latin typeface="Calibri"/>
                <a:cs typeface="Calibri"/>
              </a:rPr>
              <a:t>open</a:t>
            </a:r>
            <a:r>
              <a:rPr sz="2200" spc="-50" dirty="0">
                <a:latin typeface="Calibri"/>
                <a:cs typeface="Calibri"/>
              </a:rPr>
              <a:t> </a:t>
            </a:r>
            <a:r>
              <a:rPr sz="2200" dirty="0">
                <a:latin typeface="Calibri"/>
                <a:cs typeface="Calibri"/>
              </a:rPr>
              <a:t>book:</a:t>
            </a:r>
            <a:r>
              <a:rPr sz="2200" spc="-50" dirty="0">
                <a:latin typeface="Calibri"/>
                <a:cs typeface="Calibri"/>
              </a:rPr>
              <a:t> </a:t>
            </a:r>
            <a:r>
              <a:rPr sz="2200" dirty="0">
                <a:latin typeface="Calibri"/>
                <a:cs typeface="Calibri"/>
              </a:rPr>
              <a:t>you</a:t>
            </a:r>
            <a:r>
              <a:rPr sz="2200" spc="-45" dirty="0">
                <a:latin typeface="Calibri"/>
                <a:cs typeface="Calibri"/>
              </a:rPr>
              <a:t> </a:t>
            </a:r>
            <a:r>
              <a:rPr sz="2200" dirty="0">
                <a:latin typeface="Calibri"/>
                <a:cs typeface="Calibri"/>
              </a:rPr>
              <a:t>may</a:t>
            </a:r>
            <a:r>
              <a:rPr sz="2200" spc="-45" dirty="0">
                <a:latin typeface="Calibri"/>
                <a:cs typeface="Calibri"/>
              </a:rPr>
              <a:t> </a:t>
            </a:r>
            <a:r>
              <a:rPr sz="2200" dirty="0">
                <a:latin typeface="Calibri"/>
                <a:cs typeface="Calibri"/>
              </a:rPr>
              <a:t>bring</a:t>
            </a:r>
            <a:r>
              <a:rPr sz="2200" spc="-55" dirty="0">
                <a:latin typeface="Calibri"/>
                <a:cs typeface="Calibri"/>
              </a:rPr>
              <a:t> </a:t>
            </a:r>
            <a:r>
              <a:rPr sz="2200" dirty="0">
                <a:latin typeface="Calibri"/>
                <a:cs typeface="Calibri"/>
              </a:rPr>
              <a:t>to</a:t>
            </a:r>
            <a:r>
              <a:rPr sz="2200" spc="-35" dirty="0">
                <a:latin typeface="Calibri"/>
                <a:cs typeface="Calibri"/>
              </a:rPr>
              <a:t> </a:t>
            </a:r>
            <a:r>
              <a:rPr sz="2200" dirty="0">
                <a:latin typeface="Calibri"/>
                <a:cs typeface="Calibri"/>
              </a:rPr>
              <a:t>the</a:t>
            </a:r>
            <a:r>
              <a:rPr sz="2200" spc="-30" dirty="0">
                <a:latin typeface="Calibri"/>
                <a:cs typeface="Calibri"/>
              </a:rPr>
              <a:t> </a:t>
            </a:r>
            <a:r>
              <a:rPr sz="2200" dirty="0">
                <a:latin typeface="Calibri"/>
                <a:cs typeface="Calibri"/>
              </a:rPr>
              <a:t>exam</a:t>
            </a:r>
            <a:r>
              <a:rPr sz="2200" spc="-50" dirty="0">
                <a:latin typeface="Calibri"/>
                <a:cs typeface="Calibri"/>
              </a:rPr>
              <a:t> </a:t>
            </a:r>
            <a:r>
              <a:rPr sz="2200" dirty="0">
                <a:latin typeface="Calibri"/>
                <a:cs typeface="Calibri"/>
              </a:rPr>
              <a:t>room</a:t>
            </a:r>
            <a:r>
              <a:rPr sz="2200" spc="-40" dirty="0">
                <a:latin typeface="Calibri"/>
                <a:cs typeface="Calibri"/>
              </a:rPr>
              <a:t> </a:t>
            </a:r>
            <a:r>
              <a:rPr sz="2200" dirty="0">
                <a:latin typeface="Calibri"/>
                <a:cs typeface="Calibri"/>
              </a:rPr>
              <a:t>a</a:t>
            </a:r>
            <a:r>
              <a:rPr sz="2200" spc="-50" dirty="0">
                <a:latin typeface="Calibri"/>
                <a:cs typeface="Calibri"/>
              </a:rPr>
              <a:t> </a:t>
            </a:r>
            <a:r>
              <a:rPr sz="2200" spc="-10" dirty="0">
                <a:latin typeface="Calibri"/>
                <a:cs typeface="Calibri"/>
              </a:rPr>
              <a:t>single </a:t>
            </a:r>
            <a:r>
              <a:rPr lang="en-GB" sz="2200" dirty="0">
                <a:latin typeface="Calibri"/>
                <a:cs typeface="Calibri"/>
              </a:rPr>
              <a:t>A4 sheet </a:t>
            </a:r>
            <a:r>
              <a:rPr sz="2200" spc="-35" dirty="0">
                <a:latin typeface="Calibri"/>
                <a:cs typeface="Calibri"/>
              </a:rPr>
              <a:t> </a:t>
            </a:r>
            <a:r>
              <a:rPr sz="2200" dirty="0">
                <a:latin typeface="Calibri"/>
                <a:cs typeface="Calibri"/>
              </a:rPr>
              <a:t>of</a:t>
            </a:r>
            <a:r>
              <a:rPr lang="en-GB" sz="2200" dirty="0">
                <a:latin typeface="Calibri"/>
                <a:cs typeface="Calibri"/>
              </a:rPr>
              <a:t> notes, double sided</a:t>
            </a:r>
            <a:r>
              <a:rPr sz="2200" spc="-10" dirty="0">
                <a:latin typeface="Calibri"/>
                <a:cs typeface="Calibri"/>
              </a:rPr>
              <a:t>.</a:t>
            </a:r>
            <a:endParaRPr sz="2200" dirty="0">
              <a:latin typeface="Calibri"/>
              <a:cs typeface="Calibri"/>
            </a:endParaRPr>
          </a:p>
          <a:p>
            <a:pPr marL="240665" indent="-227965">
              <a:lnSpc>
                <a:spcPts val="2380"/>
              </a:lnSpc>
              <a:buClr>
                <a:srgbClr val="44536A"/>
              </a:buClr>
              <a:buFont typeface="Arial"/>
              <a:buChar char="•"/>
              <a:tabLst>
                <a:tab pos="240665" algn="l"/>
              </a:tabLst>
            </a:pPr>
            <a:r>
              <a:rPr lang="en-GB" sz="2200" dirty="0">
                <a:latin typeface="Calibri"/>
                <a:cs typeface="Calibri"/>
              </a:rPr>
              <a:t>Answer all questions on the paper.</a:t>
            </a:r>
            <a:endParaRPr sz="2200" dirty="0">
              <a:latin typeface="Calibri"/>
              <a:cs typeface="Calibri"/>
            </a:endParaRPr>
          </a:p>
          <a:p>
            <a:pPr marL="240665" marR="302260" indent="-228600">
              <a:lnSpc>
                <a:spcPts val="2510"/>
              </a:lnSpc>
              <a:spcBef>
                <a:spcPts val="125"/>
              </a:spcBef>
              <a:buClr>
                <a:srgbClr val="44536A"/>
              </a:buClr>
              <a:buFont typeface="Arial"/>
              <a:buChar char="•"/>
              <a:tabLst>
                <a:tab pos="240665" algn="l"/>
              </a:tabLst>
            </a:pPr>
            <a:r>
              <a:rPr lang="en-GB" sz="2200" dirty="0">
                <a:latin typeface="Calibri"/>
                <a:cs typeface="Calibri"/>
              </a:rPr>
              <a:t>The total number of marks is written on the paper (50 in each case)</a:t>
            </a:r>
            <a:endParaRPr sz="2200" dirty="0">
              <a:latin typeface="Calibri"/>
              <a:cs typeface="Calibri"/>
            </a:endParaRPr>
          </a:p>
          <a:p>
            <a:pPr marL="240665" indent="-227965">
              <a:lnSpc>
                <a:spcPts val="2380"/>
              </a:lnSpc>
              <a:buClr>
                <a:srgbClr val="44536A"/>
              </a:buClr>
              <a:buFont typeface="Arial"/>
              <a:buChar char="•"/>
              <a:tabLst>
                <a:tab pos="240665" algn="l"/>
              </a:tabLst>
            </a:pPr>
            <a:r>
              <a:rPr lang="en-GB" sz="2200" dirty="0">
                <a:latin typeface="Calibri"/>
                <a:cs typeface="Calibri"/>
              </a:rPr>
              <a:t>All questions have guidance on how much you should write (e.g. “answer in around two sentences”)</a:t>
            </a:r>
          </a:p>
          <a:p>
            <a:pPr marL="240665" indent="-227965">
              <a:lnSpc>
                <a:spcPts val="2380"/>
              </a:lnSpc>
              <a:buClr>
                <a:srgbClr val="44536A"/>
              </a:buClr>
              <a:buFont typeface="Arial"/>
              <a:buChar char="•"/>
              <a:tabLst>
                <a:tab pos="240665" algn="l"/>
              </a:tabLst>
            </a:pPr>
            <a:endParaRPr sz="22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What</a:t>
            </a:r>
            <a:r>
              <a:rPr spc="-10" dirty="0"/>
              <a:t> </a:t>
            </a:r>
            <a:r>
              <a:rPr dirty="0"/>
              <a:t>do</a:t>
            </a:r>
            <a:r>
              <a:rPr spc="-10" dirty="0"/>
              <a:t> </a:t>
            </a:r>
            <a:r>
              <a:rPr dirty="0"/>
              <a:t>I</a:t>
            </a:r>
            <a:r>
              <a:rPr spc="-5" dirty="0"/>
              <a:t> </a:t>
            </a:r>
            <a:r>
              <a:rPr dirty="0"/>
              <a:t>have</a:t>
            </a:r>
            <a:r>
              <a:rPr spc="-15" dirty="0"/>
              <a:t> </a:t>
            </a:r>
            <a:r>
              <a:rPr dirty="0"/>
              <a:t>to </a:t>
            </a:r>
            <a:r>
              <a:rPr spc="-10" dirty="0"/>
              <a:t>revise?</a:t>
            </a:r>
          </a:p>
        </p:txBody>
      </p:sp>
      <p:sp>
        <p:nvSpPr>
          <p:cNvPr id="3" name="object 3"/>
          <p:cNvSpPr txBox="1"/>
          <p:nvPr/>
        </p:nvSpPr>
        <p:spPr>
          <a:xfrm>
            <a:off x="916941" y="2008695"/>
            <a:ext cx="7931784" cy="3605602"/>
          </a:xfrm>
          <a:prstGeom prst="rect">
            <a:avLst/>
          </a:prstGeom>
        </p:spPr>
        <p:txBody>
          <a:bodyPr vert="horz" wrap="square" lIns="0" tIns="12700" rIns="0" bIns="0" rtlCol="0">
            <a:spAutoFit/>
          </a:bodyPr>
          <a:lstStyle/>
          <a:p>
            <a:pPr marL="240029" marR="5080" indent="-227329">
              <a:lnSpc>
                <a:spcPct val="114999"/>
              </a:lnSpc>
              <a:spcBef>
                <a:spcPts val="100"/>
              </a:spcBef>
              <a:buClr>
                <a:srgbClr val="44536A"/>
              </a:buClr>
              <a:buFont typeface="Arial"/>
              <a:buChar char="•"/>
              <a:tabLst>
                <a:tab pos="241300" algn="l"/>
              </a:tabLst>
            </a:pPr>
            <a:r>
              <a:rPr sz="2400" spc="-45" dirty="0">
                <a:latin typeface="Calibri"/>
                <a:cs typeface="Calibri"/>
              </a:rPr>
              <a:t>You</a:t>
            </a:r>
            <a:r>
              <a:rPr sz="2400" spc="-40" dirty="0">
                <a:latin typeface="Calibri"/>
                <a:cs typeface="Calibri"/>
              </a:rPr>
              <a:t> </a:t>
            </a:r>
            <a:r>
              <a:rPr sz="2400" dirty="0">
                <a:latin typeface="Calibri"/>
                <a:cs typeface="Calibri"/>
              </a:rPr>
              <a:t>need</a:t>
            </a:r>
            <a:r>
              <a:rPr sz="2400" spc="-50" dirty="0">
                <a:latin typeface="Calibri"/>
                <a:cs typeface="Calibri"/>
              </a:rPr>
              <a:t> </a:t>
            </a:r>
            <a:r>
              <a:rPr sz="2400" dirty="0">
                <a:latin typeface="Calibri"/>
                <a:cs typeface="Calibri"/>
              </a:rPr>
              <a:t>to</a:t>
            </a:r>
            <a:r>
              <a:rPr sz="2400" spc="-55" dirty="0">
                <a:latin typeface="Calibri"/>
                <a:cs typeface="Calibri"/>
              </a:rPr>
              <a:t> </a:t>
            </a:r>
            <a:r>
              <a:rPr sz="2400" dirty="0">
                <a:latin typeface="Calibri"/>
                <a:cs typeface="Calibri"/>
              </a:rPr>
              <a:t>revise</a:t>
            </a:r>
            <a:r>
              <a:rPr sz="2400" spc="-30" dirty="0">
                <a:latin typeface="Calibri"/>
                <a:cs typeface="Calibri"/>
              </a:rPr>
              <a:t> </a:t>
            </a:r>
            <a:r>
              <a:rPr sz="2400" dirty="0">
                <a:latin typeface="Calibri"/>
                <a:cs typeface="Calibri"/>
              </a:rPr>
              <a:t>all</a:t>
            </a:r>
            <a:r>
              <a:rPr sz="2400" spc="-6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the</a:t>
            </a:r>
            <a:r>
              <a:rPr sz="2400" spc="-40" dirty="0">
                <a:latin typeface="Calibri"/>
                <a:cs typeface="Calibri"/>
              </a:rPr>
              <a:t> </a:t>
            </a:r>
            <a:r>
              <a:rPr lang="en-GB" sz="2400" dirty="0">
                <a:latin typeface="Calibri"/>
                <a:cs typeface="Calibri"/>
              </a:rPr>
              <a:t>weeks prior to this week (e.g. everything before accessibility) – except for things I explicitly said would not be on the exam (The hooked model).</a:t>
            </a:r>
            <a:endParaRPr sz="2400" dirty="0">
              <a:latin typeface="Calibri"/>
              <a:cs typeface="Calibri"/>
            </a:endParaRPr>
          </a:p>
          <a:p>
            <a:pPr marL="240029" indent="-227329">
              <a:lnSpc>
                <a:spcPct val="100000"/>
              </a:lnSpc>
              <a:spcBef>
                <a:spcPts val="430"/>
              </a:spcBef>
              <a:buClr>
                <a:srgbClr val="44536A"/>
              </a:buClr>
              <a:buFont typeface="Arial"/>
              <a:buChar char="•"/>
              <a:tabLst>
                <a:tab pos="240029" algn="l"/>
              </a:tabLst>
            </a:pPr>
            <a:r>
              <a:rPr lang="en-GB" sz="2400" spc="-40" dirty="0">
                <a:latin typeface="Calibri"/>
                <a:cs typeface="Calibri"/>
              </a:rPr>
              <a:t>You</a:t>
            </a:r>
            <a:r>
              <a:rPr sz="2400" spc="-50" dirty="0">
                <a:latin typeface="Calibri"/>
                <a:cs typeface="Calibri"/>
              </a:rPr>
              <a:t> </a:t>
            </a:r>
            <a:r>
              <a:rPr lang="en-GB" sz="2400" dirty="0">
                <a:latin typeface="Calibri"/>
                <a:cs typeface="Calibri"/>
              </a:rPr>
              <a:t>will</a:t>
            </a:r>
            <a:r>
              <a:rPr sz="2400" spc="-60" dirty="0">
                <a:latin typeface="Calibri"/>
                <a:cs typeface="Calibri"/>
              </a:rPr>
              <a:t> </a:t>
            </a:r>
            <a:r>
              <a:rPr sz="2400" b="1" dirty="0">
                <a:latin typeface="Calibri"/>
                <a:cs typeface="Calibri"/>
              </a:rPr>
              <a:t>not</a:t>
            </a:r>
            <a:r>
              <a:rPr sz="2400" b="1" spc="-50" dirty="0">
                <a:latin typeface="Calibri"/>
                <a:cs typeface="Calibri"/>
              </a:rPr>
              <a:t> </a:t>
            </a:r>
            <a:r>
              <a:rPr lang="en-GB" sz="2400" dirty="0">
                <a:latin typeface="Calibri"/>
                <a:cs typeface="Calibri"/>
              </a:rPr>
              <a:t>be asked questions on </a:t>
            </a:r>
            <a:r>
              <a:rPr sz="2400" dirty="0">
                <a:latin typeface="Calibri"/>
                <a:cs typeface="Calibri"/>
              </a:rPr>
              <a:t>the</a:t>
            </a:r>
            <a:r>
              <a:rPr sz="2400" spc="-50" dirty="0">
                <a:latin typeface="Calibri"/>
                <a:cs typeface="Calibri"/>
              </a:rPr>
              <a:t> </a:t>
            </a:r>
            <a:r>
              <a:rPr lang="en-GB" sz="2400" spc="-50" dirty="0">
                <a:latin typeface="Calibri"/>
                <a:cs typeface="Calibri"/>
              </a:rPr>
              <a:t>specifics of the </a:t>
            </a:r>
            <a:r>
              <a:rPr sz="2400" dirty="0">
                <a:latin typeface="Calibri"/>
                <a:cs typeface="Calibri"/>
              </a:rPr>
              <a:t>material</a:t>
            </a:r>
            <a:r>
              <a:rPr sz="2400" spc="-80" dirty="0">
                <a:latin typeface="Calibri"/>
                <a:cs typeface="Calibri"/>
              </a:rPr>
              <a:t> </a:t>
            </a:r>
            <a:r>
              <a:rPr lang="en-GB" sz="2400" dirty="0">
                <a:latin typeface="Calibri"/>
                <a:cs typeface="Calibri"/>
              </a:rPr>
              <a:t>from week 5 onwards.</a:t>
            </a:r>
          </a:p>
          <a:p>
            <a:pPr marL="240029" indent="-227329">
              <a:lnSpc>
                <a:spcPct val="100000"/>
              </a:lnSpc>
              <a:spcBef>
                <a:spcPts val="430"/>
              </a:spcBef>
              <a:buClr>
                <a:srgbClr val="44536A"/>
              </a:buClr>
              <a:buFont typeface="Arial"/>
              <a:buChar char="•"/>
              <a:tabLst>
                <a:tab pos="240029" algn="l"/>
              </a:tabLst>
            </a:pPr>
            <a:r>
              <a:rPr lang="en-GB" sz="2400" b="1" dirty="0">
                <a:latin typeface="Calibri"/>
                <a:cs typeface="Calibri"/>
              </a:rPr>
              <a:t>HOWEVER</a:t>
            </a:r>
            <a:r>
              <a:rPr lang="en-GB" sz="2400" dirty="0">
                <a:latin typeface="Calibri"/>
                <a:cs typeface="Calibri"/>
              </a:rPr>
              <a:t>: later materials reflect on and expand on the implications of the earlier material. Understanding this will help you write more detailed high-scoring answers on both coursework and exam.</a:t>
            </a:r>
            <a:endParaRPr sz="2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Some</a:t>
            </a:r>
            <a:r>
              <a:rPr spc="35" dirty="0"/>
              <a:t> </a:t>
            </a:r>
            <a:r>
              <a:rPr dirty="0"/>
              <a:t>good</a:t>
            </a:r>
            <a:r>
              <a:rPr spc="40" dirty="0"/>
              <a:t> </a:t>
            </a:r>
            <a:r>
              <a:rPr spc="-20" dirty="0"/>
              <a:t>news</a:t>
            </a:r>
          </a:p>
        </p:txBody>
      </p:sp>
      <p:sp>
        <p:nvSpPr>
          <p:cNvPr id="3" name="object 3"/>
          <p:cNvSpPr txBox="1">
            <a:spLocks noGrp="1"/>
          </p:cNvSpPr>
          <p:nvPr>
            <p:ph type="body" idx="1"/>
          </p:nvPr>
        </p:nvSpPr>
        <p:spPr>
          <a:xfrm>
            <a:off x="916941" y="2008695"/>
            <a:ext cx="8460105" cy="4582024"/>
          </a:xfrm>
          <a:prstGeom prst="rect">
            <a:avLst/>
          </a:prstGeom>
        </p:spPr>
        <p:txBody>
          <a:bodyPr vert="horz" wrap="square" lIns="0" tIns="67310" rIns="0" bIns="0" rtlCol="0">
            <a:spAutoFit/>
          </a:bodyPr>
          <a:lstStyle/>
          <a:p>
            <a:pPr marL="240029" indent="-227329">
              <a:lnSpc>
                <a:spcPct val="100000"/>
              </a:lnSpc>
              <a:spcBef>
                <a:spcPts val="530"/>
              </a:spcBef>
              <a:buClr>
                <a:srgbClr val="44536A"/>
              </a:buClr>
              <a:buFont typeface="Arial"/>
              <a:buChar char="•"/>
              <a:tabLst>
                <a:tab pos="240029" algn="l"/>
              </a:tabLst>
            </a:pPr>
            <a:r>
              <a:rPr dirty="0"/>
              <a:t>Doing</a:t>
            </a:r>
            <a:r>
              <a:rPr spc="-55" dirty="0"/>
              <a:t> </a:t>
            </a:r>
            <a:r>
              <a:rPr dirty="0"/>
              <a:t>the</a:t>
            </a:r>
            <a:r>
              <a:rPr spc="-55" dirty="0"/>
              <a:t> </a:t>
            </a:r>
            <a:r>
              <a:rPr lang="en-GB" spc="-10" dirty="0"/>
              <a:t>weekly </a:t>
            </a:r>
            <a:r>
              <a:rPr lang="en-GB" spc="-10" dirty="0" err="1"/>
              <a:t>practicals</a:t>
            </a:r>
            <a:r>
              <a:rPr spc="-60" dirty="0"/>
              <a:t> </a:t>
            </a:r>
            <a:r>
              <a:rPr dirty="0"/>
              <a:t>has</a:t>
            </a:r>
            <a:r>
              <a:rPr spc="-55" dirty="0"/>
              <a:t> </a:t>
            </a:r>
            <a:r>
              <a:rPr lang="en-GB" spc="-55" dirty="0"/>
              <a:t>already </a:t>
            </a:r>
            <a:r>
              <a:rPr dirty="0"/>
              <a:t>helped</a:t>
            </a:r>
            <a:r>
              <a:rPr spc="-40" dirty="0"/>
              <a:t> </a:t>
            </a:r>
            <a:r>
              <a:rPr dirty="0"/>
              <a:t>you</a:t>
            </a:r>
            <a:r>
              <a:rPr spc="-65" dirty="0"/>
              <a:t> </a:t>
            </a:r>
            <a:r>
              <a:rPr spc="-10" dirty="0"/>
              <a:t>prepare</a:t>
            </a:r>
            <a:r>
              <a:rPr spc="-50" dirty="0"/>
              <a:t> </a:t>
            </a:r>
            <a:r>
              <a:rPr dirty="0"/>
              <a:t>for</a:t>
            </a:r>
            <a:r>
              <a:rPr spc="-45" dirty="0"/>
              <a:t> </a:t>
            </a:r>
            <a:r>
              <a:rPr dirty="0"/>
              <a:t>the</a:t>
            </a:r>
            <a:r>
              <a:rPr spc="-45" dirty="0"/>
              <a:t> </a:t>
            </a:r>
            <a:r>
              <a:rPr spc="-20" dirty="0"/>
              <a:t>exam</a:t>
            </a:r>
            <a:r>
              <a:rPr lang="en-GB" spc="-20" dirty="0"/>
              <a:t>.</a:t>
            </a:r>
            <a:br>
              <a:rPr lang="en-GB" spc="-20" dirty="0"/>
            </a:br>
            <a:endParaRPr lang="en-GB" dirty="0"/>
          </a:p>
          <a:p>
            <a:pPr marL="240029" indent="-227329">
              <a:lnSpc>
                <a:spcPct val="100000"/>
              </a:lnSpc>
              <a:spcBef>
                <a:spcPts val="434"/>
              </a:spcBef>
              <a:buClr>
                <a:srgbClr val="44536A"/>
              </a:buClr>
              <a:buFont typeface="Arial"/>
              <a:buChar char="•"/>
              <a:tabLst>
                <a:tab pos="240029" algn="l"/>
              </a:tabLst>
            </a:pPr>
            <a:r>
              <a:rPr dirty="0"/>
              <a:t>In</a:t>
            </a:r>
            <a:r>
              <a:rPr spc="-50" dirty="0"/>
              <a:t> </a:t>
            </a:r>
            <a:r>
              <a:rPr dirty="0"/>
              <a:t>the</a:t>
            </a:r>
            <a:r>
              <a:rPr spc="-40" dirty="0"/>
              <a:t> </a:t>
            </a:r>
            <a:r>
              <a:rPr dirty="0"/>
              <a:t>exam</a:t>
            </a:r>
            <a:r>
              <a:rPr spc="-60" dirty="0"/>
              <a:t> </a:t>
            </a:r>
            <a:r>
              <a:rPr dirty="0"/>
              <a:t>you</a:t>
            </a:r>
            <a:r>
              <a:rPr spc="-45" dirty="0"/>
              <a:t> </a:t>
            </a:r>
            <a:r>
              <a:rPr dirty="0"/>
              <a:t>will</a:t>
            </a:r>
            <a:r>
              <a:rPr spc="-55" dirty="0"/>
              <a:t> </a:t>
            </a:r>
            <a:r>
              <a:rPr dirty="0"/>
              <a:t>be</a:t>
            </a:r>
            <a:r>
              <a:rPr spc="-40" dirty="0"/>
              <a:t> </a:t>
            </a:r>
            <a:r>
              <a:rPr dirty="0"/>
              <a:t>asked</a:t>
            </a:r>
            <a:r>
              <a:rPr spc="-60" dirty="0"/>
              <a:t> </a:t>
            </a:r>
            <a:r>
              <a:rPr dirty="0"/>
              <a:t>to</a:t>
            </a:r>
            <a:r>
              <a:rPr spc="-50" dirty="0"/>
              <a:t> </a:t>
            </a:r>
            <a:r>
              <a:rPr dirty="0"/>
              <a:t>do</a:t>
            </a:r>
            <a:r>
              <a:rPr spc="-50" dirty="0"/>
              <a:t> </a:t>
            </a:r>
            <a:r>
              <a:rPr dirty="0"/>
              <a:t>the</a:t>
            </a:r>
            <a:r>
              <a:rPr spc="-40" dirty="0"/>
              <a:t> </a:t>
            </a:r>
            <a:r>
              <a:rPr dirty="0"/>
              <a:t>same</a:t>
            </a:r>
            <a:r>
              <a:rPr spc="-50" dirty="0"/>
              <a:t> </a:t>
            </a:r>
            <a:r>
              <a:rPr lang="en-GB" spc="-50" dirty="0"/>
              <a:t>kinds of </a:t>
            </a:r>
            <a:r>
              <a:rPr spc="-10" dirty="0"/>
              <a:t>thing</a:t>
            </a:r>
            <a:r>
              <a:rPr lang="en-GB" spc="-10" dirty="0"/>
              <a:t>s:</a:t>
            </a:r>
          </a:p>
          <a:p>
            <a:pPr marL="697229" lvl="1" indent="-227329">
              <a:spcBef>
                <a:spcPts val="434"/>
              </a:spcBef>
              <a:buClr>
                <a:srgbClr val="44536A"/>
              </a:buClr>
              <a:buFont typeface="Arial"/>
              <a:buChar char="•"/>
              <a:tabLst>
                <a:tab pos="240029" algn="l"/>
              </a:tabLst>
            </a:pPr>
            <a:r>
              <a:rPr lang="en-GB" spc="-10" dirty="0"/>
              <a:t>Describe concepts and theories</a:t>
            </a:r>
          </a:p>
          <a:p>
            <a:pPr marL="697229" lvl="1" indent="-227329">
              <a:spcBef>
                <a:spcPts val="434"/>
              </a:spcBef>
              <a:buClr>
                <a:srgbClr val="44536A"/>
              </a:buClr>
              <a:buFont typeface="Arial"/>
              <a:buChar char="•"/>
              <a:tabLst>
                <a:tab pos="240029" algn="l"/>
              </a:tabLst>
            </a:pPr>
            <a:r>
              <a:rPr lang="en-GB" spc="-10" dirty="0"/>
              <a:t>Describe differences between theories</a:t>
            </a:r>
          </a:p>
          <a:p>
            <a:pPr marL="697229" lvl="1" indent="-227329">
              <a:spcBef>
                <a:spcPts val="434"/>
              </a:spcBef>
              <a:buClr>
                <a:srgbClr val="44536A"/>
              </a:buClr>
              <a:buFont typeface="Arial"/>
              <a:buChar char="•"/>
              <a:tabLst>
                <a:tab pos="240029" algn="l"/>
              </a:tabLst>
            </a:pPr>
            <a:r>
              <a:rPr lang="en-GB" spc="-10" dirty="0"/>
              <a:t>Apply theories to analyse interaction scenarios</a:t>
            </a:r>
          </a:p>
          <a:p>
            <a:pPr marL="240029" indent="-227329">
              <a:spcBef>
                <a:spcPts val="434"/>
              </a:spcBef>
              <a:buClr>
                <a:srgbClr val="44536A"/>
              </a:buClr>
              <a:buFont typeface="Arial"/>
              <a:buChar char="•"/>
              <a:tabLst>
                <a:tab pos="240029" algn="l"/>
              </a:tabLst>
            </a:pPr>
            <a:endParaRPr lang="en-GB" spc="-10" dirty="0"/>
          </a:p>
          <a:p>
            <a:pPr marL="240029" indent="-227329">
              <a:spcBef>
                <a:spcPts val="434"/>
              </a:spcBef>
              <a:buClr>
                <a:srgbClr val="44536A"/>
              </a:buClr>
              <a:buFont typeface="Arial"/>
              <a:buChar char="•"/>
              <a:tabLst>
                <a:tab pos="240029" algn="l"/>
              </a:tabLst>
            </a:pPr>
            <a:r>
              <a:rPr lang="en-GB" sz="2400" spc="-10" dirty="0"/>
              <a:t>The exam is not essay based. It is organised into small discrete questions (I have tried to give more structure and break up questions into smaller parts than in the past papers).</a:t>
            </a:r>
            <a:endParaRPr lang="en-GB" sz="3600" spc="-10" dirty="0"/>
          </a:p>
          <a:p>
            <a:pPr marL="240029" indent="-227329">
              <a:spcBef>
                <a:spcPts val="434"/>
              </a:spcBef>
              <a:buClr>
                <a:srgbClr val="44536A"/>
              </a:buClr>
              <a:buFont typeface="Arial"/>
              <a:buChar char="•"/>
              <a:tabLst>
                <a:tab pos="240029" algn="l"/>
              </a:tabLst>
            </a:pPr>
            <a:endParaRPr lang="en-GB"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8596"/>
            <a:ext cx="4851400" cy="586058"/>
          </a:xfrm>
          <a:prstGeom prst="rect">
            <a:avLst/>
          </a:prstGeom>
        </p:spPr>
        <p:txBody>
          <a:bodyPr vert="horz" wrap="square" lIns="0" tIns="16510" rIns="0" bIns="0" rtlCol="0">
            <a:spAutoFit/>
          </a:bodyPr>
          <a:lstStyle/>
          <a:p>
            <a:pPr marL="12700">
              <a:lnSpc>
                <a:spcPct val="100000"/>
              </a:lnSpc>
              <a:spcBef>
                <a:spcPts val="130"/>
              </a:spcBef>
            </a:pPr>
            <a:r>
              <a:rPr dirty="0"/>
              <a:t>Example</a:t>
            </a:r>
            <a:r>
              <a:rPr spc="-35" dirty="0"/>
              <a:t> </a:t>
            </a:r>
            <a:r>
              <a:rPr dirty="0"/>
              <a:t>questions</a:t>
            </a:r>
            <a:r>
              <a:rPr spc="-55" dirty="0"/>
              <a:t> </a:t>
            </a:r>
            <a:r>
              <a:rPr lang="en-GB" spc="-25" dirty="0"/>
              <a:t>1a</a:t>
            </a:r>
            <a:endParaRPr spc="-25" dirty="0"/>
          </a:p>
        </p:txBody>
      </p:sp>
      <p:sp>
        <p:nvSpPr>
          <p:cNvPr id="3" name="object 3"/>
          <p:cNvSpPr txBox="1"/>
          <p:nvPr/>
        </p:nvSpPr>
        <p:spPr>
          <a:xfrm>
            <a:off x="916939" y="1522067"/>
            <a:ext cx="8822055" cy="3813865"/>
          </a:xfrm>
          <a:prstGeom prst="rect">
            <a:avLst/>
          </a:prstGeom>
        </p:spPr>
        <p:txBody>
          <a:bodyPr vert="horz" wrap="square" lIns="0" tIns="40640" rIns="0" bIns="0" rtlCol="0">
            <a:spAutoFit/>
          </a:bodyPr>
          <a:lstStyle/>
          <a:p>
            <a:r>
              <a:rPr lang="en-GB" dirty="0"/>
              <a:t>When people have suffered an injury, they are often given exercises for rehabilitation (to help heal their injury). The injured people must do these exercises regularly at home. A startup, “BIG Health”, is developing technologies to support these rehabilitation exercises. You have been hired by BIG Health as a HCI consultant.</a:t>
            </a:r>
          </a:p>
          <a:p>
            <a:endParaRPr lang="en-GB" dirty="0"/>
          </a:p>
          <a:p>
            <a:pPr lvl="0"/>
            <a:r>
              <a:rPr lang="en-GB" dirty="0"/>
              <a:t>BIG Health users can arrange “remote physical therapy” sessions with a physical therapist. After the session the therapist records patient notes, and other details related to the session. They do this with a mouse and keyboard interface. Describe how you could use KLM-GOMS to evaluate and compare two potential designs for this interface. (</a:t>
            </a:r>
            <a:r>
              <a:rPr lang="en-GB" b="1" dirty="0"/>
              <a:t>Note: you do not need to do a GOMS analysis, just describe what is involved in the process)</a:t>
            </a:r>
            <a:r>
              <a:rPr lang="en-GB" dirty="0"/>
              <a:t> (2-4 sentences)</a:t>
            </a:r>
          </a:p>
          <a:p>
            <a:pPr marL="12700" algn="just">
              <a:lnSpc>
                <a:spcPct val="100000"/>
              </a:lnSpc>
              <a:spcBef>
                <a:spcPts val="625"/>
              </a:spcBef>
            </a:pPr>
            <a:r>
              <a:rPr lang="en-GB" i="1" dirty="0">
                <a:latin typeface="Arial"/>
                <a:cs typeface="Arial"/>
              </a:rPr>
              <a:t>(6</a:t>
            </a:r>
            <a:r>
              <a:rPr lang="en-GB" i="1" spc="-10" dirty="0">
                <a:latin typeface="Arial"/>
                <a:cs typeface="Arial"/>
              </a:rPr>
              <a:t> marks)</a:t>
            </a:r>
          </a:p>
          <a:p>
            <a:pPr marL="12700" marR="6985" indent="635" algn="just">
              <a:lnSpc>
                <a:spcPts val="1939"/>
              </a:lnSpc>
              <a:spcBef>
                <a:spcPts val="1040"/>
              </a:spcBef>
            </a:pPr>
            <a:r>
              <a:rPr sz="1800" dirty="0">
                <a:latin typeface="Arial"/>
                <a:cs typeface="Arial"/>
              </a:rPr>
              <a:t>Try</a:t>
            </a:r>
            <a:r>
              <a:rPr sz="1800" spc="85" dirty="0">
                <a:latin typeface="Arial"/>
                <a:cs typeface="Arial"/>
              </a:rPr>
              <a:t> </a:t>
            </a:r>
            <a:r>
              <a:rPr sz="1800" dirty="0">
                <a:latin typeface="Arial"/>
                <a:cs typeface="Arial"/>
              </a:rPr>
              <a:t>answering</a:t>
            </a:r>
            <a:r>
              <a:rPr sz="1800" spc="120" dirty="0">
                <a:latin typeface="Arial"/>
                <a:cs typeface="Arial"/>
              </a:rPr>
              <a:t> </a:t>
            </a:r>
            <a:r>
              <a:rPr sz="1800" dirty="0">
                <a:latin typeface="Arial"/>
                <a:cs typeface="Arial"/>
              </a:rPr>
              <a:t>this</a:t>
            </a:r>
            <a:r>
              <a:rPr sz="1800" spc="110" dirty="0">
                <a:latin typeface="Arial"/>
                <a:cs typeface="Arial"/>
              </a:rPr>
              <a:t> </a:t>
            </a:r>
            <a:r>
              <a:rPr sz="1800" dirty="0">
                <a:latin typeface="Arial"/>
                <a:cs typeface="Arial"/>
              </a:rPr>
              <a:t>question.</a:t>
            </a:r>
            <a:r>
              <a:rPr sz="1800" spc="114" dirty="0">
                <a:latin typeface="Arial"/>
                <a:cs typeface="Arial"/>
              </a:rPr>
              <a:t> </a:t>
            </a:r>
            <a:r>
              <a:rPr sz="1800" dirty="0">
                <a:latin typeface="Arial"/>
                <a:cs typeface="Arial"/>
              </a:rPr>
              <a:t>I’ll</a:t>
            </a:r>
            <a:r>
              <a:rPr sz="1800" spc="110" dirty="0">
                <a:latin typeface="Arial"/>
                <a:cs typeface="Arial"/>
              </a:rPr>
              <a:t> </a:t>
            </a:r>
            <a:r>
              <a:rPr sz="1800" dirty="0">
                <a:latin typeface="Arial"/>
                <a:cs typeface="Arial"/>
              </a:rPr>
              <a:t>give</a:t>
            </a:r>
            <a:r>
              <a:rPr sz="1800" spc="114" dirty="0">
                <a:latin typeface="Arial"/>
                <a:cs typeface="Arial"/>
              </a:rPr>
              <a:t> </a:t>
            </a:r>
            <a:r>
              <a:rPr sz="1800" dirty="0">
                <a:latin typeface="Arial"/>
                <a:cs typeface="Arial"/>
              </a:rPr>
              <a:t>you</a:t>
            </a:r>
            <a:r>
              <a:rPr sz="1800" spc="110" dirty="0">
                <a:latin typeface="Arial"/>
                <a:cs typeface="Arial"/>
              </a:rPr>
              <a:t> </a:t>
            </a:r>
            <a:r>
              <a:rPr lang="en-GB" sz="1800" spc="110" dirty="0">
                <a:latin typeface="Arial"/>
                <a:cs typeface="Arial"/>
              </a:rPr>
              <a:t>10</a:t>
            </a:r>
            <a:r>
              <a:rPr sz="1800" spc="100" dirty="0">
                <a:latin typeface="Arial"/>
                <a:cs typeface="Arial"/>
              </a:rPr>
              <a:t> </a:t>
            </a:r>
            <a:r>
              <a:rPr sz="1800" dirty="0">
                <a:latin typeface="Arial"/>
                <a:cs typeface="Arial"/>
              </a:rPr>
              <a:t>minutes</a:t>
            </a:r>
            <a:r>
              <a:rPr sz="1800" spc="114" dirty="0">
                <a:latin typeface="Arial"/>
                <a:cs typeface="Arial"/>
              </a:rPr>
              <a:t> </a:t>
            </a:r>
            <a:endParaRPr sz="1800"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8596"/>
            <a:ext cx="4851400" cy="586058"/>
          </a:xfrm>
          <a:prstGeom prst="rect">
            <a:avLst/>
          </a:prstGeom>
        </p:spPr>
        <p:txBody>
          <a:bodyPr vert="horz" wrap="square" lIns="0" tIns="16510" rIns="0" bIns="0" rtlCol="0">
            <a:spAutoFit/>
          </a:bodyPr>
          <a:lstStyle/>
          <a:p>
            <a:pPr marL="12700">
              <a:lnSpc>
                <a:spcPct val="100000"/>
              </a:lnSpc>
              <a:spcBef>
                <a:spcPts val="130"/>
              </a:spcBef>
            </a:pPr>
            <a:r>
              <a:rPr dirty="0"/>
              <a:t>Example</a:t>
            </a:r>
            <a:r>
              <a:rPr spc="-35" dirty="0"/>
              <a:t> </a:t>
            </a:r>
            <a:r>
              <a:rPr dirty="0"/>
              <a:t>questions</a:t>
            </a:r>
            <a:r>
              <a:rPr spc="-55" dirty="0"/>
              <a:t> </a:t>
            </a:r>
            <a:r>
              <a:rPr lang="en-GB" spc="-25" dirty="0"/>
              <a:t>1</a:t>
            </a:r>
            <a:r>
              <a:rPr spc="-25" dirty="0"/>
              <a:t>b</a:t>
            </a:r>
          </a:p>
        </p:txBody>
      </p:sp>
      <p:sp>
        <p:nvSpPr>
          <p:cNvPr id="3" name="object 3"/>
          <p:cNvSpPr txBox="1">
            <a:spLocks noGrp="1"/>
          </p:cNvSpPr>
          <p:nvPr>
            <p:ph sz="half" idx="2"/>
          </p:nvPr>
        </p:nvSpPr>
        <p:spPr>
          <a:xfrm>
            <a:off x="576842" y="1582498"/>
            <a:ext cx="4712335" cy="3020698"/>
          </a:xfrm>
          <a:prstGeom prst="rect">
            <a:avLst/>
          </a:prstGeom>
        </p:spPr>
        <p:txBody>
          <a:bodyPr vert="horz" wrap="square" lIns="0" tIns="65404" rIns="0" bIns="0" rtlCol="0">
            <a:spAutoFit/>
          </a:bodyPr>
          <a:lstStyle/>
          <a:p>
            <a:pPr lvl="0"/>
            <a:r>
              <a:rPr lang="en-GB" dirty="0"/>
              <a:t>BIG Health users can arrange “remote physical therapy” sessions with a physical therapist. After the session the therapist records patient notes, and other details related to the session. They do this with a mouse and keyboard interface. Describe how you could use KLM-GOMS to evaluate and compare two potential designs for this interface. (</a:t>
            </a:r>
            <a:r>
              <a:rPr lang="en-GB" b="1" dirty="0"/>
              <a:t>Note: you do not need to do a GOMS analysis, just describe what is involved in the process)</a:t>
            </a:r>
            <a:r>
              <a:rPr lang="en-GB" dirty="0"/>
              <a:t> (3-5 sentences)</a:t>
            </a:r>
          </a:p>
          <a:p>
            <a:pPr marL="12700" algn="just">
              <a:lnSpc>
                <a:spcPct val="100000"/>
              </a:lnSpc>
              <a:spcBef>
                <a:spcPts val="625"/>
              </a:spcBef>
            </a:pPr>
            <a:r>
              <a:rPr i="1" dirty="0">
                <a:latin typeface="Arial"/>
                <a:cs typeface="Arial"/>
              </a:rPr>
              <a:t>(</a:t>
            </a:r>
            <a:r>
              <a:rPr lang="en-GB" i="1" dirty="0"/>
              <a:t>8</a:t>
            </a:r>
            <a:r>
              <a:rPr i="1" spc="-10" dirty="0">
                <a:latin typeface="Arial"/>
                <a:cs typeface="Arial"/>
              </a:rPr>
              <a:t> marks)</a:t>
            </a:r>
          </a:p>
        </p:txBody>
      </p:sp>
      <p:sp>
        <p:nvSpPr>
          <p:cNvPr id="4" name="object 4"/>
          <p:cNvSpPr txBox="1"/>
          <p:nvPr/>
        </p:nvSpPr>
        <p:spPr>
          <a:xfrm>
            <a:off x="5638800" y="1834357"/>
            <a:ext cx="5937885" cy="3452868"/>
          </a:xfrm>
          <a:prstGeom prst="rect">
            <a:avLst/>
          </a:prstGeom>
        </p:spPr>
        <p:txBody>
          <a:bodyPr vert="horz" wrap="square" lIns="0" tIns="13335" rIns="0" bIns="0" rtlCol="0">
            <a:spAutoFit/>
          </a:bodyPr>
          <a:lstStyle/>
          <a:p>
            <a:pPr marL="12065" marR="5080" algn="just">
              <a:lnSpc>
                <a:spcPct val="100000"/>
              </a:lnSpc>
              <a:spcBef>
                <a:spcPts val="105"/>
              </a:spcBef>
              <a:tabLst>
                <a:tab pos="354965" algn="l"/>
              </a:tabLst>
            </a:pPr>
            <a:r>
              <a:rPr lang="en-GB" sz="1700" dirty="0">
                <a:solidFill>
                  <a:srgbClr val="FF0000"/>
                </a:solidFill>
                <a:latin typeface="Arial"/>
                <a:cs typeface="Arial"/>
              </a:rPr>
              <a:t>In a KLM-GOMS analysis we break the activity into atomic “operators” [1] - </a:t>
            </a:r>
            <a:r>
              <a:rPr lang="en-GB" sz="1700" dirty="0">
                <a:solidFill>
                  <a:srgbClr val="0070C0"/>
                </a:solidFill>
                <a:latin typeface="Arial"/>
                <a:cs typeface="Arial"/>
              </a:rPr>
              <a:t>actions at roughly the level of a keystroke [1].</a:t>
            </a:r>
            <a:r>
              <a:rPr lang="en-GB" sz="1700" dirty="0">
                <a:solidFill>
                  <a:srgbClr val="FF0000"/>
                </a:solidFill>
                <a:latin typeface="Arial"/>
                <a:cs typeface="Arial"/>
              </a:rPr>
              <a:t> </a:t>
            </a:r>
          </a:p>
          <a:p>
            <a:pPr marL="12065" marR="5080" algn="just">
              <a:lnSpc>
                <a:spcPct val="100000"/>
              </a:lnSpc>
              <a:spcBef>
                <a:spcPts val="105"/>
              </a:spcBef>
              <a:tabLst>
                <a:tab pos="354965" algn="l"/>
              </a:tabLst>
            </a:pPr>
            <a:br>
              <a:rPr lang="en-GB" sz="1700" dirty="0">
                <a:solidFill>
                  <a:srgbClr val="FF0000"/>
                </a:solidFill>
                <a:latin typeface="Arial"/>
                <a:cs typeface="Arial"/>
              </a:rPr>
            </a:br>
            <a:r>
              <a:rPr lang="en-GB" sz="1700" dirty="0">
                <a:solidFill>
                  <a:srgbClr val="FF0000"/>
                </a:solidFill>
                <a:latin typeface="Arial"/>
                <a:cs typeface="Arial"/>
              </a:rPr>
              <a:t>Operators includes physical actions (e.g. key press, pointing with mouse) [1], </a:t>
            </a:r>
            <a:r>
              <a:rPr lang="en-GB" sz="1700" dirty="0">
                <a:solidFill>
                  <a:srgbClr val="0070C0"/>
                </a:solidFill>
                <a:latin typeface="Arial"/>
                <a:cs typeface="Arial"/>
              </a:rPr>
              <a:t>as well as mental preparation by the user [1] </a:t>
            </a:r>
            <a:r>
              <a:rPr lang="en-GB" sz="1700" dirty="0">
                <a:solidFill>
                  <a:srgbClr val="FF0000"/>
                </a:solidFill>
                <a:latin typeface="Arial"/>
                <a:cs typeface="Arial"/>
              </a:rPr>
              <a:t>and system response times [1].</a:t>
            </a:r>
          </a:p>
          <a:p>
            <a:pPr marL="354965" marR="5080" indent="-342900" algn="just">
              <a:lnSpc>
                <a:spcPct val="100000"/>
              </a:lnSpc>
              <a:spcBef>
                <a:spcPts val="105"/>
              </a:spcBef>
              <a:buFont typeface="Times New Roman"/>
              <a:buChar char="-"/>
              <a:tabLst>
                <a:tab pos="354965" algn="l"/>
              </a:tabLst>
            </a:pPr>
            <a:endParaRPr lang="en-GB" sz="1700" dirty="0">
              <a:solidFill>
                <a:srgbClr val="FF0000"/>
              </a:solidFill>
              <a:latin typeface="Arial"/>
              <a:cs typeface="Arial"/>
            </a:endParaRPr>
          </a:p>
          <a:p>
            <a:pPr marL="12065" marR="5080" algn="just">
              <a:lnSpc>
                <a:spcPct val="100000"/>
              </a:lnSpc>
              <a:spcBef>
                <a:spcPts val="105"/>
              </a:spcBef>
              <a:tabLst>
                <a:tab pos="354965" algn="l"/>
              </a:tabLst>
            </a:pPr>
            <a:r>
              <a:rPr lang="en-GB" sz="1700" dirty="0">
                <a:solidFill>
                  <a:srgbClr val="0070C0"/>
                </a:solidFill>
                <a:latin typeface="Arial"/>
                <a:cs typeface="Arial"/>
              </a:rPr>
              <a:t>The times for each operator are standardised - drawn from prior empirical work [1] - </a:t>
            </a:r>
            <a:r>
              <a:rPr lang="en-GB" sz="1700" dirty="0">
                <a:solidFill>
                  <a:srgbClr val="FF0000"/>
                </a:solidFill>
                <a:latin typeface="Arial"/>
                <a:cs typeface="Arial"/>
              </a:rPr>
              <a:t>though for some operators (e.g. mental and system responses) it may be necessary to measure or estimate times, since these can be hard to standardise [1]. </a:t>
            </a:r>
            <a:r>
              <a:rPr lang="en-GB" sz="1700" dirty="0">
                <a:solidFill>
                  <a:srgbClr val="0070C0"/>
                </a:solidFill>
                <a:latin typeface="Arial"/>
                <a:cs typeface="Arial"/>
              </a:rPr>
              <a:t>We add up the times for all operators for each design compare the two [1]. </a:t>
            </a:r>
            <a:endParaRPr sz="1700" dirty="0">
              <a:solidFill>
                <a:srgbClr val="0070C0"/>
              </a:solidFill>
              <a:latin typeface="Arial"/>
              <a:cs typeface="Arial"/>
            </a:endParaRPr>
          </a:p>
        </p:txBody>
      </p:sp>
      <p:sp>
        <p:nvSpPr>
          <p:cNvPr id="5" name="object 4">
            <a:extLst>
              <a:ext uri="{FF2B5EF4-FFF2-40B4-BE49-F238E27FC236}">
                <a16:creationId xmlns:a16="http://schemas.microsoft.com/office/drawing/2014/main" id="{DF2348EC-A235-FDBA-3368-108896B7FC28}"/>
              </a:ext>
            </a:extLst>
          </p:cNvPr>
          <p:cNvSpPr txBox="1"/>
          <p:nvPr/>
        </p:nvSpPr>
        <p:spPr>
          <a:xfrm>
            <a:off x="1143000" y="5715000"/>
            <a:ext cx="9906000" cy="629018"/>
          </a:xfrm>
          <a:prstGeom prst="rect">
            <a:avLst/>
          </a:prstGeom>
        </p:spPr>
        <p:txBody>
          <a:bodyPr vert="horz" wrap="square" lIns="0" tIns="13335" rIns="0" bIns="0" rtlCol="0">
            <a:spAutoFit/>
          </a:bodyPr>
          <a:lstStyle/>
          <a:p>
            <a:pPr marL="12065" marR="5080" algn="just">
              <a:lnSpc>
                <a:spcPct val="100000"/>
              </a:lnSpc>
              <a:spcBef>
                <a:spcPts val="105"/>
              </a:spcBef>
              <a:tabLst>
                <a:tab pos="354965" algn="l"/>
              </a:tabLst>
            </a:pPr>
            <a:r>
              <a:rPr lang="en-GB" sz="2000" b="1" dirty="0">
                <a:solidFill>
                  <a:srgbClr val="FF0000"/>
                </a:solidFill>
                <a:latin typeface="Arial"/>
                <a:cs typeface="Arial"/>
              </a:rPr>
              <a:t>JUST AN EXAMPLE FROM A PREVIOUS YEAR. QUESTIONS AND MARK SCHEMES CAN DIFFER QUITE A BIT</a:t>
            </a:r>
            <a:endParaRPr sz="2000" b="1" dirty="0">
              <a:solidFill>
                <a:srgbClr val="0070C0"/>
              </a:solidFill>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38596"/>
            <a:ext cx="4851400" cy="586058"/>
          </a:xfrm>
          <a:prstGeom prst="rect">
            <a:avLst/>
          </a:prstGeom>
        </p:spPr>
        <p:txBody>
          <a:bodyPr vert="horz" wrap="square" lIns="0" tIns="16510" rIns="0" bIns="0" rtlCol="0">
            <a:spAutoFit/>
          </a:bodyPr>
          <a:lstStyle/>
          <a:p>
            <a:pPr marL="12700">
              <a:lnSpc>
                <a:spcPct val="100000"/>
              </a:lnSpc>
              <a:spcBef>
                <a:spcPts val="130"/>
              </a:spcBef>
            </a:pPr>
            <a:r>
              <a:rPr dirty="0"/>
              <a:t>Example</a:t>
            </a:r>
            <a:r>
              <a:rPr spc="-35" dirty="0"/>
              <a:t> </a:t>
            </a:r>
            <a:r>
              <a:rPr dirty="0"/>
              <a:t>questions</a:t>
            </a:r>
            <a:r>
              <a:rPr spc="-55" dirty="0"/>
              <a:t> </a:t>
            </a:r>
            <a:r>
              <a:rPr lang="en-GB" spc="-25" dirty="0"/>
              <a:t>2</a:t>
            </a:r>
            <a:r>
              <a:rPr spc="-25" dirty="0"/>
              <a:t>a</a:t>
            </a:r>
          </a:p>
        </p:txBody>
      </p:sp>
      <p:sp>
        <p:nvSpPr>
          <p:cNvPr id="3" name="object 3"/>
          <p:cNvSpPr txBox="1"/>
          <p:nvPr/>
        </p:nvSpPr>
        <p:spPr>
          <a:xfrm>
            <a:off x="924761" y="1607973"/>
            <a:ext cx="8819515" cy="4196020"/>
          </a:xfrm>
          <a:prstGeom prst="rect">
            <a:avLst/>
          </a:prstGeom>
        </p:spPr>
        <p:txBody>
          <a:bodyPr vert="horz" wrap="square" lIns="0" tIns="40640" rIns="0" bIns="0" rtlCol="0" anchor="t">
            <a:spAutoFit/>
          </a:bodyPr>
          <a:lstStyle/>
          <a:p>
            <a:r>
              <a:rPr lang="en-GB" sz="1800" dirty="0">
                <a:solidFill>
                  <a:srgbClr val="000000"/>
                </a:solidFill>
                <a:effectLst/>
                <a:latin typeface="Arial" panose="020B0604020202020204" pitchFamily="34" charset="0"/>
                <a:ea typeface="Times New Roman" panose="02020603050405020304" pitchFamily="18" charset="0"/>
              </a:rPr>
              <a:t>You are now working on a shopping app for another client. They contact you about some informal feedback from customers, suggesting that they do not find the shopping experience using the app enjoyable or engaging. </a:t>
            </a:r>
          </a:p>
          <a:p>
            <a:endParaRPr lang="en-GB" dirty="0">
              <a:solidFill>
                <a:srgbClr val="000000"/>
              </a:solidFill>
              <a:latin typeface="Arial" panose="020B0604020202020204" pitchFamily="34" charset="0"/>
              <a:cs typeface="Arial"/>
            </a:endParaRPr>
          </a:p>
          <a:p>
            <a:pPr marL="342900" lvl="0" indent="-342900" hangingPunct="0">
              <a:buFont typeface="+mj-lt"/>
              <a:buAutoNum type="alphaLcParenBoth"/>
            </a:pPr>
            <a:r>
              <a:rPr lang="en-GB" sz="1800" dirty="0">
                <a:solidFill>
                  <a:srgbClr val="000000"/>
                </a:solidFill>
                <a:effectLst/>
                <a:latin typeface="Arial" panose="020B0604020202020204" pitchFamily="34" charset="0"/>
                <a:ea typeface="Times New Roman" panose="02020603050405020304" pitchFamily="18" charset="0"/>
              </a:rPr>
              <a:t>You debate what could support more positive and sustainable engagement with the shopping app. What design principles would you consider to help customers develop </a:t>
            </a:r>
            <a:r>
              <a:rPr lang="en-GB" sz="1800" i="1" dirty="0">
                <a:solidFill>
                  <a:srgbClr val="000000"/>
                </a:solidFill>
                <a:effectLst/>
                <a:latin typeface="Arial" panose="020B0604020202020204" pitchFamily="34" charset="0"/>
                <a:ea typeface="Times New Roman" panose="02020603050405020304" pitchFamily="18" charset="0"/>
              </a:rPr>
              <a:t>intrinsic motivation</a:t>
            </a:r>
            <a:r>
              <a:rPr lang="en-GB" sz="1800" dirty="0">
                <a:solidFill>
                  <a:srgbClr val="000000"/>
                </a:solidFill>
                <a:effectLst/>
                <a:latin typeface="Arial" panose="020B0604020202020204" pitchFamily="34" charset="0"/>
                <a:ea typeface="Times New Roman" panose="02020603050405020304" pitchFamily="18" charset="0"/>
              </a:rPr>
              <a:t> to use the app?</a:t>
            </a:r>
            <a:endParaRPr lang="en-GB" sz="1800" dirty="0">
              <a:effectLst/>
              <a:latin typeface="Times New Roman" panose="02020603050405020304" pitchFamily="18" charset="0"/>
              <a:ea typeface="Times New Roman" panose="02020603050405020304" pitchFamily="18" charset="0"/>
            </a:endParaRPr>
          </a:p>
          <a:p>
            <a:pPr marL="685800" algn="r" hangingPunct="0"/>
            <a:r>
              <a:rPr lang="en-GB" sz="1800" i="1" dirty="0">
                <a:solidFill>
                  <a:srgbClr val="000000"/>
                </a:solidFill>
                <a:effectLst/>
                <a:latin typeface="Arial" panose="020B0604020202020204" pitchFamily="34" charset="0"/>
                <a:ea typeface="Times New Roman" panose="02020603050405020304" pitchFamily="18" charset="0"/>
              </a:rPr>
              <a:t>Answer in up to 6 short sentences</a:t>
            </a:r>
            <a:endParaRPr lang="en-GB" sz="1800" dirty="0">
              <a:effectLst/>
              <a:latin typeface="Times New Roman" panose="02020603050405020304" pitchFamily="18" charset="0"/>
              <a:ea typeface="Times New Roman" panose="02020603050405020304" pitchFamily="18" charset="0"/>
            </a:endParaRPr>
          </a:p>
          <a:p>
            <a:pPr marL="685800" algn="r" hangingPunct="0"/>
            <a:r>
              <a:rPr lang="en-GB" sz="1800" i="1" dirty="0">
                <a:solidFill>
                  <a:srgbClr val="000000"/>
                </a:solidFill>
                <a:effectLst/>
                <a:latin typeface="Arial" panose="020B0604020202020204" pitchFamily="34" charset="0"/>
                <a:ea typeface="Times New Roman" panose="02020603050405020304" pitchFamily="18" charset="0"/>
              </a:rPr>
              <a:t>(6 marks)</a:t>
            </a:r>
            <a:endParaRPr lang="en-GB" sz="1800" dirty="0">
              <a:effectLst/>
              <a:latin typeface="Times New Roman" panose="02020603050405020304" pitchFamily="18" charset="0"/>
              <a:ea typeface="Times New Roman" panose="02020603050405020304" pitchFamily="18" charset="0"/>
            </a:endParaRPr>
          </a:p>
          <a:p>
            <a:endParaRPr lang="en-GB" sz="1800" dirty="0">
              <a:latin typeface="Arial"/>
              <a:cs typeface="Arial"/>
            </a:endParaRPr>
          </a:p>
          <a:p>
            <a:r>
              <a:rPr lang="en-GB" sz="1800" dirty="0">
                <a:solidFill>
                  <a:srgbClr val="000000"/>
                </a:solidFill>
                <a:effectLst/>
                <a:latin typeface="Arial"/>
                <a:ea typeface="Times New Roman" panose="02020603050405020304" pitchFamily="18" charset="0"/>
                <a:cs typeface="Arial"/>
              </a:rPr>
              <a:t>(b) </a:t>
            </a:r>
            <a:r>
              <a:rPr lang="en-GB" dirty="0">
                <a:solidFill>
                  <a:srgbClr val="000000"/>
                </a:solidFill>
                <a:latin typeface="Arial"/>
                <a:ea typeface="Times New Roman" panose="02020603050405020304" pitchFamily="18" charset="0"/>
                <a:cs typeface="Arial"/>
              </a:rPr>
              <a:t>Contrast the approach you would take in (b) with an approach that targets Flow Experiences instead. What principles would guide your redesign in this case? and how do these principles contrast a Self-Determination Theory approach?</a:t>
            </a:r>
            <a:endParaRPr lang="en-GB" sz="1800" dirty="0">
              <a:solidFill>
                <a:srgbClr val="000000"/>
              </a:solidFill>
              <a:effectLst/>
              <a:latin typeface="Arial"/>
              <a:ea typeface="Times New Roman" panose="02020603050405020304" pitchFamily="18" charset="0"/>
              <a:cs typeface="Arial"/>
            </a:endParaRPr>
          </a:p>
          <a:p>
            <a:pPr marL="685800" algn="r" hangingPunct="0"/>
            <a:r>
              <a:rPr lang="en-GB" sz="1800" i="1" dirty="0">
                <a:solidFill>
                  <a:srgbClr val="000000"/>
                </a:solidFill>
                <a:effectLst/>
                <a:latin typeface="Arial" panose="020B0604020202020204" pitchFamily="34" charset="0"/>
                <a:ea typeface="Times New Roman" panose="02020603050405020304" pitchFamily="18" charset="0"/>
              </a:rPr>
              <a:t>Answer in up to 6 short sentences</a:t>
            </a:r>
            <a:endParaRPr lang="en-GB" sz="1800" dirty="0">
              <a:effectLst/>
              <a:latin typeface="Times New Roman" panose="02020603050405020304" pitchFamily="18" charset="0"/>
              <a:ea typeface="Times New Roman" panose="02020603050405020304" pitchFamily="18" charset="0"/>
            </a:endParaRPr>
          </a:p>
          <a:p>
            <a:pPr marL="685800" algn="r" hangingPunct="0"/>
            <a:r>
              <a:rPr lang="en-GB" sz="1800" i="1" dirty="0">
                <a:solidFill>
                  <a:srgbClr val="000000"/>
                </a:solidFill>
                <a:effectLst/>
                <a:latin typeface="Arial" panose="020B0604020202020204" pitchFamily="34" charset="0"/>
                <a:ea typeface="Times New Roman" panose="02020603050405020304" pitchFamily="18" charset="0"/>
              </a:rPr>
              <a:t>(6 marks)</a:t>
            </a:r>
            <a:endParaRPr lang="en-GB"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Example</a:t>
            </a:r>
            <a:r>
              <a:rPr spc="-35" dirty="0"/>
              <a:t> </a:t>
            </a:r>
            <a:r>
              <a:rPr dirty="0"/>
              <a:t>questions</a:t>
            </a:r>
            <a:r>
              <a:rPr spc="-55" dirty="0"/>
              <a:t> </a:t>
            </a:r>
            <a:r>
              <a:rPr spc="-25" dirty="0"/>
              <a:t>3b</a:t>
            </a:r>
          </a:p>
        </p:txBody>
      </p:sp>
      <p:sp>
        <p:nvSpPr>
          <p:cNvPr id="3" name="object 3"/>
          <p:cNvSpPr txBox="1"/>
          <p:nvPr/>
        </p:nvSpPr>
        <p:spPr>
          <a:xfrm>
            <a:off x="459742" y="1857730"/>
            <a:ext cx="4604385" cy="4223592"/>
          </a:xfrm>
          <a:prstGeom prst="rect">
            <a:avLst/>
          </a:prstGeom>
        </p:spPr>
        <p:txBody>
          <a:bodyPr vert="horz" wrap="square" lIns="0" tIns="67945" rIns="0" bIns="0" rtlCol="0" anchor="t">
            <a:spAutoFit/>
          </a:bodyPr>
          <a:lstStyle/>
          <a:p>
            <a:pPr marL="342900" lvl="0" indent="-342900" hangingPunct="0">
              <a:buFont typeface="+mj-lt"/>
              <a:buAutoNum type="alphaLcParenBoth"/>
            </a:pPr>
            <a:r>
              <a:rPr lang="en-GB" sz="1800" dirty="0">
                <a:solidFill>
                  <a:srgbClr val="000000"/>
                </a:solidFill>
                <a:effectLst/>
                <a:latin typeface="Arial" panose="020B0604020202020204" pitchFamily="34" charset="0"/>
                <a:ea typeface="Times New Roman" panose="02020603050405020304" pitchFamily="18" charset="0"/>
              </a:rPr>
              <a:t>You debate what could support more positive and sustainable engagement with the shopping app. What design principles would you consider to help customers develop </a:t>
            </a:r>
            <a:r>
              <a:rPr lang="en-GB" sz="1800" i="1" dirty="0">
                <a:solidFill>
                  <a:srgbClr val="000000"/>
                </a:solidFill>
                <a:effectLst/>
                <a:latin typeface="Arial" panose="020B0604020202020204" pitchFamily="34" charset="0"/>
                <a:ea typeface="Times New Roman" panose="02020603050405020304" pitchFamily="18" charset="0"/>
              </a:rPr>
              <a:t>intrinsic motivation</a:t>
            </a:r>
            <a:r>
              <a:rPr lang="en-GB" sz="1800" dirty="0">
                <a:solidFill>
                  <a:srgbClr val="000000"/>
                </a:solidFill>
                <a:effectLst/>
                <a:latin typeface="Arial" panose="020B0604020202020204" pitchFamily="34" charset="0"/>
                <a:ea typeface="Times New Roman" panose="02020603050405020304" pitchFamily="18" charset="0"/>
              </a:rPr>
              <a:t> to use the app?</a:t>
            </a:r>
            <a:endParaRPr lang="en-GB" sz="1800" dirty="0">
              <a:effectLst/>
              <a:latin typeface="Times New Roman" panose="02020603050405020304" pitchFamily="18" charset="0"/>
              <a:ea typeface="Times New Roman" panose="02020603050405020304" pitchFamily="18" charset="0"/>
            </a:endParaRPr>
          </a:p>
          <a:p>
            <a:pPr marL="685800" algn="r" hangingPunct="0"/>
            <a:r>
              <a:rPr lang="en-GB" sz="1800" i="1" dirty="0">
                <a:solidFill>
                  <a:srgbClr val="000000"/>
                </a:solidFill>
                <a:effectLst/>
                <a:latin typeface="Arial" panose="020B0604020202020204" pitchFamily="34" charset="0"/>
                <a:ea typeface="Times New Roman" panose="02020603050405020304" pitchFamily="18" charset="0"/>
              </a:rPr>
              <a:t>(6 marks)</a:t>
            </a:r>
            <a:endParaRPr lang="en-GB" sz="1800" dirty="0">
              <a:effectLst/>
              <a:latin typeface="Times New Roman" panose="02020603050405020304" pitchFamily="18" charset="0"/>
              <a:ea typeface="Times New Roman" panose="02020603050405020304" pitchFamily="18" charset="0"/>
            </a:endParaRPr>
          </a:p>
          <a:p>
            <a:endParaRPr lang="en-GB" sz="1800" dirty="0">
              <a:latin typeface="Arial"/>
              <a:cs typeface="Arial"/>
            </a:endParaRPr>
          </a:p>
          <a:p>
            <a:r>
              <a:rPr lang="en-GB" sz="1800" dirty="0">
                <a:solidFill>
                  <a:srgbClr val="000000"/>
                </a:solidFill>
                <a:effectLst/>
                <a:latin typeface="Arial"/>
                <a:ea typeface="Times New Roman" panose="02020603050405020304" pitchFamily="18" charset="0"/>
                <a:cs typeface="Arial"/>
              </a:rPr>
              <a:t>(b) Contrast the approach you would take in </a:t>
            </a:r>
            <a:r>
              <a:rPr lang="en-GB" dirty="0">
                <a:solidFill>
                  <a:srgbClr val="000000"/>
                </a:solidFill>
                <a:latin typeface="Arial"/>
                <a:ea typeface="Times New Roman" panose="02020603050405020304" pitchFamily="18" charset="0"/>
                <a:cs typeface="Arial"/>
              </a:rPr>
              <a:t> </a:t>
            </a:r>
            <a:r>
              <a:rPr lang="en-GB" sz="1800" dirty="0">
                <a:solidFill>
                  <a:srgbClr val="000000"/>
                </a:solidFill>
                <a:effectLst/>
                <a:latin typeface="Arial"/>
                <a:ea typeface="Times New Roman" panose="02020603050405020304" pitchFamily="18" charset="0"/>
                <a:cs typeface="Arial"/>
              </a:rPr>
              <a:t>with an approach that targets Flow Experiences instead. What principles would guide your redesign in this case? and how do these principles contrast a Self-Determination Theory approach?</a:t>
            </a:r>
          </a:p>
          <a:p>
            <a:pPr marL="685800" algn="r" hangingPunct="0"/>
            <a:r>
              <a:rPr lang="en-GB" sz="1800" i="1" dirty="0">
                <a:solidFill>
                  <a:srgbClr val="000000"/>
                </a:solidFill>
                <a:effectLst/>
                <a:latin typeface="Arial" panose="020B0604020202020204" pitchFamily="34" charset="0"/>
                <a:ea typeface="Times New Roman" panose="02020603050405020304" pitchFamily="18" charset="0"/>
              </a:rPr>
              <a:t>(6 marks)</a:t>
            </a:r>
            <a:endParaRPr lang="en-GB" sz="1800" dirty="0">
              <a:effectLst/>
              <a:latin typeface="Times New Roman" panose="02020603050405020304" pitchFamily="18" charset="0"/>
              <a:ea typeface="Times New Roman" panose="02020603050405020304" pitchFamily="18" charset="0"/>
            </a:endParaRPr>
          </a:p>
        </p:txBody>
      </p:sp>
      <p:sp>
        <p:nvSpPr>
          <p:cNvPr id="4" name="object 4"/>
          <p:cNvSpPr txBox="1"/>
          <p:nvPr/>
        </p:nvSpPr>
        <p:spPr>
          <a:xfrm>
            <a:off x="5867400" y="1115482"/>
            <a:ext cx="4525010" cy="2313518"/>
          </a:xfrm>
          <a:prstGeom prst="rect">
            <a:avLst/>
          </a:prstGeom>
        </p:spPr>
        <p:txBody>
          <a:bodyPr vert="horz" wrap="square" lIns="0" tIns="41910" rIns="0" bIns="0" rtlCol="0">
            <a:spAutoFit/>
          </a:bodyPr>
          <a:lstStyle/>
          <a:p>
            <a:pPr marL="342900" lvl="0" indent="-342900" fontAlgn="auto" hangingPunct="1">
              <a:lnSpc>
                <a:spcPct val="107000"/>
              </a:lnSpc>
              <a:spcAft>
                <a:spcPts val="800"/>
              </a:spcAft>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Avoid external pressure (1)</a:t>
            </a:r>
            <a:endParaRPr lang="en-GB" sz="1800" dirty="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Avoid rewards (1)</a:t>
            </a:r>
            <a:endParaRPr lang="en-GB" sz="1800" dirty="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Provide informational feedback (1)</a:t>
            </a:r>
            <a:endParaRPr lang="en-GB" sz="1800" dirty="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Support identification with activity (1)</a:t>
            </a:r>
            <a:endParaRPr lang="en-GB" sz="1800" dirty="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Support sharing of experiences (1)</a:t>
            </a:r>
            <a:endParaRPr lang="en-GB" sz="1800" dirty="0">
              <a:effectLst/>
              <a:latin typeface="Times New Roman" panose="02020603050405020304" pitchFamily="18" charset="0"/>
              <a:ea typeface="Times New Roman" panose="02020603050405020304" pitchFamily="18" charset="0"/>
            </a:endParaRPr>
          </a:p>
          <a:p>
            <a:pPr marL="342900" lvl="0" indent="-342900" fontAlgn="auto" hangingPunct="1">
              <a:lnSpc>
                <a:spcPct val="107000"/>
              </a:lnSpc>
              <a:spcAft>
                <a:spcPts val="800"/>
              </a:spcAft>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Support relatedness (1)</a:t>
            </a:r>
            <a:endParaRPr lang="en-GB" sz="1800" dirty="0">
              <a:effectLst/>
              <a:latin typeface="Times New Roman" panose="02020603050405020304" pitchFamily="18" charset="0"/>
              <a:ea typeface="Times New Roman" panose="02020603050405020304" pitchFamily="18" charset="0"/>
            </a:endParaRPr>
          </a:p>
        </p:txBody>
      </p:sp>
      <p:sp>
        <p:nvSpPr>
          <p:cNvPr id="5" name="object 4">
            <a:extLst>
              <a:ext uri="{FF2B5EF4-FFF2-40B4-BE49-F238E27FC236}">
                <a16:creationId xmlns:a16="http://schemas.microsoft.com/office/drawing/2014/main" id="{643B6FB4-B297-AAD5-5671-1F5D9A37E0F0}"/>
              </a:ext>
            </a:extLst>
          </p:cNvPr>
          <p:cNvSpPr txBox="1"/>
          <p:nvPr/>
        </p:nvSpPr>
        <p:spPr>
          <a:xfrm>
            <a:off x="5767283" y="3814093"/>
            <a:ext cx="4724400" cy="2812308"/>
          </a:xfrm>
          <a:prstGeom prst="rect">
            <a:avLst/>
          </a:prstGeom>
        </p:spPr>
        <p:txBody>
          <a:bodyPr vert="horz" wrap="square" lIns="0" tIns="41910" rIns="0" bIns="0" rtlCol="0">
            <a:spAutoFit/>
          </a:bodyPr>
          <a:lstStyle/>
          <a:p>
            <a:pPr hangingPunct="0"/>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Provide support for:</a:t>
            </a:r>
            <a:endParaRPr lang="en-GB" sz="1800" dirty="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Focus on moment-to-moment engagement (1)</a:t>
            </a:r>
            <a:endParaRPr lang="en-GB" sz="1800" dirty="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Merging of actions with awareness (1)</a:t>
            </a:r>
            <a:endParaRPr lang="en-GB" sz="1800" dirty="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Increase sense of control and agency (1)</a:t>
            </a:r>
            <a:endParaRPr lang="en-GB" sz="1800" dirty="0">
              <a:effectLst/>
              <a:latin typeface="Times New Roman" panose="02020603050405020304" pitchFamily="18" charset="0"/>
              <a:ea typeface="Times New Roman" panose="02020603050405020304" pitchFamily="18" charset="0"/>
            </a:endParaRPr>
          </a:p>
          <a:p>
            <a:pPr marL="342900" lvl="0" indent="-342900" hangingPunct="0">
              <a:buFont typeface="Times New Roman" panose="02020603050405020304" pitchFamily="18" charset="0"/>
              <a:buChar char="-"/>
            </a:pPr>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Provide intrinsic rewards (1)</a:t>
            </a:r>
            <a:b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GB" sz="1800" dirty="0">
              <a:effectLst/>
              <a:latin typeface="Times New Roman" panose="02020603050405020304" pitchFamily="18" charset="0"/>
              <a:ea typeface="Times New Roman" panose="02020603050405020304" pitchFamily="18" charset="0"/>
            </a:endParaRPr>
          </a:p>
          <a:p>
            <a:pPr hangingPunct="0"/>
            <a:r>
              <a:rPr lang="en-GB" sz="18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Discussing contrast in terms of focus on immediate pleasure in Flow, extending SDT in terms of Feeling in the moment, action merging, loss of reflective states, and track of time (2)</a:t>
            </a:r>
            <a:endParaRPr lang="en-GB"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Summary</a:t>
            </a:r>
          </a:p>
        </p:txBody>
      </p:sp>
      <p:sp>
        <p:nvSpPr>
          <p:cNvPr id="3" name="object 3"/>
          <p:cNvSpPr txBox="1"/>
          <p:nvPr/>
        </p:nvSpPr>
        <p:spPr>
          <a:xfrm>
            <a:off x="916941" y="1924875"/>
            <a:ext cx="8822055" cy="2614177"/>
          </a:xfrm>
          <a:prstGeom prst="rect">
            <a:avLst/>
          </a:prstGeom>
        </p:spPr>
        <p:txBody>
          <a:bodyPr vert="horz" wrap="square" lIns="0" tIns="36195" rIns="0" bIns="0" rtlCol="0">
            <a:spAutoFit/>
          </a:bodyPr>
          <a:lstStyle/>
          <a:p>
            <a:pPr marL="241300" marR="5080" indent="-228600">
              <a:lnSpc>
                <a:spcPts val="2510"/>
              </a:lnSpc>
              <a:spcBef>
                <a:spcPts val="285"/>
              </a:spcBef>
              <a:buClr>
                <a:srgbClr val="44536A"/>
              </a:buClr>
              <a:buFont typeface="Arial"/>
              <a:buChar char="•"/>
              <a:tabLst>
                <a:tab pos="241300" algn="l"/>
              </a:tabLst>
            </a:pPr>
            <a:r>
              <a:rPr sz="2200" dirty="0">
                <a:latin typeface="Calibri"/>
                <a:cs typeface="Calibri"/>
              </a:rPr>
              <a:t>The</a:t>
            </a:r>
            <a:r>
              <a:rPr sz="2200" spc="-40" dirty="0">
                <a:latin typeface="Calibri"/>
                <a:cs typeface="Calibri"/>
              </a:rPr>
              <a:t> </a:t>
            </a:r>
            <a:r>
              <a:rPr sz="2200" dirty="0">
                <a:latin typeface="Calibri"/>
                <a:cs typeface="Calibri"/>
              </a:rPr>
              <a:t>exam</a:t>
            </a:r>
            <a:r>
              <a:rPr sz="2200" spc="-40" dirty="0">
                <a:latin typeface="Calibri"/>
                <a:cs typeface="Calibri"/>
              </a:rPr>
              <a:t> </a:t>
            </a:r>
            <a:r>
              <a:rPr sz="2200" dirty="0">
                <a:latin typeface="Calibri"/>
                <a:cs typeface="Calibri"/>
              </a:rPr>
              <a:t>tests</a:t>
            </a:r>
            <a:r>
              <a:rPr sz="2200" spc="-35" dirty="0">
                <a:latin typeface="Calibri"/>
                <a:cs typeface="Calibri"/>
              </a:rPr>
              <a:t> </a:t>
            </a:r>
            <a:r>
              <a:rPr sz="2200" dirty="0">
                <a:latin typeface="Calibri"/>
                <a:cs typeface="Calibri"/>
              </a:rPr>
              <a:t>your</a:t>
            </a:r>
            <a:r>
              <a:rPr sz="2200" spc="-55" dirty="0">
                <a:latin typeface="Calibri"/>
                <a:cs typeface="Calibri"/>
              </a:rPr>
              <a:t> </a:t>
            </a:r>
            <a:r>
              <a:rPr sz="2200" dirty="0">
                <a:latin typeface="Calibri"/>
                <a:cs typeface="Calibri"/>
              </a:rPr>
              <a:t>ability</a:t>
            </a:r>
            <a:r>
              <a:rPr sz="2200" spc="-70" dirty="0">
                <a:latin typeface="Calibri"/>
                <a:cs typeface="Calibri"/>
              </a:rPr>
              <a:t> </a:t>
            </a:r>
            <a:r>
              <a:rPr sz="2200" dirty="0">
                <a:latin typeface="Calibri"/>
                <a:cs typeface="Calibri"/>
              </a:rPr>
              <a:t>to</a:t>
            </a:r>
            <a:r>
              <a:rPr sz="2200" spc="-35" dirty="0">
                <a:latin typeface="Calibri"/>
                <a:cs typeface="Calibri"/>
              </a:rPr>
              <a:t> </a:t>
            </a:r>
            <a:r>
              <a:rPr sz="2200" dirty="0">
                <a:latin typeface="Calibri"/>
                <a:cs typeface="Calibri"/>
              </a:rPr>
              <a:t>apply</a:t>
            </a:r>
            <a:r>
              <a:rPr sz="2200" spc="-70" dirty="0">
                <a:latin typeface="Calibri"/>
                <a:cs typeface="Calibri"/>
              </a:rPr>
              <a:t> </a:t>
            </a:r>
            <a:r>
              <a:rPr sz="2200" dirty="0">
                <a:latin typeface="Calibri"/>
                <a:cs typeface="Calibri"/>
              </a:rPr>
              <a:t>the</a:t>
            </a:r>
            <a:r>
              <a:rPr sz="2200" spc="-40" dirty="0">
                <a:latin typeface="Calibri"/>
                <a:cs typeface="Calibri"/>
              </a:rPr>
              <a:t> </a:t>
            </a:r>
            <a:r>
              <a:rPr sz="2200" spc="-10" dirty="0">
                <a:latin typeface="Calibri"/>
                <a:cs typeface="Calibri"/>
              </a:rPr>
              <a:t>different</a:t>
            </a:r>
            <a:r>
              <a:rPr sz="2200" spc="-40" dirty="0">
                <a:latin typeface="Calibri"/>
                <a:cs typeface="Calibri"/>
              </a:rPr>
              <a:t> </a:t>
            </a:r>
            <a:r>
              <a:rPr sz="2200" dirty="0">
                <a:latin typeface="Calibri"/>
                <a:cs typeface="Calibri"/>
              </a:rPr>
              <a:t>HCI</a:t>
            </a:r>
            <a:r>
              <a:rPr sz="2200" spc="-50" dirty="0">
                <a:latin typeface="Calibri"/>
                <a:cs typeface="Calibri"/>
              </a:rPr>
              <a:t> </a:t>
            </a:r>
            <a:r>
              <a:rPr sz="2200" dirty="0">
                <a:latin typeface="Calibri"/>
                <a:cs typeface="Calibri"/>
              </a:rPr>
              <a:t>theories</a:t>
            </a:r>
            <a:r>
              <a:rPr sz="2200" spc="-35" dirty="0">
                <a:latin typeface="Calibri"/>
                <a:cs typeface="Calibri"/>
              </a:rPr>
              <a:t> </a:t>
            </a:r>
            <a:r>
              <a:rPr sz="2200" dirty="0">
                <a:latin typeface="Calibri"/>
                <a:cs typeface="Calibri"/>
              </a:rPr>
              <a:t>that</a:t>
            </a:r>
            <a:r>
              <a:rPr sz="2200" spc="-50" dirty="0">
                <a:latin typeface="Calibri"/>
                <a:cs typeface="Calibri"/>
              </a:rPr>
              <a:t> </a:t>
            </a:r>
            <a:r>
              <a:rPr sz="2200" dirty="0">
                <a:latin typeface="Calibri"/>
                <a:cs typeface="Calibri"/>
              </a:rPr>
              <a:t>you</a:t>
            </a:r>
            <a:r>
              <a:rPr sz="2200" spc="-60" dirty="0">
                <a:latin typeface="Calibri"/>
                <a:cs typeface="Calibri"/>
              </a:rPr>
              <a:t> </a:t>
            </a:r>
            <a:r>
              <a:rPr sz="2200" spc="-20" dirty="0">
                <a:latin typeface="Calibri"/>
                <a:cs typeface="Calibri"/>
              </a:rPr>
              <a:t>have </a:t>
            </a:r>
            <a:r>
              <a:rPr sz="2200" dirty="0">
                <a:latin typeface="Calibri"/>
                <a:cs typeface="Calibri"/>
              </a:rPr>
              <a:t>learn</a:t>
            </a:r>
            <a:r>
              <a:rPr lang="en-GB" sz="2200" dirty="0">
                <a:latin typeface="Calibri"/>
                <a:cs typeface="Calibri"/>
              </a:rPr>
              <a:t>ed</a:t>
            </a:r>
            <a:r>
              <a:rPr sz="2200" spc="-30" dirty="0">
                <a:latin typeface="Calibri"/>
                <a:cs typeface="Calibri"/>
              </a:rPr>
              <a:t> </a:t>
            </a:r>
            <a:r>
              <a:rPr sz="2200" dirty="0">
                <a:latin typeface="Calibri"/>
                <a:cs typeface="Calibri"/>
              </a:rPr>
              <a:t>about</a:t>
            </a:r>
            <a:r>
              <a:rPr sz="2200" spc="-40" dirty="0">
                <a:latin typeface="Calibri"/>
                <a:cs typeface="Calibri"/>
              </a:rPr>
              <a:t> </a:t>
            </a:r>
            <a:r>
              <a:rPr sz="2200" dirty="0">
                <a:latin typeface="Calibri"/>
                <a:cs typeface="Calibri"/>
              </a:rPr>
              <a:t>in</a:t>
            </a:r>
            <a:r>
              <a:rPr sz="2200" spc="-40" dirty="0">
                <a:latin typeface="Calibri"/>
                <a:cs typeface="Calibri"/>
              </a:rPr>
              <a:t> </a:t>
            </a:r>
            <a:r>
              <a:rPr sz="2200" dirty="0">
                <a:latin typeface="Calibri"/>
                <a:cs typeface="Calibri"/>
              </a:rPr>
              <a:t>the</a:t>
            </a:r>
            <a:r>
              <a:rPr sz="2200" spc="-15" dirty="0">
                <a:latin typeface="Calibri"/>
                <a:cs typeface="Calibri"/>
              </a:rPr>
              <a:t> </a:t>
            </a:r>
            <a:r>
              <a:rPr sz="2200" spc="-20" dirty="0">
                <a:latin typeface="Calibri"/>
                <a:cs typeface="Calibri"/>
              </a:rPr>
              <a:t>unit</a:t>
            </a:r>
            <a:endParaRPr sz="2200" dirty="0">
              <a:latin typeface="Calibri"/>
              <a:cs typeface="Calibri"/>
            </a:endParaRPr>
          </a:p>
          <a:p>
            <a:pPr marL="240665" indent="-227965">
              <a:lnSpc>
                <a:spcPts val="2380"/>
              </a:lnSpc>
              <a:buClr>
                <a:srgbClr val="44536A"/>
              </a:buClr>
              <a:buFont typeface="Arial"/>
              <a:buChar char="•"/>
              <a:tabLst>
                <a:tab pos="240665" algn="l"/>
              </a:tabLst>
            </a:pPr>
            <a:r>
              <a:rPr sz="2200" dirty="0">
                <a:latin typeface="Calibri"/>
                <a:cs typeface="Calibri"/>
              </a:rPr>
              <a:t>This</a:t>
            </a:r>
            <a:r>
              <a:rPr sz="2200" spc="-25" dirty="0">
                <a:latin typeface="Calibri"/>
                <a:cs typeface="Calibri"/>
              </a:rPr>
              <a:t> </a:t>
            </a:r>
            <a:r>
              <a:rPr sz="2200" dirty="0">
                <a:latin typeface="Calibri"/>
                <a:cs typeface="Calibri"/>
              </a:rPr>
              <a:t>is</a:t>
            </a:r>
            <a:r>
              <a:rPr sz="2200" spc="-40" dirty="0">
                <a:latin typeface="Calibri"/>
                <a:cs typeface="Calibri"/>
              </a:rPr>
              <a:t> </a:t>
            </a:r>
            <a:r>
              <a:rPr sz="2200" dirty="0">
                <a:latin typeface="Calibri"/>
                <a:cs typeface="Calibri"/>
              </a:rPr>
              <a:t>what</a:t>
            </a:r>
            <a:r>
              <a:rPr sz="2200" spc="-35" dirty="0">
                <a:latin typeface="Calibri"/>
                <a:cs typeface="Calibri"/>
              </a:rPr>
              <a:t> </a:t>
            </a:r>
            <a:r>
              <a:rPr sz="2200" dirty="0">
                <a:latin typeface="Calibri"/>
                <a:cs typeface="Calibri"/>
              </a:rPr>
              <a:t>you</a:t>
            </a:r>
            <a:r>
              <a:rPr sz="2200" spc="-40" dirty="0">
                <a:latin typeface="Calibri"/>
                <a:cs typeface="Calibri"/>
              </a:rPr>
              <a:t> </a:t>
            </a:r>
            <a:r>
              <a:rPr sz="2200" dirty="0">
                <a:latin typeface="Calibri"/>
                <a:cs typeface="Calibri"/>
              </a:rPr>
              <a:t>did</a:t>
            </a:r>
            <a:r>
              <a:rPr sz="2200" spc="-45" dirty="0">
                <a:latin typeface="Calibri"/>
                <a:cs typeface="Calibri"/>
              </a:rPr>
              <a:t> </a:t>
            </a:r>
            <a:r>
              <a:rPr sz="2200" dirty="0">
                <a:latin typeface="Calibri"/>
                <a:cs typeface="Calibri"/>
              </a:rPr>
              <a:t>in</a:t>
            </a:r>
            <a:r>
              <a:rPr sz="2200" spc="-25" dirty="0">
                <a:latin typeface="Calibri"/>
                <a:cs typeface="Calibri"/>
              </a:rPr>
              <a:t> </a:t>
            </a:r>
            <a:r>
              <a:rPr sz="2200" dirty="0">
                <a:latin typeface="Calibri"/>
                <a:cs typeface="Calibri"/>
              </a:rPr>
              <a:t>the</a:t>
            </a:r>
            <a:r>
              <a:rPr sz="2200" spc="-20" dirty="0">
                <a:latin typeface="Calibri"/>
                <a:cs typeface="Calibri"/>
              </a:rPr>
              <a:t> </a:t>
            </a:r>
            <a:r>
              <a:rPr sz="2200" dirty="0">
                <a:latin typeface="Calibri"/>
                <a:cs typeface="Calibri"/>
              </a:rPr>
              <a:t>practical</a:t>
            </a:r>
            <a:r>
              <a:rPr sz="2200" spc="-40" dirty="0">
                <a:latin typeface="Calibri"/>
                <a:cs typeface="Calibri"/>
              </a:rPr>
              <a:t> </a:t>
            </a:r>
            <a:r>
              <a:rPr sz="2200" dirty="0">
                <a:latin typeface="Calibri"/>
                <a:cs typeface="Calibri"/>
              </a:rPr>
              <a:t>classes,</a:t>
            </a:r>
            <a:r>
              <a:rPr sz="2200" spc="-40" dirty="0">
                <a:latin typeface="Calibri"/>
                <a:cs typeface="Calibri"/>
              </a:rPr>
              <a:t> </a:t>
            </a:r>
            <a:r>
              <a:rPr sz="2200" spc="-25" dirty="0">
                <a:latin typeface="Calibri"/>
                <a:cs typeface="Calibri"/>
              </a:rPr>
              <a:t>so</a:t>
            </a:r>
            <a:r>
              <a:rPr lang="en-GB" sz="2200" spc="-25" dirty="0">
                <a:latin typeface="Calibri"/>
                <a:cs typeface="Calibri"/>
              </a:rPr>
              <a:t> </a:t>
            </a:r>
            <a:r>
              <a:rPr sz="2200" dirty="0">
                <a:latin typeface="Calibri"/>
                <a:cs typeface="Calibri"/>
              </a:rPr>
              <a:t>you</a:t>
            </a:r>
            <a:r>
              <a:rPr sz="2200" spc="-60" dirty="0">
                <a:latin typeface="Calibri"/>
                <a:cs typeface="Calibri"/>
              </a:rPr>
              <a:t> </a:t>
            </a:r>
            <a:r>
              <a:rPr sz="2200" dirty="0">
                <a:latin typeface="Calibri"/>
                <a:cs typeface="Calibri"/>
              </a:rPr>
              <a:t>have</a:t>
            </a:r>
            <a:r>
              <a:rPr sz="2200" spc="-65" dirty="0">
                <a:latin typeface="Calibri"/>
                <a:cs typeface="Calibri"/>
              </a:rPr>
              <a:t> </a:t>
            </a:r>
            <a:r>
              <a:rPr sz="2200" dirty="0">
                <a:latin typeface="Calibri"/>
                <a:cs typeface="Calibri"/>
              </a:rPr>
              <a:t>already</a:t>
            </a:r>
            <a:r>
              <a:rPr sz="2200" spc="-75" dirty="0">
                <a:latin typeface="Calibri"/>
                <a:cs typeface="Calibri"/>
              </a:rPr>
              <a:t> </a:t>
            </a:r>
            <a:r>
              <a:rPr sz="2200" dirty="0">
                <a:latin typeface="Calibri"/>
                <a:cs typeface="Calibri"/>
              </a:rPr>
              <a:t>been</a:t>
            </a:r>
            <a:r>
              <a:rPr sz="2200" spc="-45" dirty="0">
                <a:latin typeface="Calibri"/>
                <a:cs typeface="Calibri"/>
              </a:rPr>
              <a:t> </a:t>
            </a:r>
            <a:r>
              <a:rPr sz="2200" dirty="0">
                <a:latin typeface="Calibri"/>
                <a:cs typeface="Calibri"/>
              </a:rPr>
              <a:t>preparing</a:t>
            </a:r>
            <a:r>
              <a:rPr sz="2200" spc="-75" dirty="0">
                <a:latin typeface="Calibri"/>
                <a:cs typeface="Calibri"/>
              </a:rPr>
              <a:t> </a:t>
            </a:r>
            <a:r>
              <a:rPr sz="2200" dirty="0">
                <a:latin typeface="Calibri"/>
                <a:cs typeface="Calibri"/>
              </a:rPr>
              <a:t>for</a:t>
            </a:r>
            <a:r>
              <a:rPr sz="2200" spc="-60" dirty="0">
                <a:latin typeface="Calibri"/>
                <a:cs typeface="Calibri"/>
              </a:rPr>
              <a:t> </a:t>
            </a:r>
            <a:r>
              <a:rPr sz="2200" dirty="0">
                <a:latin typeface="Calibri"/>
                <a:cs typeface="Calibri"/>
              </a:rPr>
              <a:t>the</a:t>
            </a:r>
            <a:r>
              <a:rPr sz="2200" spc="-45" dirty="0">
                <a:latin typeface="Calibri"/>
                <a:cs typeface="Calibri"/>
              </a:rPr>
              <a:t> </a:t>
            </a:r>
            <a:r>
              <a:rPr sz="2200" spc="-20" dirty="0">
                <a:latin typeface="Calibri"/>
                <a:cs typeface="Calibri"/>
              </a:rPr>
              <a:t>exam</a:t>
            </a:r>
            <a:endParaRPr sz="2200" dirty="0">
              <a:latin typeface="Calibri"/>
              <a:cs typeface="Calibri"/>
            </a:endParaRPr>
          </a:p>
          <a:p>
            <a:pPr marL="241300" marR="156210" indent="-228600">
              <a:lnSpc>
                <a:spcPts val="2510"/>
              </a:lnSpc>
              <a:spcBef>
                <a:spcPts val="130"/>
              </a:spcBef>
              <a:buClr>
                <a:srgbClr val="44536A"/>
              </a:buClr>
              <a:buFont typeface="Arial"/>
              <a:buChar char="•"/>
              <a:tabLst>
                <a:tab pos="241300" algn="l"/>
              </a:tabLst>
            </a:pPr>
            <a:r>
              <a:rPr sz="2200" dirty="0">
                <a:latin typeface="Calibri"/>
                <a:cs typeface="Calibri"/>
              </a:rPr>
              <a:t>The</a:t>
            </a:r>
            <a:r>
              <a:rPr sz="2200" spc="-35" dirty="0">
                <a:latin typeface="Calibri"/>
                <a:cs typeface="Calibri"/>
              </a:rPr>
              <a:t> </a:t>
            </a:r>
            <a:r>
              <a:rPr sz="2200" dirty="0">
                <a:latin typeface="Calibri"/>
                <a:cs typeface="Calibri"/>
              </a:rPr>
              <a:t>exam</a:t>
            </a:r>
            <a:r>
              <a:rPr sz="2200" spc="-30" dirty="0">
                <a:latin typeface="Calibri"/>
                <a:cs typeface="Calibri"/>
              </a:rPr>
              <a:t> </a:t>
            </a:r>
            <a:r>
              <a:rPr sz="2200" dirty="0">
                <a:latin typeface="Calibri"/>
                <a:cs typeface="Calibri"/>
              </a:rPr>
              <a:t>is</a:t>
            </a:r>
            <a:r>
              <a:rPr sz="2200" spc="-50" dirty="0">
                <a:latin typeface="Calibri"/>
                <a:cs typeface="Calibri"/>
              </a:rPr>
              <a:t> </a:t>
            </a:r>
            <a:r>
              <a:rPr sz="2200" dirty="0">
                <a:latin typeface="Calibri"/>
                <a:cs typeface="Calibri"/>
              </a:rPr>
              <a:t>open</a:t>
            </a:r>
            <a:r>
              <a:rPr sz="2200" spc="-45" dirty="0">
                <a:latin typeface="Calibri"/>
                <a:cs typeface="Calibri"/>
              </a:rPr>
              <a:t> </a:t>
            </a:r>
            <a:r>
              <a:rPr sz="2200" dirty="0">
                <a:latin typeface="Calibri"/>
                <a:cs typeface="Calibri"/>
              </a:rPr>
              <a:t>book</a:t>
            </a:r>
            <a:r>
              <a:rPr sz="2200" spc="-60" dirty="0">
                <a:latin typeface="Calibri"/>
                <a:cs typeface="Calibri"/>
              </a:rPr>
              <a:t> </a:t>
            </a:r>
            <a:r>
              <a:rPr lang="en-GB" sz="2200" spc="-60" dirty="0">
                <a:latin typeface="Calibri"/>
                <a:cs typeface="Calibri"/>
              </a:rPr>
              <a:t>– but only 1 A4 sheet of paper may be carried in.</a:t>
            </a:r>
          </a:p>
          <a:p>
            <a:pPr marL="241300" marR="156210" indent="-228600">
              <a:lnSpc>
                <a:spcPts val="2510"/>
              </a:lnSpc>
              <a:spcBef>
                <a:spcPts val="130"/>
              </a:spcBef>
              <a:buClr>
                <a:srgbClr val="44536A"/>
              </a:buClr>
              <a:buFont typeface="Arial"/>
              <a:buChar char="•"/>
              <a:tabLst>
                <a:tab pos="241300" algn="l"/>
              </a:tabLst>
            </a:pPr>
            <a:r>
              <a:rPr lang="en-GB" sz="2200" dirty="0">
                <a:latin typeface="Calibri"/>
                <a:cs typeface="Calibri"/>
              </a:rPr>
              <a:t>There will be two scenarios with a set of sub-questions.</a:t>
            </a:r>
            <a:endParaRPr sz="2200" dirty="0">
              <a:latin typeface="Calibri"/>
              <a:cs typeface="Calibri"/>
            </a:endParaRPr>
          </a:p>
          <a:p>
            <a:pPr marL="241300" marR="382905" indent="-228600">
              <a:lnSpc>
                <a:spcPts val="2510"/>
              </a:lnSpc>
              <a:spcBef>
                <a:spcPts val="125"/>
              </a:spcBef>
              <a:buClr>
                <a:srgbClr val="44536A"/>
              </a:buClr>
              <a:buFont typeface="Arial"/>
              <a:buChar char="•"/>
              <a:tabLst>
                <a:tab pos="241300" algn="l"/>
              </a:tabLst>
            </a:pPr>
            <a:r>
              <a:rPr lang="en-GB" sz="2200" dirty="0">
                <a:latin typeface="Calibri"/>
                <a:cs typeface="Calibri"/>
              </a:rPr>
              <a:t>Start by reading </a:t>
            </a:r>
            <a:r>
              <a:rPr sz="2200" dirty="0">
                <a:latin typeface="Calibri"/>
                <a:cs typeface="Calibri"/>
              </a:rPr>
              <a:t>the</a:t>
            </a:r>
            <a:r>
              <a:rPr sz="2200" spc="-50" dirty="0">
                <a:latin typeface="Calibri"/>
                <a:cs typeface="Calibri"/>
              </a:rPr>
              <a:t> </a:t>
            </a:r>
            <a:r>
              <a:rPr lang="en-GB" sz="2200" spc="-50" dirty="0">
                <a:latin typeface="Calibri"/>
                <a:cs typeface="Calibri"/>
              </a:rPr>
              <a:t>scenario and </a:t>
            </a:r>
            <a:r>
              <a:rPr sz="2200" dirty="0">
                <a:latin typeface="Calibri"/>
                <a:cs typeface="Calibri"/>
              </a:rPr>
              <a:t>question</a:t>
            </a:r>
            <a:r>
              <a:rPr lang="en-GB" sz="2200" dirty="0">
                <a:latin typeface="Calibri"/>
                <a:cs typeface="Calibri"/>
              </a:rPr>
              <a:t>s</a:t>
            </a:r>
            <a:r>
              <a:rPr sz="2200" spc="-40" dirty="0">
                <a:latin typeface="Calibri"/>
                <a:cs typeface="Calibri"/>
              </a:rPr>
              <a:t> </a:t>
            </a:r>
            <a:r>
              <a:rPr sz="2200" spc="-10" dirty="0">
                <a:latin typeface="Calibri"/>
                <a:cs typeface="Calibri"/>
              </a:rPr>
              <a:t>carefully</a:t>
            </a:r>
            <a:r>
              <a:rPr lang="en-GB" sz="2200" spc="-10" dirty="0">
                <a:latin typeface="Calibri"/>
                <a:cs typeface="Calibri"/>
              </a:rPr>
              <a:t>, then work through them.</a:t>
            </a:r>
            <a:endParaRPr sz="22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cf2330e-d694-46a5-9daf-2b725ce5ebb5" xsi:nil="true"/>
    <lcf76f155ced4ddcb4097134ff3c332f xmlns="a795dd7b-fd44-42a5-a049-a0c17ac4107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287003BE9ECEA4F94D7C6688CFB6DB4" ma:contentTypeVersion="11" ma:contentTypeDescription="Create a new document." ma:contentTypeScope="" ma:versionID="bfb1a0a59a4914c6f0d5a1de9168bfda">
  <xsd:schema xmlns:xsd="http://www.w3.org/2001/XMLSchema" xmlns:xs="http://www.w3.org/2001/XMLSchema" xmlns:p="http://schemas.microsoft.com/office/2006/metadata/properties" xmlns:ns2="a795dd7b-fd44-42a5-a049-a0c17ac41070" xmlns:ns3="fcf2330e-d694-46a5-9daf-2b725ce5ebb5" targetNamespace="http://schemas.microsoft.com/office/2006/metadata/properties" ma:root="true" ma:fieldsID="2f8574c39b6fac1773c1be1e44b03014" ns2:_="" ns3:_="">
    <xsd:import namespace="a795dd7b-fd44-42a5-a049-a0c17ac41070"/>
    <xsd:import namespace="fcf2330e-d694-46a5-9daf-2b725ce5eb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95dd7b-fd44-42a5-a049-a0c17ac410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d084387-097e-4aef-8f33-0dee7b0eb57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cf2330e-d694-46a5-9daf-2b725ce5ebb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3f1e03c-9421-4877-b6e7-3e04a6047738}" ma:internalName="TaxCatchAll" ma:showField="CatchAllData" ma:web="fcf2330e-d694-46a5-9daf-2b725ce5eb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0EFAF9-AF60-4587-8CF9-874C1E161F43}">
  <ds:schemaRefs>
    <ds:schemaRef ds:uri="http://schemas.microsoft.com/office/2006/metadata/properties"/>
    <ds:schemaRef ds:uri="http://schemas.microsoft.com/office/infopath/2007/PartnerControls"/>
    <ds:schemaRef ds:uri="16dcc7f6-e063-439a-8bd8-44b54f736c48"/>
    <ds:schemaRef ds:uri="257d8a6c-1d9d-4fba-bc3f-01c4512e567b"/>
    <ds:schemaRef ds:uri="fcf2330e-d694-46a5-9daf-2b725ce5ebb5"/>
    <ds:schemaRef ds:uri="a795dd7b-fd44-42a5-a049-a0c17ac41070"/>
  </ds:schemaRefs>
</ds:datastoreItem>
</file>

<file path=customXml/itemProps2.xml><?xml version="1.0" encoding="utf-8"?>
<ds:datastoreItem xmlns:ds="http://schemas.openxmlformats.org/officeDocument/2006/customXml" ds:itemID="{5743A62A-A13D-48BF-BAB2-3973D28B74CA}">
  <ds:schemaRefs>
    <ds:schemaRef ds:uri="http://schemas.microsoft.com/sharepoint/v3/contenttype/forms"/>
  </ds:schemaRefs>
</ds:datastoreItem>
</file>

<file path=customXml/itemProps3.xml><?xml version="1.0" encoding="utf-8"?>
<ds:datastoreItem xmlns:ds="http://schemas.openxmlformats.org/officeDocument/2006/customXml" ds:itemID="{FDBF302C-9985-461E-B8A3-E020B4AD78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95dd7b-fd44-42a5-a049-a0c17ac41070"/>
    <ds:schemaRef ds:uri="fcf2330e-d694-46a5-9daf-2b725ce5e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55</TotalTime>
  <Words>1106</Words>
  <Application>Microsoft Office PowerPoint</Application>
  <PresentationFormat>宽屏</PresentationFormat>
  <Paragraphs>73</Paragraphs>
  <Slides>10</Slides>
  <Notes>0</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Office Theme</vt:lpstr>
      <vt:lpstr>HCI Exam</vt:lpstr>
      <vt:lpstr>Today’s Lecture</vt:lpstr>
      <vt:lpstr>HCI Exam Format</vt:lpstr>
      <vt:lpstr>What do I have to revise?</vt:lpstr>
      <vt:lpstr>Some good news</vt:lpstr>
      <vt:lpstr>Example questions 1a</vt:lpstr>
      <vt:lpstr>Example questions 1b</vt:lpstr>
      <vt:lpstr>Example questions 2a</vt:lpstr>
      <vt:lpstr>Example questions 3b</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HCI Evaluation Part One </dc:title>
  <dc:creator>Jon Bird</dc:creator>
  <cp:lastModifiedBy>Daniel Bennett</cp:lastModifiedBy>
  <cp:revision>7</cp:revision>
  <dcterms:created xsi:type="dcterms:W3CDTF">2024-10-18T10:01:06Z</dcterms:created>
  <dcterms:modified xsi:type="dcterms:W3CDTF">2025-10-24T14:23:23Z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2024-01-04T00:00:00Z</vt:filetime>
  </property>
  <property fmtid="{D5CDD505-2E9C-101B-9397-08002B2CF9AE}" pid="3" name="Creator">
    <vt:lpwstr>Acrobat PDFMaker 23 for PowerPoint</vt:lpwstr>
  </property>
  <property fmtid="{D5CDD505-2E9C-101B-9397-08002B2CF9AE}" pid="4" name="LastSaved">
    <vt:filetime>2024-10-18T00:00:00Z</vt:filetime>
  </property>
  <property fmtid="{D5CDD505-2E9C-101B-9397-08002B2CF9AE}" pid="5" name="Producer">
    <vt:lpwstr>Adobe PDF Library 23.6.156</vt:lpwstr>
  </property>
  <property fmtid="{D5CDD505-2E9C-101B-9397-08002B2CF9AE}" pid="6" name="ContentTypeId">
    <vt:lpwstr>0x0101005287003BE9ECEA4F94D7C6688CFB6DB4</vt:lpwstr>
  </property>
  <property fmtid="{D5CDD505-2E9C-101B-9397-08002B2CF9AE}" pid="7" name="MediaServiceImageTags">
    <vt:lpwstr/>
  </property>
</Properties>
</file>